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76" r:id="rId12"/>
    <p:sldId id="292" r:id="rId13"/>
    <p:sldId id="277" r:id="rId14"/>
    <p:sldId id="293" r:id="rId15"/>
    <p:sldId id="278" r:id="rId16"/>
    <p:sldId id="294" r:id="rId17"/>
    <p:sldId id="279" r:id="rId18"/>
    <p:sldId id="295" r:id="rId19"/>
    <p:sldId id="296" r:id="rId20"/>
    <p:sldId id="266" r:id="rId21"/>
    <p:sldId id="285" r:id="rId22"/>
    <p:sldId id="284" r:id="rId23"/>
    <p:sldId id="282" r:id="rId24"/>
    <p:sldId id="280" r:id="rId25"/>
    <p:sldId id="286" r:id="rId26"/>
    <p:sldId id="281" r:id="rId27"/>
    <p:sldId id="287" r:id="rId28"/>
    <p:sldId id="268" r:id="rId29"/>
    <p:sldId id="289" r:id="rId30"/>
    <p:sldId id="288" r:id="rId31"/>
    <p:sldId id="290" r:id="rId32"/>
    <p:sldId id="291" r:id="rId33"/>
    <p:sldId id="297" r:id="rId34"/>
    <p:sldId id="299" r:id="rId35"/>
    <p:sldId id="283" r:id="rId36"/>
    <p:sldId id="298" r:id="rId37"/>
    <p:sldId id="275" r:id="rId38"/>
  </p:sldIdLst>
  <p:sldSz cx="18288000" cy="10287000"/>
  <p:notesSz cx="6858000" cy="9144000"/>
  <p:embeddedFontLst>
    <p:embeddedFont>
      <p:font typeface="Cambria Math" panose="02040503050406030204" pitchFamily="18" charset="0"/>
      <p:regular r:id="rId40"/>
    </p:embeddedFont>
    <p:embeddedFont>
      <p:font typeface="Consolas" panose="020B0609020204030204" pitchFamily="49" charset="0"/>
      <p:regular r:id="rId41"/>
      <p:bold r:id="rId42"/>
      <p:italic r:id="rId43"/>
      <p:boldItalic r:id="rId44"/>
    </p:embeddedFont>
    <p:embeddedFont>
      <p:font typeface="High Tower Text" panose="02040502050506030303" pitchFamily="18" charset="0"/>
      <p:regular r:id="rId45"/>
      <p:italic r:id="rId46"/>
    </p:embeddedFont>
    <p:embeddedFont>
      <p:font typeface="KG Primary Penmanship" panose="020B0604020202020204" charset="0"/>
      <p:regular r:id="rId47"/>
    </p:embeddedFont>
    <p:embeddedFont>
      <p:font typeface="Luckiest Guy" panose="020B0604020202020204" charset="0"/>
      <p:regular r:id="rId48"/>
    </p:embeddedFont>
    <p:embeddedFont>
      <p:font typeface="Noto Serif Display" panose="020B0604020202020204"/>
      <p:regular r:id="rId49"/>
    </p:embeddedFont>
    <p:embeddedFont>
      <p:font typeface="Sabon Next LT" panose="02000500000000000000" pitchFamily="2" charset="0"/>
      <p:regular r:id="rId50"/>
      <p:bold r:id="rId51"/>
      <p:italic r:id="rId52"/>
      <p:boldItalic r:id="rId53"/>
    </p:embeddedFont>
    <p:embeddedFont>
      <p:font typeface="Sigmar One" panose="020B0604020202020204" charset="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49C3"/>
    <a:srgbClr val="25FB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52D8EB-CDA1-44C1-A6C5-AC72D7946FC5}" type="datetimeFigureOut">
              <a:rPr lang="en-US" smtClean="0"/>
              <a:t>5/16/2025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532938-63AA-465D-AC16-052E27CE38E6}" type="slidenum">
              <a:rPr lang="en-US" smtClean="0"/>
              <a:t>‹#›</a:t>
            </a:fld>
            <a:endParaRPr lang="en-US"/>
          </a:p>
        </p:txBody>
      </p:sp>
    </p:spTree>
    <p:extLst>
      <p:ext uri="{BB962C8B-B14F-4D97-AF65-F5344CB8AC3E}">
        <p14:creationId xmlns:p14="http://schemas.microsoft.com/office/powerpoint/2010/main" val="317532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532938-63AA-465D-AC16-052E27CE38E6}" type="slidenum">
              <a:rPr lang="en-US" smtClean="0"/>
              <a:t>31</a:t>
            </a:fld>
            <a:endParaRPr lang="en-US"/>
          </a:p>
        </p:txBody>
      </p:sp>
    </p:spTree>
    <p:extLst>
      <p:ext uri="{BB962C8B-B14F-4D97-AF65-F5344CB8AC3E}">
        <p14:creationId xmlns:p14="http://schemas.microsoft.com/office/powerpoint/2010/main" val="725162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04CB-AFD9-B1E6-1692-0F9B97CF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9838E-5E7F-29DC-8629-A4BEA761F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B1A77-1795-5A91-2C48-916517A639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97AE06-B9A8-D221-FBC4-3C402FB213BF}"/>
              </a:ext>
            </a:extLst>
          </p:cNvPr>
          <p:cNvSpPr>
            <a:spLocks noGrp="1"/>
          </p:cNvSpPr>
          <p:nvPr>
            <p:ph type="sldNum" sz="quarter" idx="5"/>
          </p:nvPr>
        </p:nvSpPr>
        <p:spPr/>
        <p:txBody>
          <a:bodyPr/>
          <a:lstStyle/>
          <a:p>
            <a:fld id="{A8532938-63AA-465D-AC16-052E27CE38E6}" type="slidenum">
              <a:rPr lang="en-US" smtClean="0"/>
              <a:t>32</a:t>
            </a:fld>
            <a:endParaRPr lang="en-US"/>
          </a:p>
        </p:txBody>
      </p:sp>
    </p:spTree>
    <p:extLst>
      <p:ext uri="{BB962C8B-B14F-4D97-AF65-F5344CB8AC3E}">
        <p14:creationId xmlns:p14="http://schemas.microsoft.com/office/powerpoint/2010/main" val="474115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63705-3F05-31DB-DF44-3C178A049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AE419-B849-E70F-CCE6-79C6BEAEB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D4CDE-6A1A-6076-FCFC-512D079A11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9DF0DA-163B-B5AB-CD0C-FFDFE5E3CD3F}"/>
              </a:ext>
            </a:extLst>
          </p:cNvPr>
          <p:cNvSpPr>
            <a:spLocks noGrp="1"/>
          </p:cNvSpPr>
          <p:nvPr>
            <p:ph type="sldNum" sz="quarter" idx="5"/>
          </p:nvPr>
        </p:nvSpPr>
        <p:spPr/>
        <p:txBody>
          <a:bodyPr/>
          <a:lstStyle/>
          <a:p>
            <a:fld id="{A8532938-63AA-465D-AC16-052E27CE38E6}" type="slidenum">
              <a:rPr lang="en-US" smtClean="0"/>
              <a:t>33</a:t>
            </a:fld>
            <a:endParaRPr lang="en-US"/>
          </a:p>
        </p:txBody>
      </p:sp>
    </p:spTree>
    <p:extLst>
      <p:ext uri="{BB962C8B-B14F-4D97-AF65-F5344CB8AC3E}">
        <p14:creationId xmlns:p14="http://schemas.microsoft.com/office/powerpoint/2010/main" val="2112176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3AAE-8E40-A156-53CD-7145E438F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65DF5-1624-A916-8EF7-2E4BFA3F8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138DE-CE3F-20AC-BC0D-C22AFEE949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919AFC-A8C0-AF5F-A907-8BA89937032B}"/>
              </a:ext>
            </a:extLst>
          </p:cNvPr>
          <p:cNvSpPr>
            <a:spLocks noGrp="1"/>
          </p:cNvSpPr>
          <p:nvPr>
            <p:ph type="sldNum" sz="quarter" idx="5"/>
          </p:nvPr>
        </p:nvSpPr>
        <p:spPr/>
        <p:txBody>
          <a:bodyPr/>
          <a:lstStyle/>
          <a:p>
            <a:fld id="{A8532938-63AA-465D-AC16-052E27CE38E6}" type="slidenum">
              <a:rPr lang="en-US" smtClean="0"/>
              <a:t>34</a:t>
            </a:fld>
            <a:endParaRPr lang="en-US"/>
          </a:p>
        </p:txBody>
      </p:sp>
    </p:spTree>
    <p:extLst>
      <p:ext uri="{BB962C8B-B14F-4D97-AF65-F5344CB8AC3E}">
        <p14:creationId xmlns:p14="http://schemas.microsoft.com/office/powerpoint/2010/main" val="1360810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2" name="Group 2"/>
          <p:cNvGrpSpPr/>
          <p:nvPr/>
        </p:nvGrpSpPr>
        <p:grpSpPr>
          <a:xfrm>
            <a:off x="561726" y="592373"/>
            <a:ext cx="17164548" cy="9102254"/>
            <a:chOff x="0" y="0"/>
            <a:chExt cx="6964336" cy="3693145"/>
          </a:xfrm>
        </p:grpSpPr>
        <p:sp>
          <p:nvSpPr>
            <p:cNvPr id="3" name="Freeform 3"/>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aphicFrame>
        <p:nvGraphicFramePr>
          <p:cNvPr id="6" name="Table 6"/>
          <p:cNvGraphicFramePr>
            <a:graphicFrameLocks noGrp="1"/>
          </p:cNvGraphicFramePr>
          <p:nvPr>
            <p:extLst>
              <p:ext uri="{D42A27DB-BD31-4B8C-83A1-F6EECF244321}">
                <p14:modId xmlns:p14="http://schemas.microsoft.com/office/powerpoint/2010/main" val="2283279983"/>
              </p:ext>
            </p:extLst>
          </p:nvPr>
        </p:nvGraphicFramePr>
        <p:xfrm>
          <a:off x="920932" y="3536323"/>
          <a:ext cx="10603048" cy="5410201"/>
        </p:xfrm>
        <a:graphic>
          <a:graphicData uri="http://schemas.openxmlformats.org/drawingml/2006/table">
            <a:tbl>
              <a:tblPr/>
              <a:tblGrid>
                <a:gridCol w="4354648">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1269499">
                <a:tc>
                  <a:txBody>
                    <a:bodyPr/>
                    <a:lstStyle/>
                    <a:p>
                      <a:pPr algn="ctr">
                        <a:lnSpc>
                          <a:spcPts val="2940"/>
                        </a:lnSpc>
                        <a:defRPr/>
                      </a:pPr>
                      <a:r>
                        <a:rPr lang="en-US" sz="2500">
                          <a:solidFill>
                            <a:srgbClr val="000000"/>
                          </a:solidFill>
                          <a:latin typeface="Sigmar One"/>
                          <a:ea typeface="Sigmar One"/>
                          <a:cs typeface="Sigmar One"/>
                          <a:sym typeface="Sigmar One"/>
                        </a:rPr>
                        <a:t>Thành viên</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Mã SV</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Chức vụ</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69499">
                <a:tc>
                  <a:txBody>
                    <a:bodyPr/>
                    <a:lstStyle/>
                    <a:p>
                      <a:pPr algn="ctr">
                        <a:lnSpc>
                          <a:spcPts val="2940"/>
                        </a:lnSpc>
                        <a:defRPr/>
                      </a:pPr>
                      <a:r>
                        <a:rPr lang="en-US" sz="2500">
                          <a:solidFill>
                            <a:srgbClr val="000000"/>
                          </a:solidFill>
                          <a:latin typeface="Sigmar One"/>
                          <a:ea typeface="Sigmar One"/>
                          <a:cs typeface="Sigmar One"/>
                          <a:sym typeface="Sigmar One"/>
                        </a:rPr>
                        <a:t>TÙNG TUổi tEEN</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22174600004</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Trưởng nhóm</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01704">
                <a:tc>
                  <a:txBody>
                    <a:bodyPr/>
                    <a:lstStyle/>
                    <a:p>
                      <a:pPr algn="ctr">
                        <a:lnSpc>
                          <a:spcPts val="2940"/>
                        </a:lnSpc>
                        <a:defRPr/>
                      </a:pPr>
                      <a:r>
                        <a:rPr lang="en-US" sz="2500">
                          <a:solidFill>
                            <a:srgbClr val="000000"/>
                          </a:solidFill>
                          <a:latin typeface="Sigmar One"/>
                          <a:ea typeface="Sigmar One"/>
                          <a:cs typeface="Sigmar One"/>
                          <a:sym typeface="Sigmar One"/>
                        </a:rPr>
                        <a:t>THUYÊN thẹn thùng</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22174600032</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Thành viên</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69499">
                <a:tc>
                  <a:txBody>
                    <a:bodyPr/>
                    <a:lstStyle/>
                    <a:p>
                      <a:pPr algn="ctr">
                        <a:lnSpc>
                          <a:spcPts val="2940"/>
                        </a:lnSpc>
                        <a:defRPr/>
                      </a:pPr>
                      <a:r>
                        <a:rPr lang="en-US" sz="2500">
                          <a:solidFill>
                            <a:srgbClr val="000000"/>
                          </a:solidFill>
                          <a:latin typeface="Sigmar One"/>
                          <a:ea typeface="Sigmar One"/>
                          <a:cs typeface="Sigmar One"/>
                          <a:sym typeface="Sigmar One"/>
                        </a:rPr>
                        <a:t>VI Văn vở</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22174600005</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40"/>
                        </a:lnSpc>
                        <a:defRPr/>
                      </a:pPr>
                      <a:r>
                        <a:rPr lang="en-US" sz="2500">
                          <a:solidFill>
                            <a:srgbClr val="000000"/>
                          </a:solidFill>
                          <a:latin typeface="Sigmar One"/>
                          <a:ea typeface="Sigmar One"/>
                          <a:cs typeface="Sigmar One"/>
                          <a:sym typeface="Sigmar One"/>
                        </a:rPr>
                        <a:t>Thành viên</a:t>
                      </a:r>
                      <a:endParaRPr lang="en-US" sz="25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Box 7"/>
          <p:cNvSpPr txBox="1"/>
          <p:nvPr/>
        </p:nvSpPr>
        <p:spPr>
          <a:xfrm>
            <a:off x="3051537" y="1257300"/>
            <a:ext cx="11350263" cy="1786753"/>
          </a:xfrm>
          <a:prstGeom prst="rect">
            <a:avLst/>
          </a:prstGeom>
          <a:effectLst>
            <a:outerShdw blurRad="50800" dist="38100" dir="5400000" algn="t" rotWithShape="0">
              <a:prstClr val="black">
                <a:alpha val="40000"/>
              </a:prstClr>
            </a:outerShdw>
          </a:effectLst>
        </p:spPr>
        <p:txBody>
          <a:bodyPr lIns="0" tIns="0" rIns="0" bIns="0" rtlCol="0" anchor="t">
            <a:spAutoFit/>
          </a:bodyPr>
          <a:lstStyle/>
          <a:p>
            <a:pPr algn="l">
              <a:lnSpc>
                <a:spcPts val="13444"/>
              </a:lnSpc>
            </a:pPr>
            <a:r>
              <a:rPr lang="en-US" sz="13052">
                <a:solidFill>
                  <a:srgbClr val="F9D43A"/>
                </a:solidFill>
                <a:latin typeface="Luckiest Guy"/>
                <a:ea typeface="Luckiest Guy"/>
                <a:cs typeface="Luckiest Guy"/>
                <a:sym typeface="Luckiest Guy"/>
              </a:rPr>
              <a:t>ĐỒ ÁN 2</a:t>
            </a:r>
          </a:p>
        </p:txBody>
      </p:sp>
      <p:pic>
        <p:nvPicPr>
          <p:cNvPr id="12" name="Picture 11">
            <a:extLst>
              <a:ext uri="{FF2B5EF4-FFF2-40B4-BE49-F238E27FC236}">
                <a16:creationId xmlns:a16="http://schemas.microsoft.com/office/drawing/2014/main" id="{86A21119-3E04-0E7C-9CBA-3725B6709E2E}"/>
              </a:ext>
            </a:extLst>
          </p:cNvPr>
          <p:cNvPicPr>
            <a:picLocks noChangeAspect="1"/>
          </p:cNvPicPr>
          <p:nvPr/>
        </p:nvPicPr>
        <p:blipFill>
          <a:blip r:embed="rId2"/>
          <a:stretch>
            <a:fillRect/>
          </a:stretch>
        </p:blipFill>
        <p:spPr>
          <a:xfrm>
            <a:off x="13294653" y="1323602"/>
            <a:ext cx="1289786" cy="130094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 name="Picture 15">
            <a:extLst>
              <a:ext uri="{FF2B5EF4-FFF2-40B4-BE49-F238E27FC236}">
                <a16:creationId xmlns:a16="http://schemas.microsoft.com/office/drawing/2014/main" id="{9B3D2323-B9A5-BC45-2E6C-D3AABAF2C4A5}"/>
              </a:ext>
            </a:extLst>
          </p:cNvPr>
          <p:cNvPicPr>
            <a:picLocks noChangeAspect="1"/>
          </p:cNvPicPr>
          <p:nvPr/>
        </p:nvPicPr>
        <p:blipFill>
          <a:blip r:embed="rId3"/>
          <a:stretch>
            <a:fillRect/>
          </a:stretch>
        </p:blipFill>
        <p:spPr>
          <a:xfrm>
            <a:off x="15693249" y="1329980"/>
            <a:ext cx="1299351" cy="12945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8" name="Picture 17" descr="A person wearing glasses and smiling&#10;&#10;AI-generated content may be incorrect.">
            <a:extLst>
              <a:ext uri="{FF2B5EF4-FFF2-40B4-BE49-F238E27FC236}">
                <a16:creationId xmlns:a16="http://schemas.microsoft.com/office/drawing/2014/main" id="{ED521982-530A-FE76-3552-8235618AE6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62117" y="1334331"/>
            <a:ext cx="1323726" cy="129456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 name="Freeform 5"/>
          <p:cNvSpPr/>
          <p:nvPr/>
        </p:nvSpPr>
        <p:spPr>
          <a:xfrm>
            <a:off x="11201206" y="3099295"/>
            <a:ext cx="6282883" cy="8269214"/>
          </a:xfrm>
          <a:custGeom>
            <a:avLst/>
            <a:gdLst/>
            <a:ahLst/>
            <a:cxnLst/>
            <a:rect l="l" t="t" r="r" b="b"/>
            <a:pathLst>
              <a:path w="6663274" h="8483335">
                <a:moveTo>
                  <a:pt x="0" y="0"/>
                </a:moveTo>
                <a:lnTo>
                  <a:pt x="6663274" y="0"/>
                </a:lnTo>
                <a:lnTo>
                  <a:pt x="6663274" y="8483335"/>
                </a:lnTo>
                <a:lnTo>
                  <a:pt x="0" y="848333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p:cNvGrpSpPr/>
        <p:nvPr/>
      </p:nvGrpSpPr>
      <p:grpSpPr>
        <a:xfrm>
          <a:off x="0" y="0"/>
          <a:ext cx="0" cy="0"/>
          <a:chOff x="0" y="0"/>
          <a:chExt cx="0" cy="0"/>
        </a:xfrm>
      </p:grpSpPr>
      <p:grpSp>
        <p:nvGrpSpPr>
          <p:cNvPr id="2" name="Group 2"/>
          <p:cNvGrpSpPr/>
          <p:nvPr/>
        </p:nvGrpSpPr>
        <p:grpSpPr>
          <a:xfrm>
            <a:off x="561726" y="290376"/>
            <a:ext cx="17164548" cy="2911398"/>
            <a:chOff x="0" y="0"/>
            <a:chExt cx="6964336" cy="1181269"/>
          </a:xfrm>
        </p:grpSpPr>
        <p:sp>
          <p:nvSpPr>
            <p:cNvPr id="3" name="Freeform 3"/>
            <p:cNvSpPr/>
            <p:nvPr/>
          </p:nvSpPr>
          <p:spPr>
            <a:xfrm>
              <a:off x="12700" y="12700"/>
              <a:ext cx="6897026" cy="1112689"/>
            </a:xfrm>
            <a:custGeom>
              <a:avLst/>
              <a:gdLst/>
              <a:ahLst/>
              <a:cxnLst/>
              <a:rect l="l" t="t" r="r" b="b"/>
              <a:pathLst>
                <a:path w="6897026" h="1112689">
                  <a:moveTo>
                    <a:pt x="43180" y="1112689"/>
                  </a:moveTo>
                  <a:lnTo>
                    <a:pt x="6853846" y="1112689"/>
                  </a:lnTo>
                  <a:cubicBezTo>
                    <a:pt x="6877976" y="1112689"/>
                    <a:pt x="6897026" y="1093639"/>
                    <a:pt x="6897026" y="1069509"/>
                  </a:cubicBezTo>
                  <a:lnTo>
                    <a:pt x="6897026" y="43180"/>
                  </a:lnTo>
                  <a:cubicBezTo>
                    <a:pt x="6897026" y="19050"/>
                    <a:pt x="6877976" y="0"/>
                    <a:pt x="6853846" y="0"/>
                  </a:cubicBezTo>
                  <a:lnTo>
                    <a:pt x="43180" y="0"/>
                  </a:lnTo>
                  <a:cubicBezTo>
                    <a:pt x="19050" y="0"/>
                    <a:pt x="0" y="19050"/>
                    <a:pt x="0" y="43180"/>
                  </a:cubicBezTo>
                  <a:lnTo>
                    <a:pt x="0" y="1069509"/>
                  </a:lnTo>
                  <a:cubicBezTo>
                    <a:pt x="0" y="1093639"/>
                    <a:pt x="19050" y="1112689"/>
                    <a:pt x="43180" y="1112689"/>
                  </a:cubicBezTo>
                  <a:close/>
                </a:path>
              </a:pathLst>
            </a:custGeom>
            <a:solidFill>
              <a:srgbClr val="FFFFFF"/>
            </a:solidFill>
          </p:spPr>
          <p:txBody>
            <a:bodyPr/>
            <a:lstStyle/>
            <a:p>
              <a:endParaRPr lang="en-US"/>
            </a:p>
          </p:txBody>
        </p:sp>
        <p:sp>
          <p:nvSpPr>
            <p:cNvPr id="4" name="Freeform 4"/>
            <p:cNvSpPr/>
            <p:nvPr/>
          </p:nvSpPr>
          <p:spPr>
            <a:xfrm>
              <a:off x="0" y="0"/>
              <a:ext cx="6964336" cy="1181269"/>
            </a:xfrm>
            <a:custGeom>
              <a:avLst/>
              <a:gdLst/>
              <a:ahLst/>
              <a:cxnLst/>
              <a:rect l="l" t="t" r="r" b="b"/>
              <a:pathLst>
                <a:path w="6964336" h="1181269">
                  <a:moveTo>
                    <a:pt x="6921157" y="44450"/>
                  </a:moveTo>
                  <a:cubicBezTo>
                    <a:pt x="6916076" y="19050"/>
                    <a:pt x="6893216" y="0"/>
                    <a:pt x="6866546" y="0"/>
                  </a:cubicBezTo>
                  <a:lnTo>
                    <a:pt x="55880" y="0"/>
                  </a:lnTo>
                  <a:cubicBezTo>
                    <a:pt x="25400" y="0"/>
                    <a:pt x="0" y="25400"/>
                    <a:pt x="0" y="55880"/>
                  </a:cubicBezTo>
                  <a:lnTo>
                    <a:pt x="0" y="1082209"/>
                  </a:lnTo>
                  <a:cubicBezTo>
                    <a:pt x="0" y="1108879"/>
                    <a:pt x="17780" y="1130469"/>
                    <a:pt x="43180" y="1136819"/>
                  </a:cubicBezTo>
                  <a:cubicBezTo>
                    <a:pt x="48260" y="1162219"/>
                    <a:pt x="71120" y="1181269"/>
                    <a:pt x="97790" y="1181269"/>
                  </a:cubicBezTo>
                  <a:lnTo>
                    <a:pt x="6908457" y="1181269"/>
                  </a:lnTo>
                  <a:cubicBezTo>
                    <a:pt x="6938936" y="1181269"/>
                    <a:pt x="6964336" y="1155869"/>
                    <a:pt x="6964336" y="1125389"/>
                  </a:cubicBezTo>
                  <a:lnTo>
                    <a:pt x="6964336" y="99060"/>
                  </a:lnTo>
                  <a:cubicBezTo>
                    <a:pt x="6964336" y="72390"/>
                    <a:pt x="6946557" y="50800"/>
                    <a:pt x="6921157" y="44450"/>
                  </a:cubicBezTo>
                  <a:close/>
                  <a:moveTo>
                    <a:pt x="12700" y="1082209"/>
                  </a:moveTo>
                  <a:lnTo>
                    <a:pt x="12700" y="55880"/>
                  </a:lnTo>
                  <a:cubicBezTo>
                    <a:pt x="12700" y="31750"/>
                    <a:pt x="31750" y="12700"/>
                    <a:pt x="55880" y="12700"/>
                  </a:cubicBezTo>
                  <a:lnTo>
                    <a:pt x="6866546" y="12700"/>
                  </a:lnTo>
                  <a:cubicBezTo>
                    <a:pt x="6890676" y="12700"/>
                    <a:pt x="6909726" y="31750"/>
                    <a:pt x="6909726" y="55880"/>
                  </a:cubicBezTo>
                  <a:lnTo>
                    <a:pt x="6909726" y="1082209"/>
                  </a:lnTo>
                  <a:cubicBezTo>
                    <a:pt x="6909726" y="1106339"/>
                    <a:pt x="6890676" y="1125389"/>
                    <a:pt x="6866546" y="1125389"/>
                  </a:cubicBezTo>
                  <a:lnTo>
                    <a:pt x="55880" y="1125389"/>
                  </a:lnTo>
                  <a:cubicBezTo>
                    <a:pt x="31750" y="1125389"/>
                    <a:pt x="12700" y="1106339"/>
                    <a:pt x="12700" y="1082209"/>
                  </a:cubicBezTo>
                  <a:close/>
                </a:path>
              </a:pathLst>
            </a:custGeom>
            <a:solidFill>
              <a:srgbClr val="000000"/>
            </a:solidFill>
          </p:spPr>
          <p:txBody>
            <a:bodyPr/>
            <a:lstStyle/>
            <a:p>
              <a:endParaRPr lang="en-US"/>
            </a:p>
          </p:txBody>
        </p:sp>
      </p:grpSp>
      <p:grpSp>
        <p:nvGrpSpPr>
          <p:cNvPr id="5" name="Group 5"/>
          <p:cNvGrpSpPr/>
          <p:nvPr/>
        </p:nvGrpSpPr>
        <p:grpSpPr>
          <a:xfrm>
            <a:off x="561726" y="3786903"/>
            <a:ext cx="17164548" cy="5942322"/>
            <a:chOff x="0" y="0"/>
            <a:chExt cx="6964336" cy="2411035"/>
          </a:xfrm>
        </p:grpSpPr>
        <p:sp>
          <p:nvSpPr>
            <p:cNvPr id="6" name="Freeform 6"/>
            <p:cNvSpPr/>
            <p:nvPr/>
          </p:nvSpPr>
          <p:spPr>
            <a:xfrm>
              <a:off x="12700" y="12700"/>
              <a:ext cx="6897026" cy="2342455"/>
            </a:xfrm>
            <a:custGeom>
              <a:avLst/>
              <a:gdLst/>
              <a:ahLst/>
              <a:cxnLst/>
              <a:rect l="l" t="t" r="r" b="b"/>
              <a:pathLst>
                <a:path w="6897026" h="2342455">
                  <a:moveTo>
                    <a:pt x="43180" y="2342455"/>
                  </a:moveTo>
                  <a:lnTo>
                    <a:pt x="6853846" y="2342455"/>
                  </a:lnTo>
                  <a:cubicBezTo>
                    <a:pt x="6877976" y="2342455"/>
                    <a:pt x="6897026" y="2323405"/>
                    <a:pt x="6897026" y="2299275"/>
                  </a:cubicBezTo>
                  <a:lnTo>
                    <a:pt x="6897026" y="43180"/>
                  </a:lnTo>
                  <a:cubicBezTo>
                    <a:pt x="6897026" y="19050"/>
                    <a:pt x="6877976" y="0"/>
                    <a:pt x="6853846" y="0"/>
                  </a:cubicBezTo>
                  <a:lnTo>
                    <a:pt x="43180" y="0"/>
                  </a:lnTo>
                  <a:cubicBezTo>
                    <a:pt x="19050" y="0"/>
                    <a:pt x="0" y="19050"/>
                    <a:pt x="0" y="43180"/>
                  </a:cubicBezTo>
                  <a:lnTo>
                    <a:pt x="0" y="2299275"/>
                  </a:lnTo>
                  <a:cubicBezTo>
                    <a:pt x="0" y="2323405"/>
                    <a:pt x="19050" y="2342455"/>
                    <a:pt x="43180" y="2342455"/>
                  </a:cubicBezTo>
                  <a:close/>
                </a:path>
              </a:pathLst>
            </a:custGeom>
            <a:solidFill>
              <a:srgbClr val="FFFFFF"/>
            </a:solidFill>
          </p:spPr>
          <p:txBody>
            <a:bodyPr/>
            <a:lstStyle/>
            <a:p>
              <a:endParaRPr lang="en-US"/>
            </a:p>
          </p:txBody>
        </p:sp>
        <p:sp>
          <p:nvSpPr>
            <p:cNvPr id="7" name="Freeform 7"/>
            <p:cNvSpPr/>
            <p:nvPr/>
          </p:nvSpPr>
          <p:spPr>
            <a:xfrm>
              <a:off x="0" y="0"/>
              <a:ext cx="6964336" cy="2411035"/>
            </a:xfrm>
            <a:custGeom>
              <a:avLst/>
              <a:gdLst/>
              <a:ahLst/>
              <a:cxnLst/>
              <a:rect l="l" t="t" r="r" b="b"/>
              <a:pathLst>
                <a:path w="6964336" h="2411035">
                  <a:moveTo>
                    <a:pt x="6921157" y="44450"/>
                  </a:moveTo>
                  <a:cubicBezTo>
                    <a:pt x="6916076" y="19050"/>
                    <a:pt x="6893216" y="0"/>
                    <a:pt x="6866546" y="0"/>
                  </a:cubicBezTo>
                  <a:lnTo>
                    <a:pt x="55880" y="0"/>
                  </a:lnTo>
                  <a:cubicBezTo>
                    <a:pt x="25400" y="0"/>
                    <a:pt x="0" y="25400"/>
                    <a:pt x="0" y="55880"/>
                  </a:cubicBezTo>
                  <a:lnTo>
                    <a:pt x="0" y="2311975"/>
                  </a:lnTo>
                  <a:cubicBezTo>
                    <a:pt x="0" y="2338645"/>
                    <a:pt x="17780" y="2360235"/>
                    <a:pt x="43180" y="2366585"/>
                  </a:cubicBezTo>
                  <a:cubicBezTo>
                    <a:pt x="48260" y="2391985"/>
                    <a:pt x="71120" y="2411035"/>
                    <a:pt x="97790" y="2411035"/>
                  </a:cubicBezTo>
                  <a:lnTo>
                    <a:pt x="6908457" y="2411035"/>
                  </a:lnTo>
                  <a:cubicBezTo>
                    <a:pt x="6938936" y="2411035"/>
                    <a:pt x="6964336" y="2385635"/>
                    <a:pt x="6964336" y="2355155"/>
                  </a:cubicBezTo>
                  <a:lnTo>
                    <a:pt x="6964336" y="99060"/>
                  </a:lnTo>
                  <a:cubicBezTo>
                    <a:pt x="6964336" y="72390"/>
                    <a:pt x="6946557" y="50800"/>
                    <a:pt x="6921157" y="44450"/>
                  </a:cubicBezTo>
                  <a:close/>
                  <a:moveTo>
                    <a:pt x="12700" y="2311975"/>
                  </a:moveTo>
                  <a:lnTo>
                    <a:pt x="12700" y="55880"/>
                  </a:lnTo>
                  <a:cubicBezTo>
                    <a:pt x="12700" y="31750"/>
                    <a:pt x="31750" y="12700"/>
                    <a:pt x="55880" y="12700"/>
                  </a:cubicBezTo>
                  <a:lnTo>
                    <a:pt x="6866546" y="12700"/>
                  </a:lnTo>
                  <a:cubicBezTo>
                    <a:pt x="6890676" y="12700"/>
                    <a:pt x="6909726" y="31750"/>
                    <a:pt x="6909726" y="55880"/>
                  </a:cubicBezTo>
                  <a:lnTo>
                    <a:pt x="6909726" y="2311975"/>
                  </a:lnTo>
                  <a:cubicBezTo>
                    <a:pt x="6909726" y="2336105"/>
                    <a:pt x="6890676" y="2355155"/>
                    <a:pt x="6866546" y="2355155"/>
                  </a:cubicBezTo>
                  <a:lnTo>
                    <a:pt x="55880" y="2355155"/>
                  </a:lnTo>
                  <a:cubicBezTo>
                    <a:pt x="31750" y="2355155"/>
                    <a:pt x="12700" y="2336105"/>
                    <a:pt x="12700" y="2311975"/>
                  </a:cubicBezTo>
                  <a:close/>
                </a:path>
              </a:pathLst>
            </a:custGeom>
            <a:solidFill>
              <a:srgbClr val="000000"/>
            </a:solidFill>
          </p:spPr>
          <p:txBody>
            <a:bodyPr/>
            <a:lstStyle/>
            <a:p>
              <a:endParaRPr lang="en-US"/>
            </a:p>
          </p:txBody>
        </p:sp>
      </p:grpSp>
      <p:sp>
        <p:nvSpPr>
          <p:cNvPr id="8" name="TextBox 8"/>
          <p:cNvSpPr txBox="1"/>
          <p:nvPr/>
        </p:nvSpPr>
        <p:spPr>
          <a:xfrm>
            <a:off x="4526260" y="474926"/>
            <a:ext cx="9528009" cy="1975911"/>
          </a:xfrm>
          <a:prstGeom prst="rect">
            <a:avLst/>
          </a:prstGeom>
        </p:spPr>
        <p:txBody>
          <a:bodyPr lIns="0" tIns="0" rIns="0" bIns="0" rtlCol="0" anchor="t">
            <a:spAutoFit/>
          </a:bodyPr>
          <a:lstStyle/>
          <a:p>
            <a:pPr algn="ctr">
              <a:lnSpc>
                <a:spcPts val="16101"/>
              </a:lnSpc>
            </a:pPr>
            <a:r>
              <a:rPr lang="en-US" sz="11500">
                <a:solidFill>
                  <a:srgbClr val="B08DF8"/>
                </a:solidFill>
                <a:latin typeface="Luckiest Guy"/>
                <a:ea typeface="Luckiest Guy"/>
                <a:cs typeface="Luckiest Guy"/>
                <a:sym typeface="Luckiest Guy"/>
              </a:rPr>
              <a:t>DỮ LIỆU</a:t>
            </a:r>
          </a:p>
        </p:txBody>
      </p:sp>
      <p:sp>
        <p:nvSpPr>
          <p:cNvPr id="9" name="TextBox 9"/>
          <p:cNvSpPr txBox="1"/>
          <p:nvPr/>
        </p:nvSpPr>
        <p:spPr>
          <a:xfrm>
            <a:off x="1371546" y="4309408"/>
            <a:ext cx="15215724" cy="4644092"/>
          </a:xfrm>
          <a:prstGeom prst="rect">
            <a:avLst/>
          </a:prstGeom>
        </p:spPr>
        <p:txBody>
          <a:bodyPr lIns="0" tIns="0" rIns="0" bIns="0" rtlCol="0" anchor="t">
            <a:spAutoFit/>
          </a:bodyPr>
          <a:lstStyle/>
          <a:p>
            <a:pPr algn="ctr">
              <a:lnSpc>
                <a:spcPts val="6055"/>
              </a:lnSpc>
            </a:pPr>
            <a:r>
              <a:rPr lang="en-US" sz="4325">
                <a:solidFill>
                  <a:srgbClr val="000000"/>
                </a:solidFill>
                <a:latin typeface="High Tower Text" panose="02040502050506030303" pitchFamily="18" charset="0"/>
                <a:ea typeface="KG Primary Penmanship"/>
                <a:cs typeface="KG Primary Penmanship"/>
                <a:sym typeface="KG Primary Penmanship"/>
              </a:rPr>
              <a:t>Trong thị trường bán lẻ cạnh tranh khốc liệt, dự báo chính xác doanh số là yếu tố then chốt để tối ưu vận hành, kiểm soát tồn kho và lập kế hoạch kinh doanh. Tuy nhiên, nhiều doanh nghiệp vẫn sử dụng các phương pháp truyền thống như hồi quy tuyến tính hay trung bình trượt, vốn chưa phản ánh hiệu quả các yếu tố như mùa vụ, xu hướng dài hạn và biến động bất thường</a:t>
            </a:r>
          </a:p>
        </p:txBody>
      </p:sp>
      <p:sp>
        <p:nvSpPr>
          <p:cNvPr id="10" name="TextBox 10"/>
          <p:cNvSpPr txBox="1"/>
          <p:nvPr/>
        </p:nvSpPr>
        <p:spPr>
          <a:xfrm>
            <a:off x="6030836" y="1859039"/>
            <a:ext cx="7017823" cy="1336258"/>
          </a:xfrm>
          <a:prstGeom prst="rect">
            <a:avLst/>
          </a:prstGeom>
        </p:spPr>
        <p:txBody>
          <a:bodyPr lIns="0" tIns="0" rIns="0" bIns="0" rtlCol="0" anchor="t">
            <a:spAutoFit/>
          </a:bodyPr>
          <a:lstStyle/>
          <a:p>
            <a:pPr algn="ctr">
              <a:lnSpc>
                <a:spcPts val="10872"/>
              </a:lnSpc>
            </a:pPr>
            <a:r>
              <a:rPr lang="en-US" sz="7766">
                <a:solidFill>
                  <a:srgbClr val="B08DF8"/>
                </a:solidFill>
                <a:latin typeface="KG Primary Penmanship"/>
                <a:ea typeface="KG Primary Penmanship"/>
                <a:cs typeface="KG Primary Penmanship"/>
                <a:sym typeface="KG Primary Penmanship"/>
              </a:rPr>
              <a:t>ONLINE RETAIL II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p:cNvGrpSpPr/>
        <p:nvPr/>
      </p:nvGrpSpPr>
      <p:grpSpPr>
        <a:xfrm>
          <a:off x="0" y="0"/>
          <a:ext cx="0" cy="0"/>
          <a:chOff x="0" y="0"/>
          <a:chExt cx="0" cy="0"/>
        </a:xfrm>
      </p:grpSpPr>
      <p:grpSp>
        <p:nvGrpSpPr>
          <p:cNvPr id="2" name="Group 2"/>
          <p:cNvGrpSpPr/>
          <p:nvPr/>
        </p:nvGrpSpPr>
        <p:grpSpPr>
          <a:xfrm>
            <a:off x="417708" y="490468"/>
            <a:ext cx="17164548" cy="9259331"/>
            <a:chOff x="0" y="0"/>
            <a:chExt cx="6964336" cy="3756877"/>
          </a:xfrm>
        </p:grpSpPr>
        <p:sp>
          <p:nvSpPr>
            <p:cNvPr id="3" name="Freeform 3"/>
            <p:cNvSpPr/>
            <p:nvPr/>
          </p:nvSpPr>
          <p:spPr>
            <a:xfrm>
              <a:off x="12700" y="12700"/>
              <a:ext cx="6897026" cy="3688297"/>
            </a:xfrm>
            <a:custGeom>
              <a:avLst/>
              <a:gdLst/>
              <a:ahLst/>
              <a:cxnLst/>
              <a:rect l="l" t="t" r="r" b="b"/>
              <a:pathLst>
                <a:path w="6897026" h="3688297">
                  <a:moveTo>
                    <a:pt x="43180" y="3688297"/>
                  </a:moveTo>
                  <a:lnTo>
                    <a:pt x="6853846" y="3688297"/>
                  </a:lnTo>
                  <a:cubicBezTo>
                    <a:pt x="6877976" y="3688297"/>
                    <a:pt x="6897026" y="3669247"/>
                    <a:pt x="6897026" y="3645117"/>
                  </a:cubicBezTo>
                  <a:lnTo>
                    <a:pt x="6897026" y="43180"/>
                  </a:lnTo>
                  <a:cubicBezTo>
                    <a:pt x="6897026" y="19050"/>
                    <a:pt x="6877976" y="0"/>
                    <a:pt x="6853846" y="0"/>
                  </a:cubicBezTo>
                  <a:lnTo>
                    <a:pt x="43180" y="0"/>
                  </a:lnTo>
                  <a:cubicBezTo>
                    <a:pt x="19050" y="0"/>
                    <a:pt x="0" y="19050"/>
                    <a:pt x="0" y="43180"/>
                  </a:cubicBezTo>
                  <a:lnTo>
                    <a:pt x="0" y="3645117"/>
                  </a:lnTo>
                  <a:cubicBezTo>
                    <a:pt x="0" y="3669247"/>
                    <a:pt x="19050" y="3688297"/>
                    <a:pt x="43180" y="3688297"/>
                  </a:cubicBezTo>
                  <a:close/>
                </a:path>
              </a:pathLst>
            </a:custGeom>
            <a:solidFill>
              <a:srgbClr val="FFFFFF"/>
            </a:solidFill>
          </p:spPr>
          <p:txBody>
            <a:bodyPr/>
            <a:lstStyle/>
            <a:p>
              <a:endParaRPr lang="en-US"/>
            </a:p>
          </p:txBody>
        </p:sp>
        <p:sp>
          <p:nvSpPr>
            <p:cNvPr id="4" name="Freeform 4"/>
            <p:cNvSpPr/>
            <p:nvPr/>
          </p:nvSpPr>
          <p:spPr>
            <a:xfrm>
              <a:off x="0" y="0"/>
              <a:ext cx="6964336" cy="3756877"/>
            </a:xfrm>
            <a:custGeom>
              <a:avLst/>
              <a:gdLst/>
              <a:ahLst/>
              <a:cxnLst/>
              <a:rect l="l" t="t" r="r" b="b"/>
              <a:pathLst>
                <a:path w="6964336" h="3756877">
                  <a:moveTo>
                    <a:pt x="6921157" y="44450"/>
                  </a:moveTo>
                  <a:cubicBezTo>
                    <a:pt x="6916076" y="19050"/>
                    <a:pt x="6893216" y="0"/>
                    <a:pt x="6866546" y="0"/>
                  </a:cubicBezTo>
                  <a:lnTo>
                    <a:pt x="55880" y="0"/>
                  </a:lnTo>
                  <a:cubicBezTo>
                    <a:pt x="25400" y="0"/>
                    <a:pt x="0" y="25400"/>
                    <a:pt x="0" y="55880"/>
                  </a:cubicBezTo>
                  <a:lnTo>
                    <a:pt x="0" y="3657817"/>
                  </a:lnTo>
                  <a:cubicBezTo>
                    <a:pt x="0" y="3684487"/>
                    <a:pt x="17780" y="3706077"/>
                    <a:pt x="43180" y="3712427"/>
                  </a:cubicBezTo>
                  <a:cubicBezTo>
                    <a:pt x="48260" y="3737827"/>
                    <a:pt x="71120" y="3756877"/>
                    <a:pt x="97790" y="3756877"/>
                  </a:cubicBezTo>
                  <a:lnTo>
                    <a:pt x="6908457" y="3756877"/>
                  </a:lnTo>
                  <a:cubicBezTo>
                    <a:pt x="6938936" y="3756877"/>
                    <a:pt x="6964336" y="3731477"/>
                    <a:pt x="6964336" y="3700997"/>
                  </a:cubicBezTo>
                  <a:lnTo>
                    <a:pt x="6964336" y="99060"/>
                  </a:lnTo>
                  <a:cubicBezTo>
                    <a:pt x="6964336" y="72390"/>
                    <a:pt x="6946557" y="50800"/>
                    <a:pt x="6921157" y="44450"/>
                  </a:cubicBezTo>
                  <a:close/>
                  <a:moveTo>
                    <a:pt x="12700" y="3657817"/>
                  </a:moveTo>
                  <a:lnTo>
                    <a:pt x="12700" y="55880"/>
                  </a:lnTo>
                  <a:cubicBezTo>
                    <a:pt x="12700" y="31750"/>
                    <a:pt x="31750" y="12700"/>
                    <a:pt x="55880" y="12700"/>
                  </a:cubicBezTo>
                  <a:lnTo>
                    <a:pt x="6866546" y="12700"/>
                  </a:lnTo>
                  <a:cubicBezTo>
                    <a:pt x="6890676" y="12700"/>
                    <a:pt x="6909726" y="31750"/>
                    <a:pt x="6909726" y="55880"/>
                  </a:cubicBezTo>
                  <a:lnTo>
                    <a:pt x="6909726" y="3657817"/>
                  </a:lnTo>
                  <a:cubicBezTo>
                    <a:pt x="6909726" y="3681947"/>
                    <a:pt x="6890676" y="3700997"/>
                    <a:pt x="6866546" y="3700997"/>
                  </a:cubicBezTo>
                  <a:lnTo>
                    <a:pt x="55880" y="3700997"/>
                  </a:lnTo>
                  <a:cubicBezTo>
                    <a:pt x="31750" y="3700997"/>
                    <a:pt x="12700" y="3681947"/>
                    <a:pt x="12700" y="3657817"/>
                  </a:cubicBezTo>
                  <a:close/>
                </a:path>
              </a:pathLst>
            </a:custGeom>
            <a:solidFill>
              <a:srgbClr val="000000"/>
            </a:solidFill>
          </p:spPr>
          <p:txBody>
            <a:bodyPr/>
            <a:lstStyle/>
            <a:p>
              <a:endParaRPr lang="en-US"/>
            </a:p>
          </p:txBody>
        </p:sp>
      </p:grpSp>
      <p:sp>
        <p:nvSpPr>
          <p:cNvPr id="5" name="Freeform 5"/>
          <p:cNvSpPr/>
          <p:nvPr/>
        </p:nvSpPr>
        <p:spPr>
          <a:xfrm>
            <a:off x="570108" y="3771900"/>
            <a:ext cx="2706492" cy="1905000"/>
          </a:xfrm>
          <a:custGeom>
            <a:avLst/>
            <a:gdLst/>
            <a:ahLst/>
            <a:cxnLst/>
            <a:rect l="l" t="t" r="r" b="b"/>
            <a:pathLst>
              <a:path w="3524137" h="2512622">
                <a:moveTo>
                  <a:pt x="0" y="0"/>
                </a:moveTo>
                <a:lnTo>
                  <a:pt x="3524136" y="0"/>
                </a:lnTo>
                <a:lnTo>
                  <a:pt x="3524136" y="2512621"/>
                </a:lnTo>
                <a:lnTo>
                  <a:pt x="0" y="25126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3514362" y="1543588"/>
            <a:ext cx="13325838" cy="7028912"/>
          </a:xfrm>
          <a:prstGeom prst="rect">
            <a:avLst/>
          </a:prstGeom>
        </p:spPr>
        <p:txBody>
          <a:bodyPr wrap="square" lIns="0" tIns="0" rIns="0" bIns="0" rtlCol="0" anchor="t">
            <a:spAutoFit/>
          </a:bodyPr>
          <a:lstStyle/>
          <a:p>
            <a:pPr algn="just">
              <a:lnSpc>
                <a:spcPts val="7896"/>
              </a:lnSpc>
            </a:pPr>
            <a:r>
              <a:rPr lang="en-US" sz="5640">
                <a:solidFill>
                  <a:srgbClr val="000000"/>
                </a:solidFill>
                <a:latin typeface="High Tower Text" panose="02040502050506030303" pitchFamily="18" charset="0"/>
                <a:ea typeface="KG Primary Penmanship"/>
                <a:cs typeface="Arial" panose="020B0604020202020204" pitchFamily="34" charset="0"/>
                <a:sym typeface="KG Primary Penmanship"/>
              </a:rPr>
              <a:t>Đề tài sử dụng dữ liệu Online Retail II (UCI) – ghi nhận giao dịch tại châu Âu (2010–2011) – để xây dựng và so sánh ba mô hình dự báo hiện đại: Prophet, Random Forest và LSTM. Mục tiêu là cung cấp giải pháp dự báo doanh số chính xác, có tính ứng dụng cao trong thương mại điện tử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2" name="Group 2"/>
          <p:cNvGrpSpPr/>
          <p:nvPr/>
        </p:nvGrpSpPr>
        <p:grpSpPr>
          <a:xfrm>
            <a:off x="561726" y="592373"/>
            <a:ext cx="17164548" cy="9102254"/>
            <a:chOff x="0" y="0"/>
            <a:chExt cx="6964336" cy="3693145"/>
          </a:xfrm>
        </p:grpSpPr>
        <p:sp>
          <p:nvSpPr>
            <p:cNvPr id="3" name="Freeform 3"/>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5" name="Freeform 5"/>
          <p:cNvSpPr/>
          <p:nvPr/>
        </p:nvSpPr>
        <p:spPr>
          <a:xfrm>
            <a:off x="1190982" y="3771900"/>
            <a:ext cx="15906036" cy="4648199"/>
          </a:xfrm>
          <a:custGeom>
            <a:avLst/>
            <a:gdLst/>
            <a:ahLst/>
            <a:cxnLst/>
            <a:rect l="l" t="t" r="r" b="b"/>
            <a:pathLst>
              <a:path w="15906036" h="3171402">
                <a:moveTo>
                  <a:pt x="0" y="0"/>
                </a:moveTo>
                <a:lnTo>
                  <a:pt x="15906036" y="0"/>
                </a:lnTo>
                <a:lnTo>
                  <a:pt x="15906036" y="3171402"/>
                </a:lnTo>
                <a:lnTo>
                  <a:pt x="0" y="3171402"/>
                </a:lnTo>
                <a:lnTo>
                  <a:pt x="0" y="0"/>
                </a:lnTo>
                <a:close/>
              </a:path>
            </a:pathLst>
          </a:custGeom>
          <a:blipFill>
            <a:blip r:embed="rId2"/>
            <a:stretch>
              <a:fillRect b="-5324"/>
            </a:stretch>
          </a:blipFill>
        </p:spPr>
        <p:txBody>
          <a:bodyPr/>
          <a:lstStyle/>
          <a:p>
            <a:endParaRPr lang="en-US"/>
          </a:p>
        </p:txBody>
      </p:sp>
      <p:grpSp>
        <p:nvGrpSpPr>
          <p:cNvPr id="6" name="Group 6"/>
          <p:cNvGrpSpPr/>
          <p:nvPr/>
        </p:nvGrpSpPr>
        <p:grpSpPr>
          <a:xfrm>
            <a:off x="561726" y="557775"/>
            <a:ext cx="17164548" cy="1728107"/>
            <a:chOff x="0" y="0"/>
            <a:chExt cx="6964336" cy="701161"/>
          </a:xfrm>
        </p:grpSpPr>
        <p:sp>
          <p:nvSpPr>
            <p:cNvPr id="7" name="Freeform 7"/>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8" name="Freeform 8"/>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9" name="TextBox 9"/>
          <p:cNvSpPr txBox="1"/>
          <p:nvPr/>
        </p:nvSpPr>
        <p:spPr>
          <a:xfrm>
            <a:off x="561726" y="866775"/>
            <a:ext cx="17164548" cy="1419107"/>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A. KHÁM PHÁ và xử lí DỮ LIỆU</a:t>
            </a:r>
          </a:p>
        </p:txBody>
      </p:sp>
      <p:sp>
        <p:nvSpPr>
          <p:cNvPr id="13" name="TextBox 6">
            <a:extLst>
              <a:ext uri="{FF2B5EF4-FFF2-40B4-BE49-F238E27FC236}">
                <a16:creationId xmlns:a16="http://schemas.microsoft.com/office/drawing/2014/main" id="{F4DC5230-F656-91DD-551E-198754242029}"/>
              </a:ext>
            </a:extLst>
          </p:cNvPr>
          <p:cNvSpPr txBox="1"/>
          <p:nvPr/>
        </p:nvSpPr>
        <p:spPr>
          <a:xfrm>
            <a:off x="1140127" y="2235288"/>
            <a:ext cx="14633273" cy="1231812"/>
          </a:xfrm>
          <a:prstGeom prst="rect">
            <a:avLst/>
          </a:prstGeom>
        </p:spPr>
        <p:txBody>
          <a:bodyPr lIns="0" tIns="0" rIns="0" bIns="0" rtlCol="0" anchor="t">
            <a:spAutoFit/>
          </a:bodyPr>
          <a:lstStyle/>
          <a:p>
            <a:pPr algn="just">
              <a:lnSpc>
                <a:spcPts val="10872"/>
              </a:lnSpc>
              <a:spcBef>
                <a:spcPct val="0"/>
              </a:spcBef>
            </a:pPr>
            <a:r>
              <a:rPr lang="en-US" sz="5000">
                <a:solidFill>
                  <a:srgbClr val="FF738E"/>
                </a:solidFill>
                <a:latin typeface="Sabon Next LT" panose="02000500000000000000" pitchFamily="2" charset="0"/>
                <a:ea typeface="KG Primary Penmanship"/>
                <a:cs typeface="Sabon Next LT" panose="02000500000000000000" pitchFamily="2" charset="0"/>
                <a:sym typeface="KG Primary Penmanship"/>
              </a:rPr>
              <a:t>5 hàng ngẫu nhiên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2" name="Group 2"/>
          <p:cNvGrpSpPr/>
          <p:nvPr/>
        </p:nvGrpSpPr>
        <p:grpSpPr>
          <a:xfrm>
            <a:off x="561726" y="213996"/>
            <a:ext cx="17164548" cy="9916958"/>
            <a:chOff x="0" y="0"/>
            <a:chExt cx="6964336" cy="4023702"/>
          </a:xfrm>
        </p:grpSpPr>
        <p:sp>
          <p:nvSpPr>
            <p:cNvPr id="3" name="Freeform 3"/>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4" name="Freeform 4"/>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sp>
        <p:nvSpPr>
          <p:cNvPr id="12" name="TextBox 6">
            <a:extLst>
              <a:ext uri="{FF2B5EF4-FFF2-40B4-BE49-F238E27FC236}">
                <a16:creationId xmlns:a16="http://schemas.microsoft.com/office/drawing/2014/main" id="{D85019E4-EFBC-3D94-1F4C-8A87B6513CD5}"/>
              </a:ext>
            </a:extLst>
          </p:cNvPr>
          <p:cNvSpPr txBox="1"/>
          <p:nvPr/>
        </p:nvSpPr>
        <p:spPr>
          <a:xfrm>
            <a:off x="1140127" y="588448"/>
            <a:ext cx="14633273" cy="1231812"/>
          </a:xfrm>
          <a:prstGeom prst="rect">
            <a:avLst/>
          </a:prstGeom>
        </p:spPr>
        <p:txBody>
          <a:bodyPr lIns="0" tIns="0" rIns="0" bIns="0" rtlCol="0" anchor="t">
            <a:spAutoFit/>
          </a:bodyPr>
          <a:lstStyle/>
          <a:p>
            <a:pPr algn="just">
              <a:lnSpc>
                <a:spcPts val="10872"/>
              </a:lnSpc>
              <a:spcBef>
                <a:spcPct val="0"/>
              </a:spcBef>
            </a:pPr>
            <a:r>
              <a:rPr lang="en-US" sz="5000">
                <a:solidFill>
                  <a:srgbClr val="FF738E"/>
                </a:solidFill>
                <a:latin typeface="Sabon Next LT" panose="02000500000000000000" pitchFamily="2" charset="0"/>
                <a:ea typeface="KG Primary Penmanship"/>
                <a:cs typeface="Sabon Next LT" panose="02000500000000000000" pitchFamily="2" charset="0"/>
                <a:sym typeface="KG Primary Penmanship"/>
              </a:rPr>
              <a:t>Thông tin bộ dữ liệu</a:t>
            </a:r>
          </a:p>
        </p:txBody>
      </p:sp>
      <p:graphicFrame>
        <p:nvGraphicFramePr>
          <p:cNvPr id="13" name="Table 12">
            <a:extLst>
              <a:ext uri="{FF2B5EF4-FFF2-40B4-BE49-F238E27FC236}">
                <a16:creationId xmlns:a16="http://schemas.microsoft.com/office/drawing/2014/main" id="{5BBFC870-0BAA-CB2F-6CF8-40F10B7470F1}"/>
              </a:ext>
            </a:extLst>
          </p:cNvPr>
          <p:cNvGraphicFramePr>
            <a:graphicFrameLocks noGrp="1"/>
          </p:cNvGraphicFramePr>
          <p:nvPr>
            <p:extLst>
              <p:ext uri="{D42A27DB-BD31-4B8C-83A1-F6EECF244321}">
                <p14:modId xmlns:p14="http://schemas.microsoft.com/office/powerpoint/2010/main" val="1709887191"/>
              </p:ext>
            </p:extLst>
          </p:nvPr>
        </p:nvGraphicFramePr>
        <p:xfrm>
          <a:off x="10058400" y="512248"/>
          <a:ext cx="7239000" cy="9127052"/>
        </p:xfrm>
        <a:graphic>
          <a:graphicData uri="http://schemas.openxmlformats.org/drawingml/2006/table">
            <a:tbl>
              <a:tblPr firstRow="1" firstCol="1" bandRow="1">
                <a:tableStyleId>{08FB837D-C827-4EFA-A057-4D05807E0F7C}</a:tableStyleId>
              </a:tblPr>
              <a:tblGrid>
                <a:gridCol w="7239000">
                  <a:extLst>
                    <a:ext uri="{9D8B030D-6E8A-4147-A177-3AD203B41FA5}">
                      <a16:colId xmlns:a16="http://schemas.microsoft.com/office/drawing/2014/main" val="132408285"/>
                    </a:ext>
                  </a:extLst>
                </a:gridCol>
              </a:tblGrid>
              <a:tr h="9127052">
                <a:tc>
                  <a:txBody>
                    <a:bodyPr/>
                    <a:lstStyle/>
                    <a:p>
                      <a:pPr marL="0" marR="0" indent="0" algn="l">
                        <a:lnSpc>
                          <a:spcPct val="150000"/>
                        </a:lnSpc>
                        <a:buNone/>
                      </a:pPr>
                      <a:r>
                        <a:rPr lang="en-US" sz="2200" kern="100">
                          <a:effectLst/>
                        </a:rPr>
                        <a:t>===== THÔNG TIN CƠ BẢN =====</a:t>
                      </a:r>
                    </a:p>
                    <a:p>
                      <a:pPr marL="0" marR="0" indent="0" algn="l">
                        <a:lnSpc>
                          <a:spcPct val="150000"/>
                        </a:lnSpc>
                        <a:buNone/>
                      </a:pPr>
                      <a:r>
                        <a:rPr lang="en-US" sz="2200" kern="100">
                          <a:effectLst/>
                        </a:rPr>
                        <a:t>&lt;class 'pandas.core.frame.DataFrame'&gt;</a:t>
                      </a:r>
                    </a:p>
                    <a:p>
                      <a:pPr marL="0" marR="0" indent="0" algn="l">
                        <a:lnSpc>
                          <a:spcPct val="150000"/>
                        </a:lnSpc>
                        <a:buNone/>
                      </a:pPr>
                      <a:r>
                        <a:rPr lang="en-US" sz="2200" kern="100">
                          <a:effectLst/>
                        </a:rPr>
                        <a:t>RangeIndex: 1067371 entries, 0 to 1067370</a:t>
                      </a:r>
                    </a:p>
                    <a:p>
                      <a:pPr marL="0" marR="0" indent="0" algn="l">
                        <a:lnSpc>
                          <a:spcPct val="150000"/>
                        </a:lnSpc>
                        <a:buNone/>
                      </a:pPr>
                      <a:r>
                        <a:rPr lang="en-US" sz="2200" kern="100">
                          <a:effectLst/>
                        </a:rPr>
                        <a:t>Data columns (total 8 columns):</a:t>
                      </a:r>
                    </a:p>
                    <a:p>
                      <a:pPr marL="0" marR="0" indent="0" algn="l">
                        <a:lnSpc>
                          <a:spcPct val="150000"/>
                        </a:lnSpc>
                        <a:buNone/>
                      </a:pPr>
                      <a:r>
                        <a:rPr lang="en-US" sz="2200" kern="100">
                          <a:effectLst/>
                        </a:rPr>
                        <a:t> #   Column       Non-Null Count    Dtype         </a:t>
                      </a:r>
                    </a:p>
                    <a:p>
                      <a:pPr marL="0" marR="0" indent="0" algn="l">
                        <a:lnSpc>
                          <a:spcPct val="150000"/>
                        </a:lnSpc>
                        <a:buNone/>
                      </a:pPr>
                      <a:r>
                        <a:rPr lang="en-US" sz="2200" kern="100">
                          <a:effectLst/>
                        </a:rPr>
                        <a:t>---  ------       --------------    -----         </a:t>
                      </a:r>
                    </a:p>
                    <a:p>
                      <a:pPr marL="0" marR="0" indent="0" algn="l">
                        <a:lnSpc>
                          <a:spcPct val="150000"/>
                        </a:lnSpc>
                        <a:buNone/>
                      </a:pPr>
                      <a:r>
                        <a:rPr lang="en-US" sz="2200" kern="100">
                          <a:effectLst/>
                        </a:rPr>
                        <a:t> 0   Invoice      1067371 non-null  object        </a:t>
                      </a:r>
                    </a:p>
                    <a:p>
                      <a:pPr marL="0" marR="0" indent="0" algn="l">
                        <a:lnSpc>
                          <a:spcPct val="150000"/>
                        </a:lnSpc>
                        <a:buNone/>
                      </a:pPr>
                      <a:r>
                        <a:rPr lang="en-US" sz="2200" kern="100">
                          <a:effectLst/>
                        </a:rPr>
                        <a:t> 1   StockCode    1067371 non-null  object        </a:t>
                      </a:r>
                    </a:p>
                    <a:p>
                      <a:pPr marL="0" marR="0" indent="0" algn="l">
                        <a:lnSpc>
                          <a:spcPct val="150000"/>
                        </a:lnSpc>
                        <a:buNone/>
                      </a:pPr>
                      <a:r>
                        <a:rPr lang="en-US" sz="2200" kern="100">
                          <a:effectLst/>
                        </a:rPr>
                        <a:t> 2   Description  1062989 non-null  object        </a:t>
                      </a:r>
                    </a:p>
                    <a:p>
                      <a:pPr marL="0" marR="0" indent="0" algn="l">
                        <a:lnSpc>
                          <a:spcPct val="150000"/>
                        </a:lnSpc>
                        <a:buNone/>
                      </a:pPr>
                      <a:r>
                        <a:rPr lang="en-US" sz="2200" kern="100">
                          <a:effectLst/>
                        </a:rPr>
                        <a:t> 3   Quantity     1067371 non-null  int64         </a:t>
                      </a:r>
                    </a:p>
                    <a:p>
                      <a:pPr marL="0" marR="0" indent="0" algn="l">
                        <a:lnSpc>
                          <a:spcPct val="150000"/>
                        </a:lnSpc>
                        <a:buNone/>
                      </a:pPr>
                      <a:r>
                        <a:rPr lang="en-US" sz="2200" kern="100">
                          <a:effectLst/>
                        </a:rPr>
                        <a:t> 4   InvoiceDate  1067371 non-null  datetime64[ns]</a:t>
                      </a:r>
                    </a:p>
                    <a:p>
                      <a:pPr marL="0" marR="0" indent="0" algn="l">
                        <a:lnSpc>
                          <a:spcPct val="150000"/>
                        </a:lnSpc>
                        <a:buNone/>
                      </a:pPr>
                      <a:r>
                        <a:rPr lang="en-US" sz="2200" kern="100">
                          <a:effectLst/>
                        </a:rPr>
                        <a:t> 5   Price        1067371 non-null  float64       </a:t>
                      </a:r>
                    </a:p>
                    <a:p>
                      <a:pPr marL="0" marR="0" indent="0" algn="l">
                        <a:lnSpc>
                          <a:spcPct val="150000"/>
                        </a:lnSpc>
                        <a:buNone/>
                      </a:pPr>
                      <a:r>
                        <a:rPr lang="en-US" sz="2200" kern="100">
                          <a:effectLst/>
                        </a:rPr>
                        <a:t> 6   Customer ID  824364 non-null   float64       </a:t>
                      </a:r>
                    </a:p>
                    <a:p>
                      <a:pPr marL="0" marR="0" indent="0" algn="l">
                        <a:lnSpc>
                          <a:spcPct val="150000"/>
                        </a:lnSpc>
                        <a:buNone/>
                      </a:pPr>
                      <a:r>
                        <a:rPr lang="en-US" sz="2200" kern="100">
                          <a:effectLst/>
                        </a:rPr>
                        <a:t> 7   Country      1067371 non-null  object        </a:t>
                      </a:r>
                    </a:p>
                    <a:p>
                      <a:pPr marL="0" marR="0" indent="0" algn="l">
                        <a:lnSpc>
                          <a:spcPct val="150000"/>
                        </a:lnSpc>
                        <a:buNone/>
                      </a:pPr>
                      <a:r>
                        <a:rPr lang="en-US" sz="2200" kern="100">
                          <a:effectLst/>
                        </a:rPr>
                        <a:t>dtypes: datetime64[ns](1), float64(2), int64(1), object(4)</a:t>
                      </a:r>
                    </a:p>
                    <a:p>
                      <a:pPr marL="0" marR="0" indent="0" algn="l">
                        <a:lnSpc>
                          <a:spcPct val="150000"/>
                        </a:lnSpc>
                        <a:buNone/>
                      </a:pPr>
                      <a:r>
                        <a:rPr lang="en-US" sz="2200" kern="100">
                          <a:effectLst/>
                        </a:rPr>
                        <a:t>memory usage: 65.1+ MB</a:t>
                      </a:r>
                    </a:p>
                    <a:p>
                      <a:pPr marL="0" marR="0" indent="0" algn="l">
                        <a:lnSpc>
                          <a:spcPct val="150000"/>
                        </a:lnSpc>
                        <a:buNone/>
                      </a:pPr>
                      <a:r>
                        <a:rPr lang="en-US" sz="2200" kern="100">
                          <a:effectLst/>
                        </a:rPr>
                        <a:t>None</a:t>
                      </a:r>
                      <a:endParaRPr lang="en-US" sz="2200" kern="10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endParaRPr>
                    </a:p>
                  </a:txBody>
                  <a:tcPr marL="68580" marR="68580" marT="0" marB="0">
                    <a:solidFill>
                      <a:srgbClr val="A049C3"/>
                    </a:solidFill>
                  </a:tcPr>
                </a:tc>
                <a:extLst>
                  <a:ext uri="{0D108BD9-81ED-4DB2-BD59-A6C34878D82A}">
                    <a16:rowId xmlns:a16="http://schemas.microsoft.com/office/drawing/2014/main" val="3827320475"/>
                  </a:ext>
                </a:extLst>
              </a:tr>
            </a:tbl>
          </a:graphicData>
        </a:graphic>
      </p:graphicFrame>
      <p:sp>
        <p:nvSpPr>
          <p:cNvPr id="14" name="TextBox 6">
            <a:extLst>
              <a:ext uri="{FF2B5EF4-FFF2-40B4-BE49-F238E27FC236}">
                <a16:creationId xmlns:a16="http://schemas.microsoft.com/office/drawing/2014/main" id="{F233357F-0621-B24C-B468-613D6B4C54A0}"/>
              </a:ext>
            </a:extLst>
          </p:cNvPr>
          <p:cNvSpPr txBox="1"/>
          <p:nvPr/>
        </p:nvSpPr>
        <p:spPr>
          <a:xfrm>
            <a:off x="914400" y="1943100"/>
            <a:ext cx="8408669" cy="7386638"/>
          </a:xfrm>
          <a:prstGeom prst="rect">
            <a:avLst/>
          </a:prstGeom>
        </p:spPr>
        <p:txBody>
          <a:bodyPr wrap="square" lIns="0" tIns="0" rIns="0" bIns="0" rtlCol="0" anchor="t">
            <a:spAutoFit/>
          </a:bodyPr>
          <a:lstStyle/>
          <a:p>
            <a:pPr marL="1508619" lvl="1" indent="-754309" algn="just">
              <a:spcBef>
                <a:spcPct val="0"/>
              </a:spcBef>
              <a:buFont typeface="Arial"/>
              <a:buChar char="•"/>
            </a:pPr>
            <a:r>
              <a:rPr lang="en-US" sz="4000">
                <a:solidFill>
                  <a:srgbClr val="000000"/>
                </a:solidFill>
                <a:latin typeface="Sabon Next LT" panose="02000500000000000000" pitchFamily="2" charset="0"/>
                <a:ea typeface="KG Primary Penmanship"/>
                <a:cs typeface="Sabon Next LT" panose="02000500000000000000" pitchFamily="2" charset="0"/>
                <a:sym typeface="KG Primary Penmanship"/>
              </a:rPr>
              <a:t>1,067,371 Dòng</a:t>
            </a:r>
          </a:p>
          <a:p>
            <a:pPr marL="1508619" lvl="1" indent="-754309" algn="l">
              <a:spcBef>
                <a:spcPct val="0"/>
              </a:spcBef>
              <a:buFont typeface="Arial"/>
              <a:buChar char="•"/>
            </a:pPr>
            <a:r>
              <a:rPr lang="en-US" sz="4000">
                <a:solidFill>
                  <a:srgbClr val="000000"/>
                </a:solidFill>
                <a:latin typeface="Sabon Next LT" panose="02000500000000000000" pitchFamily="2" charset="0"/>
                <a:ea typeface="KG Primary Penmanship"/>
                <a:cs typeface="Sabon Next LT" panose="02000500000000000000" pitchFamily="2" charset="0"/>
                <a:sym typeface="KG Primary Penmanship"/>
              </a:rPr>
              <a:t>8 Cột (Invoice, Stockcode, Description, Qantity, InvoiceDate, Price, Customer ID, Country)</a:t>
            </a:r>
          </a:p>
          <a:p>
            <a:pPr marL="1508619" lvl="1" indent="-754309" algn="l">
              <a:spcBef>
                <a:spcPct val="0"/>
              </a:spcBef>
              <a:buFont typeface="Arial"/>
              <a:buChar char="•"/>
            </a:pPr>
            <a:r>
              <a:rPr lang="en-US" sz="4000">
                <a:solidFill>
                  <a:srgbClr val="000000"/>
                </a:solidFill>
                <a:latin typeface="Sabon Next LT" panose="02000500000000000000" pitchFamily="2" charset="0"/>
                <a:ea typeface="KG Primary Penmanship"/>
                <a:cs typeface="Sabon Next LT" panose="02000500000000000000" pitchFamily="2" charset="0"/>
                <a:sym typeface="KG Primary Penmanship"/>
              </a:rPr>
              <a:t>Các kiểu dữ liệu: datetime64[ns](1), float64(2), int64(1), object(4)</a:t>
            </a:r>
          </a:p>
          <a:p>
            <a:pPr marL="1508619" lvl="1" indent="-754309" algn="l">
              <a:spcBef>
                <a:spcPct val="0"/>
              </a:spcBef>
              <a:buFont typeface="Arial"/>
              <a:buChar char="•"/>
            </a:pPr>
            <a:r>
              <a:rPr lang="en-US" sz="4000">
                <a:solidFill>
                  <a:srgbClr val="000000"/>
                </a:solidFill>
                <a:latin typeface="Sabon Next LT" panose="02000500000000000000" pitchFamily="2" charset="0"/>
                <a:ea typeface="KG Primary Penmanship"/>
                <a:cs typeface="Sabon Next LT" panose="02000500000000000000" pitchFamily="2" charset="0"/>
                <a:sym typeface="KG Primary Penmanship"/>
              </a:rPr>
              <a:t>Có một số vấn đề về chất lượng dữ liệu: cột Description và Customer ID có giá trị thiếu</a:t>
            </a:r>
          </a:p>
          <a:p>
            <a:pPr marL="1508619" lvl="1" indent="-754309" algn="l">
              <a:spcBef>
                <a:spcPct val="0"/>
              </a:spcBef>
              <a:buFont typeface="Arial"/>
              <a:buChar char="•"/>
            </a:pPr>
            <a:endParaRPr lang="en-US" sz="4000">
              <a:solidFill>
                <a:srgbClr val="000000"/>
              </a:solidFill>
              <a:latin typeface="Sabon Next LT" panose="02000500000000000000" pitchFamily="2" charset="0"/>
              <a:ea typeface="KG Primary Penmanship"/>
              <a:cs typeface="Sabon Next LT" panose="02000500000000000000" pitchFamily="2" charset="0"/>
              <a:sym typeface="KG Primary Penmanshi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7" name="Group 2">
            <a:extLst>
              <a:ext uri="{FF2B5EF4-FFF2-40B4-BE49-F238E27FC236}">
                <a16:creationId xmlns:a16="http://schemas.microsoft.com/office/drawing/2014/main" id="{4EC8D71A-FB03-9CC3-7D28-BF1E1F60FD11}"/>
              </a:ext>
            </a:extLst>
          </p:cNvPr>
          <p:cNvGrpSpPr/>
          <p:nvPr/>
        </p:nvGrpSpPr>
        <p:grpSpPr>
          <a:xfrm>
            <a:off x="561726" y="213996"/>
            <a:ext cx="17164548" cy="9916958"/>
            <a:chOff x="0" y="0"/>
            <a:chExt cx="6964336" cy="4023702"/>
          </a:xfrm>
        </p:grpSpPr>
        <p:sp>
          <p:nvSpPr>
            <p:cNvPr id="8" name="Freeform 3">
              <a:extLst>
                <a:ext uri="{FF2B5EF4-FFF2-40B4-BE49-F238E27FC236}">
                  <a16:creationId xmlns:a16="http://schemas.microsoft.com/office/drawing/2014/main" id="{52CBF5EB-38D2-4B69-0DF7-D15CEA19A777}"/>
                </a:ext>
              </a:extLst>
            </p:cNvPr>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9" name="Freeform 4">
              <a:extLst>
                <a:ext uri="{FF2B5EF4-FFF2-40B4-BE49-F238E27FC236}">
                  <a16:creationId xmlns:a16="http://schemas.microsoft.com/office/drawing/2014/main" id="{916D0336-94A6-FB46-0A8A-76A7232D458F}"/>
                </a:ext>
              </a:extLst>
            </p:cNvPr>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sp>
        <p:nvSpPr>
          <p:cNvPr id="5" name="TextBox 5"/>
          <p:cNvSpPr txBox="1"/>
          <p:nvPr/>
        </p:nvSpPr>
        <p:spPr>
          <a:xfrm>
            <a:off x="1140127" y="1859181"/>
            <a:ext cx="9527873" cy="7475220"/>
          </a:xfrm>
          <a:prstGeom prst="rect">
            <a:avLst/>
          </a:prstGeom>
          <a:solidFill>
            <a:schemeClr val="bg2"/>
          </a:solidFill>
        </p:spPr>
        <p:txBody>
          <a:bodyPr wrap="square" lIns="0" tIns="0" rIns="0" bIns="0" rtlCol="0" anchor="t">
            <a:spAutoFit/>
          </a:bodyPr>
          <a:lstStyle/>
          <a:p>
            <a:pPr algn="just">
              <a:lnSpc>
                <a:spcPts val="5880"/>
              </a:lnSpc>
            </a:pPr>
            <a:r>
              <a:rPr lang="en-US" sz="3500">
                <a:solidFill>
                  <a:srgbClr val="000000"/>
                </a:solidFill>
                <a:latin typeface="Consolas"/>
                <a:ea typeface="Consolas"/>
                <a:cs typeface="Consolas"/>
                <a:sym typeface="Consolas"/>
              </a:rPr>
              <a:t>===== THỐNG KÊ MÔ TẢ CHO BIẾN SỐ =====</a:t>
            </a:r>
          </a:p>
          <a:p>
            <a:pPr algn="just">
              <a:lnSpc>
                <a:spcPts val="5880"/>
              </a:lnSpc>
            </a:pPr>
            <a:r>
              <a:rPr lang="en-US" sz="3500">
                <a:solidFill>
                  <a:srgbClr val="000000"/>
                </a:solidFill>
                <a:latin typeface="Consolas"/>
                <a:ea typeface="Consolas"/>
                <a:cs typeface="Consolas"/>
                <a:sym typeface="Consolas"/>
              </a:rPr>
              <a:t>           Quantity         Price</a:t>
            </a:r>
          </a:p>
          <a:p>
            <a:pPr algn="just">
              <a:lnSpc>
                <a:spcPts val="5880"/>
              </a:lnSpc>
            </a:pPr>
            <a:r>
              <a:rPr lang="en-US" sz="3500">
                <a:solidFill>
                  <a:srgbClr val="000000"/>
                </a:solidFill>
                <a:latin typeface="Consolas"/>
                <a:ea typeface="Consolas"/>
                <a:cs typeface="Consolas"/>
                <a:sym typeface="Consolas"/>
              </a:rPr>
              <a:t>count  1.067371e+06  1.067371e+06</a:t>
            </a:r>
          </a:p>
          <a:p>
            <a:pPr algn="just">
              <a:lnSpc>
                <a:spcPts val="5880"/>
              </a:lnSpc>
            </a:pPr>
            <a:r>
              <a:rPr lang="en-US" sz="3500">
                <a:solidFill>
                  <a:srgbClr val="000000"/>
                </a:solidFill>
                <a:latin typeface="Consolas"/>
                <a:ea typeface="Consolas"/>
                <a:cs typeface="Consolas"/>
                <a:sym typeface="Consolas"/>
              </a:rPr>
              <a:t>mean   9.938898e+00  4.649388e+00</a:t>
            </a:r>
          </a:p>
          <a:p>
            <a:pPr algn="just">
              <a:lnSpc>
                <a:spcPts val="5880"/>
              </a:lnSpc>
            </a:pPr>
            <a:r>
              <a:rPr lang="en-US" sz="3500">
                <a:solidFill>
                  <a:srgbClr val="000000"/>
                </a:solidFill>
                <a:latin typeface="Consolas"/>
                <a:ea typeface="Consolas"/>
                <a:cs typeface="Consolas"/>
                <a:sym typeface="Consolas"/>
              </a:rPr>
              <a:t>std    1.727058e+02  1.235531e+02</a:t>
            </a:r>
          </a:p>
          <a:p>
            <a:pPr algn="just">
              <a:lnSpc>
                <a:spcPts val="5880"/>
              </a:lnSpc>
            </a:pPr>
            <a:r>
              <a:rPr lang="en-US" sz="3500">
                <a:solidFill>
                  <a:srgbClr val="000000"/>
                </a:solidFill>
                <a:latin typeface="Consolas"/>
                <a:ea typeface="Consolas"/>
                <a:cs typeface="Consolas"/>
                <a:sym typeface="Consolas"/>
              </a:rPr>
              <a:t>min   -8.099500e+04 -5.359436e+04</a:t>
            </a:r>
          </a:p>
          <a:p>
            <a:pPr algn="just">
              <a:lnSpc>
                <a:spcPts val="5880"/>
              </a:lnSpc>
            </a:pPr>
            <a:r>
              <a:rPr lang="en-US" sz="3500">
                <a:solidFill>
                  <a:srgbClr val="000000"/>
                </a:solidFill>
                <a:latin typeface="Consolas"/>
                <a:ea typeface="Consolas"/>
                <a:cs typeface="Consolas"/>
                <a:sym typeface="Consolas"/>
              </a:rPr>
              <a:t>25%    1.000000e+00  1.250000e+00</a:t>
            </a:r>
          </a:p>
          <a:p>
            <a:pPr algn="just">
              <a:lnSpc>
                <a:spcPts val="5880"/>
              </a:lnSpc>
            </a:pPr>
            <a:r>
              <a:rPr lang="en-US" sz="3500">
                <a:solidFill>
                  <a:srgbClr val="000000"/>
                </a:solidFill>
                <a:latin typeface="Consolas"/>
                <a:ea typeface="Consolas"/>
                <a:cs typeface="Consolas"/>
                <a:sym typeface="Consolas"/>
              </a:rPr>
              <a:t>50%    3.000000e+00  2.100000e+00</a:t>
            </a:r>
          </a:p>
          <a:p>
            <a:pPr algn="just">
              <a:lnSpc>
                <a:spcPts val="5880"/>
              </a:lnSpc>
            </a:pPr>
            <a:r>
              <a:rPr lang="en-US" sz="3500">
                <a:solidFill>
                  <a:srgbClr val="000000"/>
                </a:solidFill>
                <a:latin typeface="Consolas"/>
                <a:ea typeface="Consolas"/>
                <a:cs typeface="Consolas"/>
                <a:sym typeface="Consolas"/>
              </a:rPr>
              <a:t>75%    1.000000e+01  4.150000e+00</a:t>
            </a:r>
          </a:p>
          <a:p>
            <a:pPr algn="just">
              <a:lnSpc>
                <a:spcPts val="5880"/>
              </a:lnSpc>
              <a:spcBef>
                <a:spcPct val="0"/>
              </a:spcBef>
            </a:pPr>
            <a:r>
              <a:rPr lang="en-US" sz="3500">
                <a:solidFill>
                  <a:srgbClr val="000000"/>
                </a:solidFill>
                <a:latin typeface="Consolas"/>
                <a:ea typeface="Consolas"/>
                <a:cs typeface="Consolas"/>
                <a:sym typeface="Consolas"/>
              </a:rPr>
              <a:t>max    8.099500e+04  3.897000e+04</a:t>
            </a:r>
          </a:p>
        </p:txBody>
      </p:sp>
      <p:sp>
        <p:nvSpPr>
          <p:cNvPr id="6" name="TextBox 6"/>
          <p:cNvSpPr txBox="1"/>
          <p:nvPr/>
        </p:nvSpPr>
        <p:spPr>
          <a:xfrm>
            <a:off x="1140127" y="588448"/>
            <a:ext cx="14633273" cy="1231812"/>
          </a:xfrm>
          <a:prstGeom prst="rect">
            <a:avLst/>
          </a:prstGeom>
        </p:spPr>
        <p:txBody>
          <a:bodyPr lIns="0" tIns="0" rIns="0" bIns="0" rtlCol="0" anchor="t">
            <a:spAutoFit/>
          </a:bodyPr>
          <a:lstStyle/>
          <a:p>
            <a:pPr algn="just">
              <a:lnSpc>
                <a:spcPts val="10872"/>
              </a:lnSpc>
              <a:spcBef>
                <a:spcPct val="0"/>
              </a:spcBef>
            </a:pPr>
            <a:r>
              <a:rPr lang="en-US" sz="5000">
                <a:solidFill>
                  <a:srgbClr val="FF738E"/>
                </a:solidFill>
                <a:latin typeface="Sabon Next LT" panose="02000500000000000000" pitchFamily="2" charset="0"/>
                <a:ea typeface="KG Primary Penmanship"/>
                <a:cs typeface="Sabon Next LT" panose="02000500000000000000" pitchFamily="2" charset="0"/>
                <a:sym typeface="KG Primary Penmanship"/>
              </a:rPr>
              <a:t>Kiểm tra dữ liệu</a:t>
            </a:r>
          </a:p>
        </p:txBody>
      </p:sp>
      <p:sp>
        <p:nvSpPr>
          <p:cNvPr id="11" name="TextBox 10">
            <a:extLst>
              <a:ext uri="{FF2B5EF4-FFF2-40B4-BE49-F238E27FC236}">
                <a16:creationId xmlns:a16="http://schemas.microsoft.com/office/drawing/2014/main" id="{5F30D9A5-005D-F8D8-4342-F28F7A048032}"/>
              </a:ext>
            </a:extLst>
          </p:cNvPr>
          <p:cNvSpPr txBox="1"/>
          <p:nvPr/>
        </p:nvSpPr>
        <p:spPr>
          <a:xfrm>
            <a:off x="10729781" y="2403812"/>
            <a:ext cx="6644640" cy="5940088"/>
          </a:xfrm>
          <a:prstGeom prst="rect">
            <a:avLst/>
          </a:prstGeom>
          <a:noFill/>
        </p:spPr>
        <p:txBody>
          <a:bodyPr wrap="square">
            <a:spAutoFit/>
          </a:bodyPr>
          <a:lstStyle/>
          <a:p>
            <a:pPr algn="just">
              <a:buNone/>
            </a:pPr>
            <a:r>
              <a:rPr lang="vi-VN" sz="2500" b="1"/>
              <a:t>Biến Quantity (Số lượng):</a:t>
            </a:r>
          </a:p>
          <a:p>
            <a:pPr algn="just">
              <a:buFont typeface="Arial" panose="020B0604020202020204" pitchFamily="34" charset="0"/>
              <a:buChar char="•"/>
            </a:pPr>
            <a:r>
              <a:rPr lang="vi-VN" sz="2500" b="1"/>
              <a:t>Trung bình:</a:t>
            </a:r>
            <a:r>
              <a:rPr lang="vi-VN" sz="2500"/>
              <a:t> 9.94 | </a:t>
            </a:r>
            <a:r>
              <a:rPr lang="vi-VN" sz="2500" b="1"/>
              <a:t>Trung vị:</a:t>
            </a:r>
            <a:r>
              <a:rPr lang="vi-VN" sz="2500"/>
              <a:t> 3 → Phân phối lệch phải.</a:t>
            </a:r>
          </a:p>
          <a:p>
            <a:pPr algn="just">
              <a:buFont typeface="Arial" panose="020B0604020202020204" pitchFamily="34" charset="0"/>
              <a:buChar char="•"/>
            </a:pPr>
            <a:r>
              <a:rPr lang="vi-VN" sz="2500" b="1"/>
              <a:t>Độ lệch chuẩn cao</a:t>
            </a:r>
            <a:r>
              <a:rPr lang="vi-VN" sz="2500"/>
              <a:t> (172) → Có nhiều outliers.</a:t>
            </a:r>
          </a:p>
          <a:p>
            <a:pPr algn="just">
              <a:buFont typeface="Arial" panose="020B0604020202020204" pitchFamily="34" charset="0"/>
              <a:buChar char="•"/>
            </a:pPr>
            <a:r>
              <a:rPr lang="vi-VN" sz="2500" b="1"/>
              <a:t>Giá trị âm (-80,995)</a:t>
            </a:r>
            <a:r>
              <a:rPr lang="vi-VN" sz="2500"/>
              <a:t> → Cần kiểm tra/loại bỏ.</a:t>
            </a:r>
          </a:p>
          <a:p>
            <a:pPr algn="just">
              <a:buNone/>
            </a:pPr>
            <a:r>
              <a:rPr lang="vi-VN" sz="2500" b="1"/>
              <a:t>Biến Price (Giá):</a:t>
            </a:r>
          </a:p>
          <a:p>
            <a:pPr algn="just">
              <a:buFont typeface="Arial" panose="020B0604020202020204" pitchFamily="34" charset="0"/>
              <a:buChar char="•"/>
            </a:pPr>
            <a:r>
              <a:rPr lang="vi-VN" sz="2500" b="1"/>
              <a:t>Trung bình:</a:t>
            </a:r>
            <a:r>
              <a:rPr lang="vi-VN" sz="2500"/>
              <a:t> 4.65 | </a:t>
            </a:r>
            <a:r>
              <a:rPr lang="vi-VN" sz="2500" b="1"/>
              <a:t>Trung vị:</a:t>
            </a:r>
            <a:r>
              <a:rPr lang="vi-VN" sz="2500"/>
              <a:t> 2.10 → Lệch phải mạnh.</a:t>
            </a:r>
          </a:p>
          <a:p>
            <a:pPr algn="just">
              <a:buFont typeface="Arial" panose="020B0604020202020204" pitchFamily="34" charset="0"/>
              <a:buChar char="•"/>
            </a:pPr>
            <a:r>
              <a:rPr lang="vi-VN" sz="2500" b="1"/>
              <a:t>Độ lệch chuẩn rất cao</a:t>
            </a:r>
            <a:r>
              <a:rPr lang="vi-VN" sz="2500"/>
              <a:t> (123) → Nhiều outliers.</a:t>
            </a:r>
          </a:p>
          <a:p>
            <a:pPr algn="just">
              <a:buFont typeface="Arial" panose="020B0604020202020204" pitchFamily="34" charset="0"/>
              <a:buChar char="•"/>
            </a:pPr>
            <a:r>
              <a:rPr lang="vi-VN" sz="2500" b="1"/>
              <a:t>Giá âm và rất lớn</a:t>
            </a:r>
            <a:r>
              <a:rPr lang="vi-VN" sz="2500"/>
              <a:t> (âm đến -53,594, max đến 38,970) → Có thể lỗi nhập liệu.</a:t>
            </a:r>
            <a:endParaRPr lang="en-US" sz="2500"/>
          </a:p>
          <a:p>
            <a:pPr algn="just">
              <a:buFont typeface="Arial" panose="020B0604020202020204" pitchFamily="34" charset="0"/>
              <a:buChar char="•"/>
            </a:pPr>
            <a:endParaRPr lang="en-US" sz="2500"/>
          </a:p>
          <a:p>
            <a:pPr algn="just"/>
            <a:r>
              <a:rPr lang="en-US" sz="3000">
                <a:sym typeface="Wingdings" panose="05000000000000000000" pitchFamily="2" charset="2"/>
              </a:rPr>
              <a:t> </a:t>
            </a:r>
            <a:r>
              <a:rPr lang="en-US" sz="3000" b="1">
                <a:sym typeface="Wingdings" panose="05000000000000000000" pitchFamily="2" charset="2"/>
              </a:rPr>
              <a:t>Đề xuất: </a:t>
            </a:r>
            <a:r>
              <a:rPr lang="en-US" sz="3000"/>
              <a:t>xử lý giá trị âm và ngoại lệ</a:t>
            </a:r>
            <a:r>
              <a:rPr lang="en-US" sz="3000">
                <a:sym typeface="Wingdings" panose="05000000000000000000" pitchFamily="2" charset="2"/>
              </a:rPr>
              <a:t> </a:t>
            </a:r>
            <a:endParaRPr lang="vi-VN" sz="3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2" name="Group 2"/>
          <p:cNvGrpSpPr/>
          <p:nvPr/>
        </p:nvGrpSpPr>
        <p:grpSpPr>
          <a:xfrm>
            <a:off x="561726" y="213996"/>
            <a:ext cx="17164548" cy="9916958"/>
            <a:chOff x="0" y="0"/>
            <a:chExt cx="6964336" cy="4023702"/>
          </a:xfrm>
        </p:grpSpPr>
        <p:sp>
          <p:nvSpPr>
            <p:cNvPr id="3" name="Freeform 3"/>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4" name="Freeform 4"/>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sp>
        <p:nvSpPr>
          <p:cNvPr id="5" name="TextBox 5"/>
          <p:cNvSpPr txBox="1"/>
          <p:nvPr/>
        </p:nvSpPr>
        <p:spPr>
          <a:xfrm>
            <a:off x="3200400" y="2324100"/>
            <a:ext cx="11696543" cy="3426892"/>
          </a:xfrm>
          <a:prstGeom prst="rect">
            <a:avLst/>
          </a:prstGeom>
          <a:solidFill>
            <a:schemeClr val="bg2"/>
          </a:solidFill>
        </p:spPr>
        <p:txBody>
          <a:bodyPr wrap="square" lIns="0" tIns="0" rIns="0" bIns="0" rtlCol="0" anchor="t">
            <a:spAutoFit/>
          </a:bodyPr>
          <a:lstStyle/>
          <a:p>
            <a:pPr algn="just">
              <a:lnSpc>
                <a:spcPts val="6676"/>
              </a:lnSpc>
            </a:pPr>
            <a:r>
              <a:rPr lang="en-US" sz="4768">
                <a:solidFill>
                  <a:srgbClr val="000000"/>
                </a:solidFill>
                <a:latin typeface="Consolas"/>
                <a:ea typeface="Consolas"/>
                <a:cs typeface="Consolas"/>
                <a:sym typeface="Consolas"/>
              </a:rPr>
              <a:t>===== KIỂM TRA GIÁ TRỊ THIẾU =====</a:t>
            </a:r>
          </a:p>
          <a:p>
            <a:pPr algn="just">
              <a:lnSpc>
                <a:spcPts val="6676"/>
              </a:lnSpc>
            </a:pPr>
            <a:r>
              <a:rPr lang="en-US" sz="4768">
                <a:solidFill>
                  <a:srgbClr val="000000"/>
                </a:solidFill>
                <a:latin typeface="Consolas"/>
                <a:ea typeface="Consolas"/>
                <a:cs typeface="Consolas"/>
                <a:sym typeface="Consolas"/>
              </a:rPr>
              <a:t>            Số lượng Phần trăm (%)</a:t>
            </a:r>
          </a:p>
          <a:p>
            <a:pPr algn="just">
              <a:lnSpc>
                <a:spcPts val="6676"/>
              </a:lnSpc>
            </a:pPr>
            <a:r>
              <a:rPr lang="en-US" sz="4768">
                <a:solidFill>
                  <a:srgbClr val="000000"/>
                </a:solidFill>
                <a:latin typeface="Consolas"/>
                <a:ea typeface="Consolas"/>
                <a:cs typeface="Consolas"/>
                <a:sym typeface="Consolas"/>
              </a:rPr>
              <a:t>Description     4382      0.410541</a:t>
            </a:r>
          </a:p>
          <a:p>
            <a:pPr algn="just">
              <a:lnSpc>
                <a:spcPts val="6676"/>
              </a:lnSpc>
              <a:spcBef>
                <a:spcPct val="0"/>
              </a:spcBef>
            </a:pPr>
            <a:r>
              <a:rPr lang="en-US" sz="4768">
                <a:solidFill>
                  <a:srgbClr val="000000"/>
                </a:solidFill>
                <a:latin typeface="Consolas"/>
                <a:ea typeface="Consolas"/>
                <a:cs typeface="Consolas"/>
                <a:sym typeface="Consolas"/>
              </a:rPr>
              <a:t>Customer ID   243007     22.766873</a:t>
            </a:r>
          </a:p>
        </p:txBody>
      </p:sp>
      <p:sp>
        <p:nvSpPr>
          <p:cNvPr id="6" name="TextBox 6">
            <a:extLst>
              <a:ext uri="{FF2B5EF4-FFF2-40B4-BE49-F238E27FC236}">
                <a16:creationId xmlns:a16="http://schemas.microsoft.com/office/drawing/2014/main" id="{B98B2790-610E-87D8-6EAC-0D3233C2B880}"/>
              </a:ext>
            </a:extLst>
          </p:cNvPr>
          <p:cNvSpPr txBox="1"/>
          <p:nvPr/>
        </p:nvSpPr>
        <p:spPr>
          <a:xfrm>
            <a:off x="1140127" y="588448"/>
            <a:ext cx="14633273" cy="1231812"/>
          </a:xfrm>
          <a:prstGeom prst="rect">
            <a:avLst/>
          </a:prstGeom>
        </p:spPr>
        <p:txBody>
          <a:bodyPr lIns="0" tIns="0" rIns="0" bIns="0" rtlCol="0" anchor="t">
            <a:spAutoFit/>
          </a:bodyPr>
          <a:lstStyle/>
          <a:p>
            <a:pPr algn="just">
              <a:lnSpc>
                <a:spcPts val="10872"/>
              </a:lnSpc>
              <a:spcBef>
                <a:spcPct val="0"/>
              </a:spcBef>
            </a:pPr>
            <a:r>
              <a:rPr lang="en-US" sz="5000">
                <a:solidFill>
                  <a:srgbClr val="FF738E"/>
                </a:solidFill>
                <a:latin typeface="Sabon Next LT" panose="02000500000000000000" pitchFamily="2" charset="0"/>
                <a:ea typeface="KG Primary Penmanship"/>
                <a:cs typeface="Sabon Next LT" panose="02000500000000000000" pitchFamily="2" charset="0"/>
                <a:sym typeface="KG Primary Penmanship"/>
              </a:rPr>
              <a:t>Kiểm tra dữ liệu</a:t>
            </a:r>
          </a:p>
        </p:txBody>
      </p:sp>
      <p:sp>
        <p:nvSpPr>
          <p:cNvPr id="7" name="Rectangle 1">
            <a:extLst>
              <a:ext uri="{FF2B5EF4-FFF2-40B4-BE49-F238E27FC236}">
                <a16:creationId xmlns:a16="http://schemas.microsoft.com/office/drawing/2014/main" id="{BD05C4E5-5CF7-07DC-CD08-AF3D7A49B6F9}"/>
              </a:ext>
            </a:extLst>
          </p:cNvPr>
          <p:cNvSpPr>
            <a:spLocks noChangeArrowheads="1"/>
          </p:cNvSpPr>
          <p:nvPr/>
        </p:nvSpPr>
        <p:spPr bwMode="auto">
          <a:xfrm>
            <a:off x="2209800" y="6512868"/>
            <a:ext cx="694472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3000" b="1" i="0" u="none" strike="noStrike" cap="none" normalizeH="0" baseline="0">
                <a:ln>
                  <a:noFill/>
                </a:ln>
                <a:solidFill>
                  <a:schemeClr val="tx1"/>
                </a:solidFill>
                <a:effectLst/>
                <a:latin typeface="Arial Unicode MS"/>
              </a:rPr>
              <a:t>Nhận xét: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Unicode MS"/>
              </a:rPr>
              <a:t>Description</a:t>
            </a:r>
            <a:r>
              <a:rPr kumimoji="0" lang="en-US" altLang="en-US" sz="2500" b="0" i="0" u="none" strike="noStrike" cap="none" normalizeH="0" baseline="0">
                <a:ln>
                  <a:noFill/>
                </a:ln>
                <a:solidFill>
                  <a:schemeClr val="tx1"/>
                </a:solidFill>
                <a:effectLst/>
              </a:rPr>
              <a:t> </a:t>
            </a:r>
            <a:r>
              <a:rPr kumimoji="0" lang="en-US" altLang="en-US" sz="2500" i="0" u="none" strike="noStrike" cap="none" normalizeH="0" baseline="0">
                <a:ln>
                  <a:noFill/>
                </a:ln>
                <a:solidFill>
                  <a:schemeClr val="tx1"/>
                </a:solidFill>
                <a:effectLst/>
              </a:rPr>
              <a:t>thiếu </a:t>
            </a:r>
            <a:r>
              <a:rPr kumimoji="0" lang="en-US" altLang="en-US" sz="2500" i="0" u="none" strike="noStrike" cap="none" normalizeH="0" baseline="0">
                <a:ln>
                  <a:noFill/>
                </a:ln>
                <a:solidFill>
                  <a:schemeClr val="tx1"/>
                </a:solidFill>
                <a:effectLst/>
                <a:latin typeface="Arial" panose="020B0604020202020204" pitchFamily="34" charset="0"/>
              </a:rPr>
              <a:t>0.41% → Tỷ lệ thấp, có thể giữ lại hoặc loại bỏ không ảnh hưởng nhiều</a:t>
            </a:r>
            <a:r>
              <a:rPr kumimoji="0" lang="en-US" altLang="en-US" sz="2500" b="0" i="0" u="none" strike="noStrike" cap="none" normalizeH="0" baseline="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Unicode MS"/>
              </a:rPr>
              <a:t>Customer ID</a:t>
            </a:r>
            <a:r>
              <a:rPr kumimoji="0" lang="en-US" altLang="en-US" sz="2500" b="0" i="0" u="none" strike="noStrike" cap="none" normalizeH="0" baseline="0">
                <a:ln>
                  <a:noFill/>
                </a:ln>
                <a:solidFill>
                  <a:schemeClr val="tx1"/>
                </a:solidFill>
                <a:effectLst/>
              </a:rPr>
              <a:t> </a:t>
            </a:r>
            <a:r>
              <a:rPr kumimoji="0" lang="en-US" altLang="en-US" sz="2500" i="0" u="none" strike="noStrike" cap="none" normalizeH="0" baseline="0">
                <a:ln>
                  <a:noFill/>
                </a:ln>
                <a:solidFill>
                  <a:schemeClr val="tx1"/>
                </a:solidFill>
                <a:effectLst/>
              </a:rPr>
              <a:t>thiếu </a:t>
            </a:r>
            <a:r>
              <a:rPr kumimoji="0" lang="en-US" altLang="en-US" sz="2500" i="0" u="none" strike="noStrike" cap="none" normalizeH="0" baseline="0">
                <a:ln>
                  <a:noFill/>
                </a:ln>
                <a:solidFill>
                  <a:schemeClr val="tx1"/>
                </a:solidFill>
                <a:effectLst/>
                <a:latin typeface="Arial" panose="020B0604020202020204" pitchFamily="34" charset="0"/>
              </a:rPr>
              <a:t>22.77% → Rất cao, ảnh hưởng phân tích theo khách hàng</a:t>
            </a:r>
          </a:p>
        </p:txBody>
      </p:sp>
      <p:sp>
        <p:nvSpPr>
          <p:cNvPr id="9" name="Rectangle 3">
            <a:extLst>
              <a:ext uri="{FF2B5EF4-FFF2-40B4-BE49-F238E27FC236}">
                <a16:creationId xmlns:a16="http://schemas.microsoft.com/office/drawing/2014/main" id="{C54FD38A-70A4-4704-84A6-5A7827088F90}"/>
              </a:ext>
            </a:extLst>
          </p:cNvPr>
          <p:cNvSpPr>
            <a:spLocks noChangeArrowheads="1"/>
          </p:cNvSpPr>
          <p:nvPr/>
        </p:nvSpPr>
        <p:spPr bwMode="auto">
          <a:xfrm>
            <a:off x="9448800" y="5784386"/>
            <a:ext cx="791428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a:ln>
                  <a:noFill/>
                </a:ln>
                <a:solidFill>
                  <a:schemeClr val="tx1"/>
                </a:solidFill>
                <a:effectLst/>
                <a:latin typeface="Arial" panose="020B0604020202020204" pitchFamily="34" charset="0"/>
              </a:rPr>
              <a:t>Đề xuất xử lý:</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Unicode MS"/>
              </a:rPr>
              <a:t>Description</a:t>
            </a:r>
            <a:r>
              <a:rPr kumimoji="0" lang="en-US" altLang="en-US" sz="2500" b="0" i="0" u="none" strike="noStrike" cap="none" normalizeH="0" baseline="0">
                <a:ln>
                  <a:noFill/>
                </a:ln>
                <a:solidFill>
                  <a:schemeClr val="tx1"/>
                </a:solidFill>
                <a:effectLst/>
              </a:rPr>
              <a:t>:</a:t>
            </a:r>
            <a:br>
              <a:rPr kumimoji="0" lang="en-US" altLang="en-US" sz="2500" b="0" i="0" u="none" strike="noStrike" cap="none" normalizeH="0" baseline="0">
                <a:ln>
                  <a:noFill/>
                </a:ln>
                <a:solidFill>
                  <a:schemeClr val="tx1"/>
                </a:solidFill>
                <a:effectLst/>
              </a:rPr>
            </a:br>
            <a:r>
              <a:rPr kumimoji="0" lang="en-US" altLang="en-US" sz="2500" b="0" i="0" u="none" strike="noStrike" cap="none" normalizeH="0" baseline="0">
                <a:ln>
                  <a:noFill/>
                </a:ln>
                <a:solidFill>
                  <a:schemeClr val="tx1"/>
                </a:solidFill>
                <a:effectLst/>
              </a:rPr>
              <a:t>→ Có thể điền bằng </a:t>
            </a:r>
            <a:r>
              <a:rPr kumimoji="0" lang="en-US" altLang="en-US" sz="2500" b="0" i="0" u="none" strike="noStrike" cap="none" normalizeH="0" baseline="0">
                <a:ln>
                  <a:noFill/>
                </a:ln>
                <a:solidFill>
                  <a:schemeClr val="tx1"/>
                </a:solidFill>
                <a:effectLst/>
                <a:latin typeface="Arial Unicode MS"/>
              </a:rPr>
              <a:t>"Unknown"</a:t>
            </a:r>
            <a:r>
              <a:rPr kumimoji="0" lang="en-US" altLang="en-US" sz="2500" b="0" i="0" u="none" strike="noStrike" cap="none" normalizeH="0" baseline="0">
                <a:ln>
                  <a:noFill/>
                </a:ln>
                <a:solidFill>
                  <a:schemeClr val="tx1"/>
                </a:solidFill>
                <a:effectLst/>
              </a:rPr>
              <a:t> hoặc xóa nếu không quan trọng.</a:t>
            </a:r>
            <a:endParaRPr kumimoji="0" lang="en-US" altLang="en-US" sz="2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Unicode MS"/>
              </a:rPr>
              <a:t>Customer ID</a:t>
            </a:r>
            <a:r>
              <a:rPr kumimoji="0" lang="en-US" altLang="en-US" sz="2500" b="0" i="0" u="none" strike="noStrike" cap="none" normalizeH="0" baseline="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500" b="0" i="0" u="none" strike="noStrike" cap="none" normalizeH="0" baseline="0">
                <a:ln>
                  <a:noFill/>
                </a:ln>
                <a:solidFill>
                  <a:schemeClr val="tx1"/>
                </a:solidFill>
                <a:effectLst/>
              </a:rPr>
              <a:t>→</a:t>
            </a:r>
            <a:r>
              <a:rPr lang="en-US" altLang="en-US" sz="2500"/>
              <a:t> Nếu cột này không quan trọng có thể loại bỏ khỏi dữ liệu</a:t>
            </a:r>
            <a:br>
              <a:rPr kumimoji="0" lang="en-US" altLang="en-US" sz="2500" b="0" i="0" u="none" strike="noStrike" cap="none" normalizeH="0" baseline="0">
                <a:ln>
                  <a:noFill/>
                </a:ln>
                <a:solidFill>
                  <a:schemeClr val="tx1"/>
                </a:solidFill>
                <a:effectLst/>
              </a:rPr>
            </a:br>
            <a:r>
              <a:rPr kumimoji="0" lang="en-US" altLang="en-US" sz="2500" b="0" i="0" u="none" strike="noStrike" cap="none" normalizeH="0" baseline="0">
                <a:ln>
                  <a:noFill/>
                </a:ln>
                <a:solidFill>
                  <a:schemeClr val="tx1"/>
                </a:solidFill>
                <a:effectLst/>
              </a:rPr>
              <a:t>→ Nếu phân tích theo khách hàng là </a:t>
            </a:r>
            <a:r>
              <a:rPr kumimoji="0" lang="en-US" altLang="en-US" sz="2500" i="0" u="none" strike="noStrike" cap="none" normalizeH="0" baseline="0">
                <a:ln>
                  <a:noFill/>
                </a:ln>
                <a:solidFill>
                  <a:schemeClr val="tx1"/>
                </a:solidFill>
                <a:effectLst/>
                <a:latin typeface="Arial" panose="020B0604020202020204" pitchFamily="34" charset="0"/>
              </a:rPr>
              <a:t>bắt buộc: nên loại bỏ dòng thiếu.</a:t>
            </a:r>
            <a:br>
              <a:rPr kumimoji="0" lang="en-US" altLang="en-US" sz="2500" b="0" i="0" u="none" strike="noStrike" cap="none" normalizeH="0" baseline="0">
                <a:ln>
                  <a:noFill/>
                </a:ln>
                <a:solidFill>
                  <a:schemeClr val="tx1"/>
                </a:solidFill>
                <a:effectLst/>
                <a:latin typeface="Arial" panose="020B0604020202020204" pitchFamily="34" charset="0"/>
              </a:rPr>
            </a:br>
            <a:r>
              <a:rPr kumimoji="0" lang="en-US" altLang="en-US" sz="2500" b="0" i="0" u="none" strike="noStrike" cap="none" normalizeH="0" baseline="0">
                <a:ln>
                  <a:noFill/>
                </a:ln>
                <a:solidFill>
                  <a:schemeClr val="tx1"/>
                </a:solidFill>
                <a:effectLst/>
                <a:latin typeface="Arial" panose="020B0604020202020204" pitchFamily="34" charset="0"/>
              </a:rPr>
              <a:t>→ Nếu không cần: có thể thay bằng ID giả </a:t>
            </a:r>
            <a:r>
              <a:rPr kumimoji="0" lang="en-US" altLang="en-US" sz="2500" b="0" i="0" u="none" strike="noStrike" cap="none" normalizeH="0" baseline="0">
                <a:ln>
                  <a:noFill/>
                </a:ln>
                <a:solidFill>
                  <a:schemeClr val="tx1"/>
                </a:solidFill>
                <a:effectLst/>
                <a:latin typeface="Arial Unicode MS"/>
              </a:rPr>
              <a:t>"Guest"</a:t>
            </a:r>
            <a:r>
              <a:rPr kumimoji="0" lang="en-US" altLang="en-US" sz="2500" b="0" i="0" u="none" strike="noStrike" cap="none" normalizeH="0" baseline="0">
                <a:ln>
                  <a:noFill/>
                </a:ln>
                <a:solidFill>
                  <a:schemeClr val="tx1"/>
                </a:solidFill>
                <a:effectLst/>
              </a:rPr>
              <a:t> để giữ dữ liệu.</a:t>
            </a:r>
            <a:endParaRPr kumimoji="0" lang="en-US" altLang="en-US" sz="2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2" name="Group 2"/>
          <p:cNvGrpSpPr/>
          <p:nvPr/>
        </p:nvGrpSpPr>
        <p:grpSpPr>
          <a:xfrm>
            <a:off x="561726" y="213996"/>
            <a:ext cx="17164548" cy="9916958"/>
            <a:chOff x="0" y="0"/>
            <a:chExt cx="6964336" cy="4023702"/>
          </a:xfrm>
        </p:grpSpPr>
        <p:sp>
          <p:nvSpPr>
            <p:cNvPr id="3" name="Freeform 3"/>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4" name="Freeform 4"/>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sp>
        <p:nvSpPr>
          <p:cNvPr id="6" name="TextBox 6"/>
          <p:cNvSpPr txBox="1"/>
          <p:nvPr/>
        </p:nvSpPr>
        <p:spPr>
          <a:xfrm>
            <a:off x="1827363" y="2479539"/>
            <a:ext cx="15052706" cy="4870436"/>
          </a:xfrm>
          <a:prstGeom prst="rect">
            <a:avLst/>
          </a:prstGeom>
        </p:spPr>
        <p:txBody>
          <a:bodyPr lIns="0" tIns="0" rIns="0" bIns="0" rtlCol="0" anchor="t">
            <a:spAutoFit/>
          </a:bodyPr>
          <a:lstStyle/>
          <a:p>
            <a:pPr marL="981901" lvl="1" indent="-490950" algn="l">
              <a:lnSpc>
                <a:spcPts val="6367"/>
              </a:lnSpc>
              <a:spcBef>
                <a:spcPct val="0"/>
              </a:spcBef>
              <a:buFont typeface="Arial"/>
              <a:buChar char="•"/>
            </a:pPr>
            <a:r>
              <a:rPr lang="en-US" sz="4547">
                <a:solidFill>
                  <a:srgbClr val="000000"/>
                </a:solidFill>
                <a:latin typeface="Sabon Next LT" panose="02000500000000000000" pitchFamily="2" charset="0"/>
                <a:ea typeface="KG Primary Penmanship"/>
                <a:cs typeface="Sabon Next LT" panose="02000500000000000000" pitchFamily="2" charset="0"/>
                <a:sym typeface="KG Primary Penmanship"/>
              </a:rPr>
              <a:t>Cột Customer Id loại bỏ khỏi bộ dữ liệu</a:t>
            </a:r>
          </a:p>
          <a:p>
            <a:pPr marL="981901" lvl="1" indent="-490950" algn="l">
              <a:lnSpc>
                <a:spcPts val="6367"/>
              </a:lnSpc>
              <a:spcBef>
                <a:spcPct val="0"/>
              </a:spcBef>
              <a:buFont typeface="Arial"/>
              <a:buChar char="•"/>
            </a:pPr>
            <a:r>
              <a:rPr lang="en-US" sz="4547">
                <a:solidFill>
                  <a:srgbClr val="000000"/>
                </a:solidFill>
                <a:latin typeface="Sabon Next LT" panose="02000500000000000000" pitchFamily="2" charset="0"/>
                <a:ea typeface="KG Primary Penmanship"/>
                <a:cs typeface="Sabon Next LT" panose="02000500000000000000" pitchFamily="2" charset="0"/>
                <a:sym typeface="KG Primary Penmanship"/>
              </a:rPr>
              <a:t>Cột description thay giá trị thiếu bằng “Unknown”</a:t>
            </a:r>
          </a:p>
          <a:p>
            <a:pPr marL="981901" lvl="1" indent="-490950" algn="l">
              <a:lnSpc>
                <a:spcPts val="6367"/>
              </a:lnSpc>
              <a:spcBef>
                <a:spcPct val="0"/>
              </a:spcBef>
              <a:buFont typeface="Arial"/>
              <a:buChar char="•"/>
            </a:pPr>
            <a:r>
              <a:rPr lang="en-US" sz="4547">
                <a:solidFill>
                  <a:srgbClr val="000000"/>
                </a:solidFill>
                <a:latin typeface="Sabon Next LT" panose="02000500000000000000" pitchFamily="2" charset="0"/>
                <a:ea typeface="KG Primary Penmanship"/>
                <a:cs typeface="Sabon Next LT" panose="02000500000000000000" pitchFamily="2" charset="0"/>
                <a:sym typeface="KG Primary Penmanship"/>
              </a:rPr>
              <a:t>Cột Invoicedate loại những ngày của 12/2009 và 12/2011</a:t>
            </a:r>
          </a:p>
          <a:p>
            <a:pPr marL="981901" lvl="1" indent="-490950" algn="l">
              <a:lnSpc>
                <a:spcPts val="6367"/>
              </a:lnSpc>
              <a:spcBef>
                <a:spcPct val="0"/>
              </a:spcBef>
              <a:buFont typeface="Arial"/>
              <a:buChar char="•"/>
            </a:pPr>
            <a:r>
              <a:rPr lang="en-US" sz="4547">
                <a:solidFill>
                  <a:srgbClr val="000000"/>
                </a:solidFill>
                <a:latin typeface="Sabon Next LT" panose="02000500000000000000" pitchFamily="2" charset="0"/>
                <a:ea typeface="KG Primary Penmanship"/>
                <a:cs typeface="Sabon Next LT" panose="02000500000000000000" pitchFamily="2" charset="0"/>
                <a:sym typeface="KG Primary Penmanship"/>
              </a:rPr>
              <a:t>Loại bỏ các giá trị không hợp lệ (đơn hủy, số lượng &lt; 0, giá &lt; 0)</a:t>
            </a:r>
          </a:p>
          <a:p>
            <a:pPr marL="981901" lvl="1" indent="-490950" algn="l">
              <a:lnSpc>
                <a:spcPts val="6367"/>
              </a:lnSpc>
              <a:spcBef>
                <a:spcPct val="0"/>
              </a:spcBef>
              <a:buFont typeface="Arial"/>
              <a:buChar char="•"/>
            </a:pPr>
            <a:r>
              <a:rPr lang="en-US" sz="4547">
                <a:solidFill>
                  <a:srgbClr val="000000"/>
                </a:solidFill>
                <a:latin typeface="Sabon Next LT" panose="02000500000000000000" pitchFamily="2" charset="0"/>
                <a:ea typeface="KG Primary Penmanship"/>
                <a:cs typeface="Sabon Next LT" panose="02000500000000000000" pitchFamily="2" charset="0"/>
                <a:sym typeface="KG Primary Penmanship"/>
              </a:rPr>
              <a:t>Kiểm tra và thay thế ngoại lệ bằng ngưỡng IQR</a:t>
            </a:r>
          </a:p>
        </p:txBody>
      </p:sp>
      <p:sp>
        <p:nvSpPr>
          <p:cNvPr id="8" name="TextBox 6">
            <a:extLst>
              <a:ext uri="{FF2B5EF4-FFF2-40B4-BE49-F238E27FC236}">
                <a16:creationId xmlns:a16="http://schemas.microsoft.com/office/drawing/2014/main" id="{C7EDAEC0-19F4-695E-06CF-6A6153A14219}"/>
              </a:ext>
            </a:extLst>
          </p:cNvPr>
          <p:cNvSpPr txBox="1"/>
          <p:nvPr/>
        </p:nvSpPr>
        <p:spPr>
          <a:xfrm>
            <a:off x="1140127" y="588448"/>
            <a:ext cx="14633273" cy="1231812"/>
          </a:xfrm>
          <a:prstGeom prst="rect">
            <a:avLst/>
          </a:prstGeom>
        </p:spPr>
        <p:txBody>
          <a:bodyPr lIns="0" tIns="0" rIns="0" bIns="0" rtlCol="0" anchor="t">
            <a:spAutoFit/>
          </a:bodyPr>
          <a:lstStyle/>
          <a:p>
            <a:pPr algn="just">
              <a:lnSpc>
                <a:spcPts val="10872"/>
              </a:lnSpc>
              <a:spcBef>
                <a:spcPct val="0"/>
              </a:spcBef>
            </a:pPr>
            <a:r>
              <a:rPr lang="en-US" sz="5000">
                <a:solidFill>
                  <a:srgbClr val="FF738E"/>
                </a:solidFill>
                <a:latin typeface="Sabon Next LT" panose="02000500000000000000" pitchFamily="2" charset="0"/>
                <a:ea typeface="KG Primary Penmanship"/>
                <a:cs typeface="Sabon Next LT" panose="02000500000000000000" pitchFamily="2" charset="0"/>
                <a:sym typeface="KG Primary Penmanship"/>
              </a:rPr>
              <a:t>Xử lý dữ liệu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3B7F9"/>
        </a:solidFill>
        <a:effectLst/>
      </p:bgPr>
    </p:bg>
    <p:spTree>
      <p:nvGrpSpPr>
        <p:cNvPr id="1" name=""/>
        <p:cNvGrpSpPr/>
        <p:nvPr/>
      </p:nvGrpSpPr>
      <p:grpSpPr>
        <a:xfrm>
          <a:off x="0" y="0"/>
          <a:ext cx="0" cy="0"/>
          <a:chOff x="0" y="0"/>
          <a:chExt cx="0" cy="0"/>
        </a:xfrm>
      </p:grpSpPr>
      <p:grpSp>
        <p:nvGrpSpPr>
          <p:cNvPr id="2" name="Group 2"/>
          <p:cNvGrpSpPr/>
          <p:nvPr/>
        </p:nvGrpSpPr>
        <p:grpSpPr>
          <a:xfrm>
            <a:off x="561726" y="213996"/>
            <a:ext cx="17164548" cy="9916958"/>
            <a:chOff x="0" y="0"/>
            <a:chExt cx="6964336" cy="4023702"/>
          </a:xfrm>
        </p:grpSpPr>
        <p:sp>
          <p:nvSpPr>
            <p:cNvPr id="3" name="Freeform 3"/>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4" name="Freeform 4"/>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graphicFrame>
        <p:nvGraphicFramePr>
          <p:cNvPr id="5" name="Table 5"/>
          <p:cNvGraphicFramePr>
            <a:graphicFrameLocks noGrp="1"/>
          </p:cNvGraphicFramePr>
          <p:nvPr>
            <p:extLst>
              <p:ext uri="{D42A27DB-BD31-4B8C-83A1-F6EECF244321}">
                <p14:modId xmlns:p14="http://schemas.microsoft.com/office/powerpoint/2010/main" val="3164429154"/>
              </p:ext>
            </p:extLst>
          </p:nvPr>
        </p:nvGraphicFramePr>
        <p:xfrm>
          <a:off x="10906726" y="723900"/>
          <a:ext cx="6001066" cy="8916717"/>
        </p:xfrm>
        <a:graphic>
          <a:graphicData uri="http://schemas.openxmlformats.org/drawingml/2006/table">
            <a:tbl>
              <a:tblPr/>
              <a:tblGrid>
                <a:gridCol w="1721754">
                  <a:extLst>
                    <a:ext uri="{9D8B030D-6E8A-4147-A177-3AD203B41FA5}">
                      <a16:colId xmlns:a16="http://schemas.microsoft.com/office/drawing/2014/main" val="20000"/>
                    </a:ext>
                  </a:extLst>
                </a:gridCol>
                <a:gridCol w="2111796">
                  <a:extLst>
                    <a:ext uri="{9D8B030D-6E8A-4147-A177-3AD203B41FA5}">
                      <a16:colId xmlns:a16="http://schemas.microsoft.com/office/drawing/2014/main" val="20001"/>
                    </a:ext>
                  </a:extLst>
                </a:gridCol>
                <a:gridCol w="2167516">
                  <a:extLst>
                    <a:ext uri="{9D8B030D-6E8A-4147-A177-3AD203B41FA5}">
                      <a16:colId xmlns:a16="http://schemas.microsoft.com/office/drawing/2014/main" val="20002"/>
                    </a:ext>
                  </a:extLst>
                </a:gridCol>
              </a:tblGrid>
              <a:tr h="1409949">
                <a:tc>
                  <a:txBody>
                    <a:bodyPr/>
                    <a:lstStyle/>
                    <a:p>
                      <a:pPr algn="l">
                        <a:lnSpc>
                          <a:spcPts val="4059"/>
                        </a:lnSpc>
                        <a:defRPr/>
                      </a:pPr>
                      <a:endParaRPr lang="en-US" sz="1100">
                        <a:latin typeface="Arial" panose="020B0604020202020204" pitchFamily="34" charset="0"/>
                        <a:cs typeface="Arial" panose="020B0604020202020204" pitchFamily="34" charset="0"/>
                      </a:endParaRPr>
                    </a:p>
                    <a:p>
                      <a:pPr algn="l">
                        <a:lnSpc>
                          <a:spcPts val="4059"/>
                        </a:lnSpc>
                      </a:pPr>
                      <a:r>
                        <a:rPr lang="en-US" sz="2899">
                          <a:solidFill>
                            <a:srgbClr val="000000"/>
                          </a:solidFill>
                          <a:latin typeface="Arial" panose="020B0604020202020204" pitchFamily="34" charset="0"/>
                          <a:ea typeface="KG Primary Penmanship"/>
                          <a:cs typeface="Arial" panose="020B0604020202020204" pitchFamily="34" charset="0"/>
                          <a:sym typeface="KG Primary Penmanship"/>
                        </a:rPr>
                        <a:t>   </a:t>
                      </a: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Quantity</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Price</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count</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972601</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972601</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mean</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9.725575</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3.39973</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std</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22.31069</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4.06989</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min</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1</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0.001</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25%</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1</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1.25</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50%</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3</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2.1</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75%</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12</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4.13</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938346">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max</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248.5</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tc>
                  <a:txBody>
                    <a:bodyPr/>
                    <a:lstStyle/>
                    <a:p>
                      <a:pPr algn="l">
                        <a:lnSpc>
                          <a:spcPts val="4759"/>
                        </a:lnSpc>
                        <a:defRPr/>
                      </a:pPr>
                      <a:r>
                        <a:rPr lang="en-US" sz="3399">
                          <a:solidFill>
                            <a:srgbClr val="000000"/>
                          </a:solidFill>
                          <a:latin typeface="Arial" panose="020B0604020202020204" pitchFamily="34" charset="0"/>
                          <a:ea typeface="KG Primary Penmanship"/>
                          <a:cs typeface="Arial" panose="020B0604020202020204" pitchFamily="34" charset="0"/>
                          <a:sym typeface="KG Primary Penmanship"/>
                        </a:rPr>
                        <a:t>44.565</a:t>
                      </a:r>
                      <a:endParaRPr lang="en-US" sz="1100">
                        <a:latin typeface="Arial" panose="020B0604020202020204" pitchFamily="34" charset="0"/>
                        <a:cs typeface="Arial" panose="020B0604020202020204" pitchFamily="34" charset="0"/>
                      </a:endParaRPr>
                    </a:p>
                  </a:txBody>
                  <a:tcPr marL="142875" marR="142875" marT="142875" marB="1428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graphicFrame>
        <p:nvGraphicFramePr>
          <p:cNvPr id="6" name="Table 6"/>
          <p:cNvGraphicFramePr>
            <a:graphicFrameLocks noGrp="1"/>
          </p:cNvGraphicFramePr>
          <p:nvPr>
            <p:extLst>
              <p:ext uri="{D42A27DB-BD31-4B8C-83A1-F6EECF244321}">
                <p14:modId xmlns:p14="http://schemas.microsoft.com/office/powerpoint/2010/main" val="599991944"/>
              </p:ext>
            </p:extLst>
          </p:nvPr>
        </p:nvGraphicFramePr>
        <p:xfrm>
          <a:off x="3755911" y="2409825"/>
          <a:ext cx="3385123" cy="7180760"/>
        </p:xfrm>
        <a:graphic>
          <a:graphicData uri="http://schemas.openxmlformats.org/drawingml/2006/table">
            <a:tbl>
              <a:tblPr/>
              <a:tblGrid>
                <a:gridCol w="2339718">
                  <a:extLst>
                    <a:ext uri="{9D8B030D-6E8A-4147-A177-3AD203B41FA5}">
                      <a16:colId xmlns:a16="http://schemas.microsoft.com/office/drawing/2014/main" val="20000"/>
                    </a:ext>
                  </a:extLst>
                </a:gridCol>
                <a:gridCol w="1045405">
                  <a:extLst>
                    <a:ext uri="{9D8B030D-6E8A-4147-A177-3AD203B41FA5}">
                      <a16:colId xmlns:a16="http://schemas.microsoft.com/office/drawing/2014/main" val="20001"/>
                    </a:ext>
                  </a:extLst>
                </a:gridCol>
              </a:tblGrid>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Invoice</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StockCode</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Description</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Quantity</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InvoiceDate</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Price</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963272">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Country</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tc>
                  <a:txBody>
                    <a:bodyPr/>
                    <a:lstStyle/>
                    <a:p>
                      <a:pPr algn="l">
                        <a:lnSpc>
                          <a:spcPts val="4199"/>
                        </a:lnSpc>
                        <a:defRPr/>
                      </a:pPr>
                      <a:r>
                        <a:rPr lang="en-US" sz="2999">
                          <a:solidFill>
                            <a:srgbClr val="000000"/>
                          </a:solidFill>
                          <a:latin typeface="Arial" panose="020B0604020202020204" pitchFamily="34" charset="0"/>
                          <a:ea typeface="KG Primary Penmanship"/>
                          <a:cs typeface="Arial" panose="020B0604020202020204" pitchFamily="34" charset="0"/>
                          <a:sym typeface="KG Primary Penmanship"/>
                        </a:rPr>
                        <a:t>0</a:t>
                      </a:r>
                      <a:endParaRPr lang="en-US" sz="1100">
                        <a:latin typeface="Arial" panose="020B0604020202020204" pitchFamily="34" charset="0"/>
                        <a:cs typeface="Arial" panose="020B0604020202020204" pitchFamily="34" charset="0"/>
                      </a:endParaRP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grpSp>
        <p:nvGrpSpPr>
          <p:cNvPr id="7" name="Group 7"/>
          <p:cNvGrpSpPr/>
          <p:nvPr/>
        </p:nvGrpSpPr>
        <p:grpSpPr>
          <a:xfrm>
            <a:off x="1493988" y="4486674"/>
            <a:ext cx="2239812" cy="1571225"/>
            <a:chOff x="0" y="0"/>
            <a:chExt cx="812800" cy="616318"/>
          </a:xfrm>
        </p:grpSpPr>
        <p:sp>
          <p:nvSpPr>
            <p:cNvPr id="8" name="Freeform 8"/>
            <p:cNvSpPr/>
            <p:nvPr/>
          </p:nvSpPr>
          <p:spPr>
            <a:xfrm>
              <a:off x="0" y="0"/>
              <a:ext cx="812800" cy="616318"/>
            </a:xfrm>
            <a:custGeom>
              <a:avLst/>
              <a:gdLst/>
              <a:ahLst/>
              <a:cxnLst/>
              <a:rect l="l" t="t" r="r" b="b"/>
              <a:pathLst>
                <a:path w="812800" h="616318">
                  <a:moveTo>
                    <a:pt x="812800" y="308159"/>
                  </a:moveTo>
                  <a:lnTo>
                    <a:pt x="406400" y="0"/>
                  </a:lnTo>
                  <a:lnTo>
                    <a:pt x="406400" y="203200"/>
                  </a:lnTo>
                  <a:lnTo>
                    <a:pt x="0" y="203200"/>
                  </a:lnTo>
                  <a:lnTo>
                    <a:pt x="0" y="413118"/>
                  </a:lnTo>
                  <a:lnTo>
                    <a:pt x="406400" y="413118"/>
                  </a:lnTo>
                  <a:lnTo>
                    <a:pt x="406400" y="616318"/>
                  </a:lnTo>
                  <a:lnTo>
                    <a:pt x="812800" y="308159"/>
                  </a:lnTo>
                  <a:close/>
                </a:path>
              </a:pathLst>
            </a:custGeom>
            <a:solidFill>
              <a:srgbClr val="F9D43A"/>
            </a:solidFill>
          </p:spPr>
          <p:txBody>
            <a:bodyPr/>
            <a:lstStyle/>
            <a:p>
              <a:endParaRPr lang="en-US">
                <a:latin typeface="Arial" panose="020B0604020202020204" pitchFamily="34" charset="0"/>
                <a:cs typeface="Arial" panose="020B0604020202020204" pitchFamily="34" charset="0"/>
              </a:endParaRPr>
            </a:p>
          </p:txBody>
        </p:sp>
        <p:sp>
          <p:nvSpPr>
            <p:cNvPr id="9" name="TextBox 9"/>
            <p:cNvSpPr txBox="1"/>
            <p:nvPr/>
          </p:nvSpPr>
          <p:spPr>
            <a:xfrm>
              <a:off x="0" y="136525"/>
              <a:ext cx="711200" cy="276593"/>
            </a:xfrm>
            <a:prstGeom prst="rect">
              <a:avLst/>
            </a:prstGeom>
          </p:spPr>
          <p:txBody>
            <a:bodyPr lIns="50800" tIns="50800" rIns="50800" bIns="50800" rtlCol="0" anchor="ctr"/>
            <a:lstStyle/>
            <a:p>
              <a:pPr algn="ctr">
                <a:lnSpc>
                  <a:spcPts val="3779"/>
                </a:lnSpc>
                <a:spcBef>
                  <a:spcPct val="0"/>
                </a:spcBef>
              </a:pPr>
              <a:r>
                <a:rPr lang="en-US" sz="2699">
                  <a:solidFill>
                    <a:srgbClr val="000000"/>
                  </a:solidFill>
                  <a:latin typeface="Arial" panose="020B0604020202020204" pitchFamily="34" charset="0"/>
                  <a:ea typeface="KG Primary Penmanship"/>
                  <a:cs typeface="Arial" panose="020B0604020202020204" pitchFamily="34" charset="0"/>
                  <a:sym typeface="KG Primary Penmanship"/>
                </a:rPr>
                <a:t>giá trị thiếu</a:t>
              </a:r>
            </a:p>
          </p:txBody>
        </p:sp>
      </p:grpSp>
      <p:grpSp>
        <p:nvGrpSpPr>
          <p:cNvPr id="11" name="Group 11"/>
          <p:cNvGrpSpPr/>
          <p:nvPr/>
        </p:nvGrpSpPr>
        <p:grpSpPr>
          <a:xfrm>
            <a:off x="8305800" y="4486674"/>
            <a:ext cx="2596010" cy="1821097"/>
            <a:chOff x="0" y="0"/>
            <a:chExt cx="812800" cy="616318"/>
          </a:xfrm>
        </p:grpSpPr>
        <p:sp>
          <p:nvSpPr>
            <p:cNvPr id="12" name="Freeform 12"/>
            <p:cNvSpPr/>
            <p:nvPr/>
          </p:nvSpPr>
          <p:spPr>
            <a:xfrm>
              <a:off x="0" y="0"/>
              <a:ext cx="812800" cy="616318"/>
            </a:xfrm>
            <a:custGeom>
              <a:avLst/>
              <a:gdLst/>
              <a:ahLst/>
              <a:cxnLst/>
              <a:rect l="l" t="t" r="r" b="b"/>
              <a:pathLst>
                <a:path w="812800" h="616318">
                  <a:moveTo>
                    <a:pt x="812800" y="308159"/>
                  </a:moveTo>
                  <a:lnTo>
                    <a:pt x="406400" y="0"/>
                  </a:lnTo>
                  <a:lnTo>
                    <a:pt x="406400" y="203200"/>
                  </a:lnTo>
                  <a:lnTo>
                    <a:pt x="0" y="203200"/>
                  </a:lnTo>
                  <a:lnTo>
                    <a:pt x="0" y="413118"/>
                  </a:lnTo>
                  <a:lnTo>
                    <a:pt x="406400" y="413118"/>
                  </a:lnTo>
                  <a:lnTo>
                    <a:pt x="406400" y="616318"/>
                  </a:lnTo>
                  <a:lnTo>
                    <a:pt x="812800" y="308159"/>
                  </a:lnTo>
                  <a:close/>
                </a:path>
              </a:pathLst>
            </a:custGeom>
            <a:solidFill>
              <a:srgbClr val="F9D43A"/>
            </a:solidFill>
          </p:spPr>
          <p:txBody>
            <a:bodyPr/>
            <a:lstStyle/>
            <a:p>
              <a:endParaRPr lang="en-US">
                <a:latin typeface="Arial" panose="020B0604020202020204" pitchFamily="34" charset="0"/>
                <a:cs typeface="Arial" panose="020B0604020202020204" pitchFamily="34" charset="0"/>
              </a:endParaRPr>
            </a:p>
          </p:txBody>
        </p:sp>
        <p:sp>
          <p:nvSpPr>
            <p:cNvPr id="13" name="TextBox 13"/>
            <p:cNvSpPr txBox="1"/>
            <p:nvPr/>
          </p:nvSpPr>
          <p:spPr>
            <a:xfrm>
              <a:off x="0" y="136525"/>
              <a:ext cx="711200" cy="276593"/>
            </a:xfrm>
            <a:prstGeom prst="rect">
              <a:avLst/>
            </a:prstGeom>
          </p:spPr>
          <p:txBody>
            <a:bodyPr lIns="50800" tIns="50800" rIns="50800" bIns="50800" rtlCol="0" anchor="ctr"/>
            <a:lstStyle/>
            <a:p>
              <a:pPr algn="ctr">
                <a:lnSpc>
                  <a:spcPts val="3779"/>
                </a:lnSpc>
                <a:spcBef>
                  <a:spcPct val="0"/>
                </a:spcBef>
              </a:pPr>
              <a:r>
                <a:rPr lang="en-US" sz="2699">
                  <a:solidFill>
                    <a:srgbClr val="000000"/>
                  </a:solidFill>
                  <a:latin typeface="Arial" panose="020B0604020202020204" pitchFamily="34" charset="0"/>
                  <a:ea typeface="KG Primary Penmanship"/>
                  <a:cs typeface="Arial" panose="020B0604020202020204" pitchFamily="34" charset="0"/>
                  <a:sym typeface="KG Primary Penmanship"/>
                </a:rPr>
                <a:t>Thống kê</a:t>
              </a:r>
            </a:p>
          </p:txBody>
        </p:sp>
      </p:grpSp>
      <p:sp>
        <p:nvSpPr>
          <p:cNvPr id="15" name="TextBox 6">
            <a:extLst>
              <a:ext uri="{FF2B5EF4-FFF2-40B4-BE49-F238E27FC236}">
                <a16:creationId xmlns:a16="http://schemas.microsoft.com/office/drawing/2014/main" id="{6B44F5C2-1B65-7736-ABF7-632273812D86}"/>
              </a:ext>
            </a:extLst>
          </p:cNvPr>
          <p:cNvSpPr txBox="1"/>
          <p:nvPr/>
        </p:nvSpPr>
        <p:spPr>
          <a:xfrm>
            <a:off x="1140127" y="588448"/>
            <a:ext cx="14633273" cy="1231812"/>
          </a:xfrm>
          <a:prstGeom prst="rect">
            <a:avLst/>
          </a:prstGeom>
        </p:spPr>
        <p:txBody>
          <a:bodyPr lIns="0" tIns="0" rIns="0" bIns="0" rtlCol="0" anchor="t">
            <a:spAutoFit/>
          </a:bodyPr>
          <a:lstStyle/>
          <a:p>
            <a:pPr algn="just">
              <a:lnSpc>
                <a:spcPts val="10872"/>
              </a:lnSpc>
              <a:spcBef>
                <a:spcPct val="0"/>
              </a:spcBef>
            </a:pPr>
            <a:r>
              <a:rPr lang="en-US" sz="5000">
                <a:solidFill>
                  <a:srgbClr val="FF738E"/>
                </a:solidFill>
                <a:latin typeface="Sabon Next LT" panose="02000500000000000000" pitchFamily="2" charset="0"/>
                <a:ea typeface="KG Primary Penmanship"/>
                <a:cs typeface="Sabon Next LT" panose="02000500000000000000" pitchFamily="2" charset="0"/>
                <a:sym typeface="KG Primary Penmanship"/>
              </a:rPr>
              <a:t>Kiểm tra lại dữ liệu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p:cNvGrpSpPr/>
        <p:nvPr/>
      </p:nvGrpSpPr>
      <p:grpSpPr>
        <a:xfrm>
          <a:off x="0" y="0"/>
          <a:ext cx="0" cy="0"/>
          <a:chOff x="0" y="0"/>
          <a:chExt cx="0" cy="0"/>
        </a:xfrm>
      </p:grpSpPr>
      <p:grpSp>
        <p:nvGrpSpPr>
          <p:cNvPr id="2" name="Group 2"/>
          <p:cNvGrpSpPr/>
          <p:nvPr/>
        </p:nvGrpSpPr>
        <p:grpSpPr>
          <a:xfrm>
            <a:off x="561726" y="592373"/>
            <a:ext cx="17164548" cy="9102254"/>
            <a:chOff x="0" y="0"/>
            <a:chExt cx="6964336" cy="3693145"/>
          </a:xfrm>
        </p:grpSpPr>
        <p:sp>
          <p:nvSpPr>
            <p:cNvPr id="3" name="Freeform 3"/>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5" name="Group 5"/>
          <p:cNvGrpSpPr/>
          <p:nvPr/>
        </p:nvGrpSpPr>
        <p:grpSpPr>
          <a:xfrm>
            <a:off x="561726" y="557775"/>
            <a:ext cx="17164548" cy="1728107"/>
            <a:chOff x="0" y="0"/>
            <a:chExt cx="6964336" cy="701161"/>
          </a:xfrm>
        </p:grpSpPr>
        <p:sp>
          <p:nvSpPr>
            <p:cNvPr id="6" name="Freeform 6"/>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7" name="Freeform 7"/>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8" name="TextBox 8"/>
          <p:cNvSpPr txBox="1"/>
          <p:nvPr/>
        </p:nvSpPr>
        <p:spPr>
          <a:xfrm>
            <a:off x="561726" y="866775"/>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Phân tích khám phá dữ liệu</a:t>
            </a:r>
          </a:p>
        </p:txBody>
      </p:sp>
      <p:sp>
        <p:nvSpPr>
          <p:cNvPr id="9" name="TextBox 9"/>
          <p:cNvSpPr txBox="1"/>
          <p:nvPr/>
        </p:nvSpPr>
        <p:spPr>
          <a:xfrm>
            <a:off x="1066800" y="2400300"/>
            <a:ext cx="10893901" cy="3168431"/>
          </a:xfrm>
          <a:prstGeom prst="rect">
            <a:avLst/>
          </a:prstGeom>
        </p:spPr>
        <p:txBody>
          <a:bodyPr lIns="0" tIns="0" rIns="0" bIns="0" rtlCol="0" anchor="t">
            <a:spAutoFit/>
          </a:bodyPr>
          <a:lstStyle/>
          <a:p>
            <a:pPr>
              <a:lnSpc>
                <a:spcPts val="8393"/>
              </a:lnSpc>
            </a:pPr>
            <a:r>
              <a:rPr lang="en-US" sz="5995">
                <a:solidFill>
                  <a:srgbClr val="000000"/>
                </a:solidFill>
                <a:latin typeface="Sabon Next LT" panose="02000500000000000000" pitchFamily="2" charset="0"/>
                <a:ea typeface="KG Primary Penmanship"/>
                <a:cs typeface="Sabon Next LT" panose="02000500000000000000" pitchFamily="2" charset="0"/>
                <a:sym typeface="KG Primary Penmanship"/>
              </a:rPr>
              <a:t>Tạo thêm  các đặc trưng mới từ cột  Invoicedate để dễ dàng phân tích</a:t>
            </a:r>
          </a:p>
        </p:txBody>
      </p:sp>
      <p:sp>
        <p:nvSpPr>
          <p:cNvPr id="13" name="Oval 12">
            <a:extLst>
              <a:ext uri="{FF2B5EF4-FFF2-40B4-BE49-F238E27FC236}">
                <a16:creationId xmlns:a16="http://schemas.microsoft.com/office/drawing/2014/main" id="{098ECA9A-E52A-9C73-FFAA-23DF3A9DB4C1}"/>
              </a:ext>
            </a:extLst>
          </p:cNvPr>
          <p:cNvSpPr/>
          <p:nvPr/>
        </p:nvSpPr>
        <p:spPr>
          <a:xfrm>
            <a:off x="2696937" y="5119040"/>
            <a:ext cx="3801573" cy="2043105"/>
          </a:xfrm>
          <a:prstGeom prst="ellipse">
            <a:avLst/>
          </a:prstGeom>
          <a:solidFill>
            <a:srgbClr val="FFFF00"/>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4000">
                <a:solidFill>
                  <a:schemeClr val="tx1"/>
                </a:solidFill>
                <a:latin typeface="KG Primary Penmanship" panose="020B0604020202020204" charset="0"/>
                <a:ea typeface="KG Primary Penmanship"/>
                <a:cs typeface="KG Primary Penmanship"/>
                <a:sym typeface="KG Primary Penmanship"/>
              </a:rPr>
              <a:t>Invoicedate</a:t>
            </a:r>
            <a:endParaRPr lang="en-US" sz="4000">
              <a:solidFill>
                <a:schemeClr val="tx1"/>
              </a:solidFill>
              <a:latin typeface="KG Primary Penmanship" panose="020B0604020202020204" charset="0"/>
            </a:endParaRPr>
          </a:p>
        </p:txBody>
      </p:sp>
      <p:sp>
        <p:nvSpPr>
          <p:cNvPr id="14" name="Oval 13">
            <a:extLst>
              <a:ext uri="{FF2B5EF4-FFF2-40B4-BE49-F238E27FC236}">
                <a16:creationId xmlns:a16="http://schemas.microsoft.com/office/drawing/2014/main" id="{DB794550-2588-4264-6B52-39C5EA9E5B6F}"/>
              </a:ext>
            </a:extLst>
          </p:cNvPr>
          <p:cNvSpPr/>
          <p:nvPr/>
        </p:nvSpPr>
        <p:spPr>
          <a:xfrm>
            <a:off x="13639800" y="2630872"/>
            <a:ext cx="2558561" cy="2043105"/>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4000" b="0">
                <a:solidFill>
                  <a:schemeClr val="tx1"/>
                </a:solidFill>
                <a:effectLst/>
                <a:latin typeface="KG Primary Penmanship" panose="020B0604020202020204" charset="0"/>
              </a:rPr>
              <a:t>Total Amount</a:t>
            </a:r>
          </a:p>
        </p:txBody>
      </p:sp>
      <p:sp>
        <p:nvSpPr>
          <p:cNvPr id="15" name="Oval 14">
            <a:extLst>
              <a:ext uri="{FF2B5EF4-FFF2-40B4-BE49-F238E27FC236}">
                <a16:creationId xmlns:a16="http://schemas.microsoft.com/office/drawing/2014/main" id="{A3444EA7-B633-FC87-411E-1180FD6D1D5B}"/>
              </a:ext>
            </a:extLst>
          </p:cNvPr>
          <p:cNvSpPr/>
          <p:nvPr/>
        </p:nvSpPr>
        <p:spPr>
          <a:xfrm>
            <a:off x="12748636" y="5370859"/>
            <a:ext cx="1916922" cy="167719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lnSpc>
                <a:spcPts val="1350"/>
              </a:lnSpc>
            </a:pPr>
            <a:r>
              <a:rPr lang="en-US" sz="4000" b="0">
                <a:solidFill>
                  <a:schemeClr val="tx1"/>
                </a:solidFill>
                <a:effectLst/>
                <a:latin typeface="KG Primary Penmanship" panose="020B0604020202020204" charset="0"/>
              </a:rPr>
              <a:t>Year</a:t>
            </a:r>
          </a:p>
        </p:txBody>
      </p:sp>
      <p:sp>
        <p:nvSpPr>
          <p:cNvPr id="16" name="Oval 15">
            <a:extLst>
              <a:ext uri="{FF2B5EF4-FFF2-40B4-BE49-F238E27FC236}">
                <a16:creationId xmlns:a16="http://schemas.microsoft.com/office/drawing/2014/main" id="{AEF367FC-BAF9-18EF-6466-BA67EC5CC29F}"/>
              </a:ext>
            </a:extLst>
          </p:cNvPr>
          <p:cNvSpPr/>
          <p:nvPr/>
        </p:nvSpPr>
        <p:spPr>
          <a:xfrm>
            <a:off x="9933588" y="7416983"/>
            <a:ext cx="2598357" cy="160832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4000" b="0">
                <a:solidFill>
                  <a:schemeClr val="tx1"/>
                </a:solidFill>
                <a:effectLst/>
                <a:latin typeface="KG Primary Penmanship" panose="020B0604020202020204" charset="0"/>
              </a:rPr>
              <a:t>Month_int</a:t>
            </a:r>
          </a:p>
        </p:txBody>
      </p:sp>
      <p:sp>
        <p:nvSpPr>
          <p:cNvPr id="17" name="Oval 16">
            <a:extLst>
              <a:ext uri="{FF2B5EF4-FFF2-40B4-BE49-F238E27FC236}">
                <a16:creationId xmlns:a16="http://schemas.microsoft.com/office/drawing/2014/main" id="{1594FF7F-7FD4-C589-6DB5-297960030189}"/>
              </a:ext>
            </a:extLst>
          </p:cNvPr>
          <p:cNvSpPr/>
          <p:nvPr/>
        </p:nvSpPr>
        <p:spPr>
          <a:xfrm>
            <a:off x="6933476" y="7844621"/>
            <a:ext cx="1916922" cy="1677193"/>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4000">
                <a:solidFill>
                  <a:schemeClr val="tx1"/>
                </a:solidFill>
                <a:latin typeface="KG Primary Penmanship" panose="020B0604020202020204" charset="0"/>
              </a:rPr>
              <a:t>Date</a:t>
            </a:r>
          </a:p>
        </p:txBody>
      </p:sp>
      <p:cxnSp>
        <p:nvCxnSpPr>
          <p:cNvPr id="19" name="Straight Arrow Connector 18">
            <a:extLst>
              <a:ext uri="{FF2B5EF4-FFF2-40B4-BE49-F238E27FC236}">
                <a16:creationId xmlns:a16="http://schemas.microsoft.com/office/drawing/2014/main" id="{BFFD0E5E-9B1E-5596-0E7B-E4BB8EE20B7E}"/>
              </a:ext>
            </a:extLst>
          </p:cNvPr>
          <p:cNvCxnSpPr>
            <a:cxnSpLocks/>
            <a:stCxn id="13" idx="6"/>
            <a:endCxn id="17" idx="0"/>
          </p:cNvCxnSpPr>
          <p:nvPr/>
        </p:nvCxnSpPr>
        <p:spPr>
          <a:xfrm>
            <a:off x="6498510" y="6140593"/>
            <a:ext cx="1393427" cy="1704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AEAC73-8520-4E30-C599-AB79EA289143}"/>
              </a:ext>
            </a:extLst>
          </p:cNvPr>
          <p:cNvCxnSpPr>
            <a:cxnSpLocks/>
            <a:stCxn id="13" idx="6"/>
            <a:endCxn id="16" idx="0"/>
          </p:cNvCxnSpPr>
          <p:nvPr/>
        </p:nvCxnSpPr>
        <p:spPr>
          <a:xfrm>
            <a:off x="6498510" y="6140593"/>
            <a:ext cx="4734257" cy="1276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0EB51FB-07A9-3AEA-54DB-7AB1C191A11D}"/>
              </a:ext>
            </a:extLst>
          </p:cNvPr>
          <p:cNvCxnSpPr>
            <a:cxnSpLocks/>
            <a:stCxn id="13" idx="6"/>
            <a:endCxn id="15" idx="2"/>
          </p:cNvCxnSpPr>
          <p:nvPr/>
        </p:nvCxnSpPr>
        <p:spPr>
          <a:xfrm>
            <a:off x="6498510" y="6140593"/>
            <a:ext cx="6250126" cy="68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2824A1-58C2-5EB1-C4D0-8CEE00642690}"/>
              </a:ext>
            </a:extLst>
          </p:cNvPr>
          <p:cNvCxnSpPr>
            <a:cxnSpLocks/>
            <a:stCxn id="13" idx="6"/>
            <a:endCxn id="14" idx="2"/>
          </p:cNvCxnSpPr>
          <p:nvPr/>
        </p:nvCxnSpPr>
        <p:spPr>
          <a:xfrm flipV="1">
            <a:off x="6498510" y="3652425"/>
            <a:ext cx="7141290" cy="2488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581601A3-7648-B10B-F11C-4F392C4DDD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2266F1-C3B2-593F-AD1A-AA4D49FEC8BC}"/>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B4853186-153A-063D-8F28-28074A0AF809}"/>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534A8603-5805-07EB-E2F2-2FBADADEE48F}"/>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pic>
        <p:nvPicPr>
          <p:cNvPr id="12" name="Picture 11">
            <a:extLst>
              <a:ext uri="{FF2B5EF4-FFF2-40B4-BE49-F238E27FC236}">
                <a16:creationId xmlns:a16="http://schemas.microsoft.com/office/drawing/2014/main" id="{8977AF40-018D-C201-1CA4-17FD4D17CD53}"/>
              </a:ext>
            </a:extLst>
          </p:cNvPr>
          <p:cNvPicPr>
            <a:picLocks noChangeAspect="1"/>
          </p:cNvPicPr>
          <p:nvPr/>
        </p:nvPicPr>
        <p:blipFill>
          <a:blip r:embed="rId2"/>
          <a:stretch>
            <a:fillRect/>
          </a:stretch>
        </p:blipFill>
        <p:spPr>
          <a:xfrm>
            <a:off x="931934" y="1836678"/>
            <a:ext cx="16424131" cy="7461403"/>
          </a:xfrm>
          <a:prstGeom prst="rect">
            <a:avLst/>
          </a:prstGeom>
        </p:spPr>
      </p:pic>
      <p:sp>
        <p:nvSpPr>
          <p:cNvPr id="18" name="TextBox 17">
            <a:extLst>
              <a:ext uri="{FF2B5EF4-FFF2-40B4-BE49-F238E27FC236}">
                <a16:creationId xmlns:a16="http://schemas.microsoft.com/office/drawing/2014/main" id="{70CF7C3C-8469-1418-31DA-F999EB7E225E}"/>
              </a:ext>
            </a:extLst>
          </p:cNvPr>
          <p:cNvSpPr txBox="1"/>
          <p:nvPr/>
        </p:nvSpPr>
        <p:spPr>
          <a:xfrm>
            <a:off x="2667000" y="783095"/>
            <a:ext cx="14315080" cy="938719"/>
          </a:xfrm>
          <a:prstGeom prst="rect">
            <a:avLst/>
          </a:prstGeom>
          <a:noFill/>
        </p:spPr>
        <p:txBody>
          <a:bodyPr wrap="square" rtlCol="0">
            <a:spAutoFit/>
          </a:bodyPr>
          <a:lstStyle/>
          <a:p>
            <a:r>
              <a:rPr lang="en-US" sz="5500">
                <a:latin typeface="KG Primary Penmanship" panose="020B0604020202020204" charset="0"/>
              </a:rPr>
              <a:t>Biểu đồ biểu diễn số lượng sản phẩm bán ra theo ngày</a:t>
            </a:r>
          </a:p>
        </p:txBody>
      </p:sp>
    </p:spTree>
    <p:extLst>
      <p:ext uri="{BB962C8B-B14F-4D97-AF65-F5344CB8AC3E}">
        <p14:creationId xmlns:p14="http://schemas.microsoft.com/office/powerpoint/2010/main" val="2477720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48716934-B239-9D72-FF04-9A8CDA55ED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565310D-116A-00AD-DC48-AB3B9F8728BA}"/>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85B5199E-A2D4-2C4F-2C31-5733AC51CC36}"/>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0D306E8A-26F2-ABF3-CD61-B8435AA67533}"/>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7EB8D68C-592F-B3EF-8596-9C66671D180B}"/>
              </a:ext>
            </a:extLst>
          </p:cNvPr>
          <p:cNvSpPr txBox="1"/>
          <p:nvPr/>
        </p:nvSpPr>
        <p:spPr>
          <a:xfrm>
            <a:off x="2667000" y="783095"/>
            <a:ext cx="14315080" cy="938719"/>
          </a:xfrm>
          <a:prstGeom prst="rect">
            <a:avLst/>
          </a:prstGeom>
          <a:noFill/>
        </p:spPr>
        <p:txBody>
          <a:bodyPr wrap="square" rtlCol="0">
            <a:spAutoFit/>
          </a:bodyPr>
          <a:lstStyle/>
          <a:p>
            <a:r>
              <a:rPr lang="en-US" sz="5500">
                <a:latin typeface="KG Primary Penmanship" panose="020B0604020202020204" charset="0"/>
              </a:rPr>
              <a:t>Biểu đồ biểu diễn số lượng sản phẩm bán ra theo ngày</a:t>
            </a:r>
          </a:p>
        </p:txBody>
      </p:sp>
      <p:sp>
        <p:nvSpPr>
          <p:cNvPr id="7" name="Rectangle 2">
            <a:extLst>
              <a:ext uri="{FF2B5EF4-FFF2-40B4-BE49-F238E27FC236}">
                <a16:creationId xmlns:a16="http://schemas.microsoft.com/office/drawing/2014/main" id="{A25A9B30-9ED6-CAAA-8972-B8CA5C00C515}"/>
              </a:ext>
            </a:extLst>
          </p:cNvPr>
          <p:cNvSpPr>
            <a:spLocks noChangeArrowheads="1"/>
          </p:cNvSpPr>
          <p:nvPr/>
        </p:nvSpPr>
        <p:spPr bwMode="auto">
          <a:xfrm>
            <a:off x="8694781" y="1605862"/>
            <a:ext cx="8602619" cy="7402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Xu hướng chung:</a:t>
            </a:r>
            <a:r>
              <a:rPr kumimoji="0" lang="en-US" altLang="en-US" sz="2500" b="0" i="0" u="none" strike="noStrike" cap="none" normalizeH="0" baseline="0">
                <a:ln>
                  <a:noFill/>
                </a:ln>
                <a:solidFill>
                  <a:schemeClr val="tx1"/>
                </a:solidFill>
                <a:effectLst/>
                <a:latin typeface="Arial" panose="020B0604020202020204" pitchFamily="34" charset="0"/>
              </a:rPr>
              <a:t> Doanh số có xu hướng tăng dần theo thời gian, đặc biệt từ đầu 2010 đến cuối 2011, với biên độ dao động ngày càng lớn. Điều này phản ánh sự mở rộng thị trường và tăng trưởng về khối lượng giao dịch.</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Tính mùa vụ:</a:t>
            </a:r>
            <a:r>
              <a:rPr kumimoji="0" lang="en-US" altLang="en-US" sz="2500" b="0" i="0" u="none" strike="noStrike" cap="none" normalizeH="0" baseline="0">
                <a:ln>
                  <a:noFill/>
                </a:ln>
                <a:solidFill>
                  <a:schemeClr val="tx1"/>
                </a:solidFill>
                <a:effectLst/>
                <a:latin typeface="Arial" panose="020B0604020202020204" pitchFamily="34" charset="0"/>
              </a:rPr>
              <a:t> Doanh số thường đạt đỉnh vào các tháng cuối năm (quý 3 và quý 4), đặc biệt từ tháng 9 đến 12, cho thấy đây là mùa cao điểm mua sắm, có thể liên quan đến các chiến dịch khuyến mãi hoặc dịp lễ như Giáng Sinh.</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Điểm bất thường:</a:t>
            </a:r>
            <a:r>
              <a:rPr kumimoji="0" lang="en-US" altLang="en-US" sz="2500" b="0" i="0" u="none" strike="noStrike" cap="none" normalizeH="0" baseline="0">
                <a:ln>
                  <a:noFill/>
                </a:ln>
                <a:solidFill>
                  <a:schemeClr val="tx1"/>
                </a:solidFill>
                <a:effectLst/>
                <a:latin typeface="Arial" panose="020B0604020202020204" pitchFamily="34" charset="0"/>
              </a:rPr>
              <a:t> Một số ngày giữa năm cũng có doanh số đột biến, có thể do các chiến dịch marketing đặc biệt, sự kiện flash sale hoặc đơn hàng lớn gộp lại.</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Biên độ dao động:</a:t>
            </a:r>
            <a:r>
              <a:rPr kumimoji="0" lang="en-US" altLang="en-US" sz="2500" b="0" i="0" u="none" strike="noStrike" cap="none" normalizeH="0" baseline="0">
                <a:ln>
                  <a:noFill/>
                </a:ln>
                <a:solidFill>
                  <a:schemeClr val="tx1"/>
                </a:solidFill>
                <a:effectLst/>
                <a:latin typeface="Arial" panose="020B0604020202020204" pitchFamily="34" charset="0"/>
              </a:rPr>
              <a:t> Số lượng hàng bán ra tăng mạnh từ khoảng 5.000–10.000 mặt hàng/ngày đầu năm 2010 lên đến 20.000–30.000 mặt hàng/ngày vào cuối 2011, cho thấy hoạt động kinh doanh ngày càng sôi động và có quy mô lớn hơn.</a:t>
            </a:r>
            <a:endParaRPr lang="en-US" altLang="en-US" sz="250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lang="en-US" altLang="en-US" sz="2500">
                <a:latin typeface="Arial" panose="020B0604020202020204" pitchFamily="34" charset="0"/>
                <a:sym typeface="Wingdings" panose="05000000000000000000" pitchFamily="2" charset="2"/>
              </a:rPr>
              <a:t> kết luận:từ biểu đồ cho thấy được doanh số bắt đàu tang vọt từ tháng 8 đến tháng cuối tháng 11 đầu tháng 11 bắt đầu có biểu hiện đang sụt giảm dần</a:t>
            </a:r>
            <a:endParaRPr lang="en-US" altLang="en-US" sz="2500">
              <a:latin typeface="Arial" panose="020B0604020202020204" pitchFamily="34" charset="0"/>
            </a:endParaRPr>
          </a:p>
        </p:txBody>
      </p:sp>
      <p:pic>
        <p:nvPicPr>
          <p:cNvPr id="14" name="Picture 13">
            <a:extLst>
              <a:ext uri="{FF2B5EF4-FFF2-40B4-BE49-F238E27FC236}">
                <a16:creationId xmlns:a16="http://schemas.microsoft.com/office/drawing/2014/main" id="{BBE2D705-1C0E-DE1B-4C70-A788EFC08521}"/>
              </a:ext>
            </a:extLst>
          </p:cNvPr>
          <p:cNvPicPr>
            <a:picLocks noChangeAspect="1"/>
          </p:cNvPicPr>
          <p:nvPr/>
        </p:nvPicPr>
        <p:blipFill>
          <a:blip r:embed="rId2"/>
          <a:stretch>
            <a:fillRect/>
          </a:stretch>
        </p:blipFill>
        <p:spPr>
          <a:xfrm>
            <a:off x="931934" y="1836678"/>
            <a:ext cx="7762847" cy="7193021"/>
          </a:xfrm>
          <a:prstGeom prst="rect">
            <a:avLst/>
          </a:prstGeom>
        </p:spPr>
      </p:pic>
    </p:spTree>
    <p:extLst>
      <p:ext uri="{BB962C8B-B14F-4D97-AF65-F5344CB8AC3E}">
        <p14:creationId xmlns:p14="http://schemas.microsoft.com/office/powerpoint/2010/main" val="22699267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C26B1B94-DF5C-EA04-CDAB-DE2EE04244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02F6CED-F6DC-B5F5-6841-20248F7D284D}"/>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D011433E-D6A1-0814-DD31-176653E6B216}"/>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4E64BEA9-DD4B-A1CC-D993-D3E8FE5705FC}"/>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3D0B9E7D-7C53-188C-9A17-014E39A54EA3}"/>
              </a:ext>
            </a:extLst>
          </p:cNvPr>
          <p:cNvSpPr txBox="1"/>
          <p:nvPr/>
        </p:nvSpPr>
        <p:spPr>
          <a:xfrm>
            <a:off x="1143000" y="647700"/>
            <a:ext cx="16002000" cy="938719"/>
          </a:xfrm>
          <a:prstGeom prst="rect">
            <a:avLst/>
          </a:prstGeom>
          <a:noFill/>
        </p:spPr>
        <p:txBody>
          <a:bodyPr wrap="square" rtlCol="0">
            <a:spAutoFit/>
          </a:bodyPr>
          <a:lstStyle/>
          <a:p>
            <a:r>
              <a:rPr lang="en-US" sz="5500">
                <a:latin typeface="KG Primary Penmanship" panose="020B0604020202020204" charset="0"/>
              </a:rPr>
              <a:t>Biểu đồ biểu diễn số lượng sản phẩm bán theo tháng qua các năm</a:t>
            </a:r>
          </a:p>
        </p:txBody>
      </p:sp>
      <p:pic>
        <p:nvPicPr>
          <p:cNvPr id="1026" name="Picture 2">
            <a:extLst>
              <a:ext uri="{FF2B5EF4-FFF2-40B4-BE49-F238E27FC236}">
                <a16:creationId xmlns:a16="http://schemas.microsoft.com/office/drawing/2014/main" id="{8CFB81E1-5D21-BBD2-92CC-1353640F57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876" y="1721814"/>
            <a:ext cx="14874247" cy="7369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604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22B98A42-244B-B203-406E-74EDACCC340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7FAE2E-9FBC-D299-FB47-69A46AB59392}"/>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969873B9-27E3-096A-8F82-3BC182DE2102}"/>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224ED046-C7F5-3CC4-23B9-23C6CC280F07}"/>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29BDE976-2567-2E40-F671-F4C2FC08C15D}"/>
              </a:ext>
            </a:extLst>
          </p:cNvPr>
          <p:cNvSpPr txBox="1"/>
          <p:nvPr/>
        </p:nvSpPr>
        <p:spPr>
          <a:xfrm>
            <a:off x="1143000" y="647700"/>
            <a:ext cx="16002000" cy="938719"/>
          </a:xfrm>
          <a:prstGeom prst="rect">
            <a:avLst/>
          </a:prstGeom>
          <a:noFill/>
        </p:spPr>
        <p:txBody>
          <a:bodyPr wrap="square" rtlCol="0">
            <a:spAutoFit/>
          </a:bodyPr>
          <a:lstStyle/>
          <a:p>
            <a:r>
              <a:rPr lang="en-US" sz="5500">
                <a:latin typeface="KG Primary Penmanship" panose="020B0604020202020204" charset="0"/>
              </a:rPr>
              <a:t>Biểu đồ biểu diễn số lượng sản phẩm bán theo tháng qua các năm</a:t>
            </a:r>
          </a:p>
        </p:txBody>
      </p:sp>
      <p:pic>
        <p:nvPicPr>
          <p:cNvPr id="1026" name="Picture 2">
            <a:extLst>
              <a:ext uri="{FF2B5EF4-FFF2-40B4-BE49-F238E27FC236}">
                <a16:creationId xmlns:a16="http://schemas.microsoft.com/office/drawing/2014/main" id="{3D64BCE9-BDF1-55B9-B562-F857F55586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877" y="1721814"/>
            <a:ext cx="5695044" cy="736944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1A980190-DB6F-B3A8-35BF-C633686DDBD1}"/>
              </a:ext>
            </a:extLst>
          </p:cNvPr>
          <p:cNvSpPr>
            <a:spLocks noChangeArrowheads="1"/>
          </p:cNvSpPr>
          <p:nvPr/>
        </p:nvSpPr>
        <p:spPr bwMode="auto">
          <a:xfrm>
            <a:off x="7848600" y="1404538"/>
            <a:ext cx="9448800" cy="8171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Giai đoạn ổn định (01–04/2010):</a:t>
            </a:r>
            <a:r>
              <a:rPr kumimoji="0" lang="en-US" altLang="en-US" sz="2500" b="0" i="0" u="none" strike="noStrike" cap="none" normalizeH="0" baseline="0">
                <a:ln>
                  <a:noFill/>
                </a:ln>
                <a:solidFill>
                  <a:schemeClr val="tx1"/>
                </a:solidFill>
                <a:effectLst/>
                <a:latin typeface="Arial" panose="020B0604020202020204" pitchFamily="34" charset="0"/>
              </a:rPr>
              <a:t> Doanh số dao động nhẹ (280.000–300.000), phản ánh mức tiêu thụ ổn định, chưa có tác động mạnh từ chiến dịch tiếp thị.</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Giai đoạn dao động nhẹ &amp; phục hồi (05–07/2010):</a:t>
            </a:r>
            <a:r>
              <a:rPr kumimoji="0" lang="en-US" altLang="en-US" sz="2500" b="0" i="0" u="none" strike="noStrike" cap="none" normalizeH="0" baseline="0">
                <a:ln>
                  <a:noFill/>
                </a:ln>
                <a:solidFill>
                  <a:schemeClr val="tx1"/>
                </a:solidFill>
                <a:effectLst/>
                <a:latin typeface="Arial" panose="020B0604020202020204" pitchFamily="34" charset="0"/>
              </a:rPr>
              <a:t> Doanh số tăng nhẹ rồi giảm, cho thấy ảnh hưởng của các chiến dịch ngắn hạn như khuyến mãi mùa hè, nhưng chưa có xu hướng rõ ràng.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Tăng trưởng mạnh (08–10/2010):</a:t>
            </a:r>
            <a:r>
              <a:rPr kumimoji="0" lang="en-US" altLang="en-US" sz="2500" b="0" i="0" u="none" strike="noStrike" cap="none" normalizeH="0" baseline="0">
                <a:ln>
                  <a:noFill/>
                </a:ln>
                <a:solidFill>
                  <a:schemeClr val="tx1"/>
                </a:solidFill>
                <a:effectLst/>
                <a:latin typeface="Arial" panose="020B0604020202020204" pitchFamily="34" charset="0"/>
              </a:rPr>
              <a:t> Doanh số tăng vọt (~460.000 → ~600.000), đánh dấu mùa cao điểm đầu tiên, có thể nhờ khuyến mãi lớn hoặc nhu cầu mua sắm dịp cuối năm.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Suy giảm sau cao điểm (11/2010 – 02/2011):</a:t>
            </a:r>
            <a:r>
              <a:rPr kumimoji="0" lang="en-US" altLang="en-US" sz="2500" b="0" i="0" u="none" strike="noStrike" cap="none" normalizeH="0" baseline="0">
                <a:ln>
                  <a:noFill/>
                </a:ln>
                <a:solidFill>
                  <a:schemeClr val="tx1"/>
                </a:solidFill>
                <a:effectLst/>
                <a:latin typeface="Arial" panose="020B0604020202020204" pitchFamily="34" charset="0"/>
              </a:rPr>
              <a:t> Lượng bán giảm mạnh (~430.000 → ~260.000), thể hiện đặc trưng mùa vụ sau lễ và dịp Tết.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Phục hồi &amp; ổn định (03–07/2011):</a:t>
            </a:r>
            <a:r>
              <a:rPr kumimoji="0" lang="en-US" altLang="en-US" sz="2500" b="0" i="0" u="none" strike="noStrike" cap="none" normalizeH="0" baseline="0">
                <a:ln>
                  <a:noFill/>
                </a:ln>
                <a:solidFill>
                  <a:schemeClr val="tx1"/>
                </a:solidFill>
                <a:effectLst/>
                <a:latin typeface="Arial" panose="020B0604020202020204" pitchFamily="34" charset="0"/>
              </a:rPr>
              <a:t> Doanh số duy trì ổn định (330.000–380.000), thị trường có dấu hiệu phục hồi và chuẩn bị cho mùa cao điểm.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Tăng trưởng đột phá lần hai (08–1</a:t>
            </a:r>
            <a:r>
              <a:rPr lang="en-US" altLang="en-US" sz="2500" b="1">
                <a:latin typeface="Arial" panose="020B0604020202020204" pitchFamily="34" charset="0"/>
              </a:rPr>
              <a:t>0</a:t>
            </a:r>
            <a:r>
              <a:rPr kumimoji="0" lang="en-US" altLang="en-US" sz="2500" b="1" i="0" u="none" strike="noStrike" cap="none" normalizeH="0" baseline="0">
                <a:ln>
                  <a:noFill/>
                </a:ln>
                <a:solidFill>
                  <a:schemeClr val="tx1"/>
                </a:solidFill>
                <a:effectLst/>
                <a:latin typeface="Arial" panose="020B0604020202020204" pitchFamily="34" charset="0"/>
              </a:rPr>
              <a:t>/2011):</a:t>
            </a:r>
            <a:r>
              <a:rPr kumimoji="0" lang="en-US" altLang="en-US" sz="2500" b="0" i="0" u="none" strike="noStrike" cap="none" normalizeH="0" baseline="0">
                <a:ln>
                  <a:noFill/>
                </a:ln>
                <a:solidFill>
                  <a:schemeClr val="tx1"/>
                </a:solidFill>
                <a:effectLst/>
                <a:latin typeface="Arial" panose="020B0604020202020204" pitchFamily="34" charset="0"/>
              </a:rPr>
              <a:t> Doanh số tăng mạnh hơn và sớm hơn năm trước (~520.000 → 640.000), phản ánh hiệu quả của chiến lược kinh doanh và mở rộng thị trường.</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500" b="1" i="0" u="none" strike="noStrike" cap="none" normalizeH="0" baseline="0">
                <a:ln>
                  <a:noFill/>
                </a:ln>
                <a:solidFill>
                  <a:schemeClr val="tx1"/>
                </a:solidFill>
                <a:effectLst/>
                <a:latin typeface="Arial" panose="020B0604020202020204" pitchFamily="34" charset="0"/>
                <a:sym typeface="Wingdings" panose="05000000000000000000" pitchFamily="2" charset="2"/>
              </a:rPr>
              <a:t> </a:t>
            </a:r>
            <a:r>
              <a:rPr kumimoji="0" lang="en-US" altLang="en-US" sz="2500" b="1" i="0" u="none" strike="noStrike" cap="none" normalizeH="0" baseline="0">
                <a:ln>
                  <a:noFill/>
                </a:ln>
                <a:solidFill>
                  <a:schemeClr val="tx1"/>
                </a:solidFill>
                <a:effectLst/>
                <a:latin typeface="Arial" panose="020B0604020202020204" pitchFamily="34" charset="0"/>
              </a:rPr>
              <a:t>Kết luận:</a:t>
            </a:r>
            <a:r>
              <a:rPr kumimoji="0" lang="en-US" altLang="en-US" sz="2500" b="0" i="0" u="none" strike="noStrike" cap="none" normalizeH="0" baseline="0">
                <a:ln>
                  <a:noFill/>
                </a:ln>
                <a:solidFill>
                  <a:schemeClr val="tx1"/>
                </a:solidFill>
                <a:effectLst/>
                <a:latin typeface="Arial" panose="020B0604020202020204" pitchFamily="34" charset="0"/>
              </a:rPr>
              <a:t> Nên tập trung khuyến mãi vào giai đoạn bắt đầu từ tháng 8–11 hằng năm và xây dựng chiến lược giữ chân khách sau mùa cao điểm</a:t>
            </a:r>
          </a:p>
        </p:txBody>
      </p:sp>
    </p:spTree>
    <p:extLst>
      <p:ext uri="{BB962C8B-B14F-4D97-AF65-F5344CB8AC3E}">
        <p14:creationId xmlns:p14="http://schemas.microsoft.com/office/powerpoint/2010/main" val="2772141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4C188285-52AF-789C-4B84-FF965F725D3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F8688D6-12DF-B802-FD15-E9C9EC9FF497}"/>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9E15B01F-D148-C284-815D-E547EB11DF08}"/>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7CCB56E2-BCE1-7001-57FB-9AA07DC1009A}"/>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435C026A-3DD2-A0B8-A4B2-5016E9FFD35C}"/>
              </a:ext>
            </a:extLst>
          </p:cNvPr>
          <p:cNvSpPr txBox="1"/>
          <p:nvPr/>
        </p:nvSpPr>
        <p:spPr>
          <a:xfrm>
            <a:off x="2705100" y="775475"/>
            <a:ext cx="12877800" cy="938719"/>
          </a:xfrm>
          <a:prstGeom prst="rect">
            <a:avLst/>
          </a:prstGeom>
          <a:noFill/>
        </p:spPr>
        <p:txBody>
          <a:bodyPr wrap="square" rtlCol="0">
            <a:spAutoFit/>
          </a:bodyPr>
          <a:lstStyle/>
          <a:p>
            <a:r>
              <a:rPr lang="en-US" sz="5500">
                <a:latin typeface="KG Primary Penmanship" panose="020B0604020202020204" charset="0"/>
              </a:rPr>
              <a:t>Biểu đồ biểu diễn top các sản phẩm bán chạy nhất</a:t>
            </a:r>
          </a:p>
        </p:txBody>
      </p:sp>
      <p:pic>
        <p:nvPicPr>
          <p:cNvPr id="2050" name="Picture 2">
            <a:extLst>
              <a:ext uri="{FF2B5EF4-FFF2-40B4-BE49-F238E27FC236}">
                <a16:creationId xmlns:a16="http://schemas.microsoft.com/office/drawing/2014/main" id="{2D799CD4-E297-F7B4-4E93-4E2B7C7EC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465" y="2067377"/>
            <a:ext cx="16595776" cy="714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626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66A2EC4B-E850-ECEF-80B5-D1E8CF991F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BD71C95-CBCF-A911-4466-D046D56BE52E}"/>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2567535E-E53C-5D24-D963-847E04494503}"/>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6966A07F-ACF3-C149-4601-3A1523A37EEB}"/>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F4AF26D6-A24E-596B-B3B5-13D290B02A8D}"/>
              </a:ext>
            </a:extLst>
          </p:cNvPr>
          <p:cNvSpPr txBox="1"/>
          <p:nvPr/>
        </p:nvSpPr>
        <p:spPr>
          <a:xfrm>
            <a:off x="2705100" y="775475"/>
            <a:ext cx="12877800" cy="938719"/>
          </a:xfrm>
          <a:prstGeom prst="rect">
            <a:avLst/>
          </a:prstGeom>
          <a:noFill/>
        </p:spPr>
        <p:txBody>
          <a:bodyPr wrap="square" rtlCol="0">
            <a:spAutoFit/>
          </a:bodyPr>
          <a:lstStyle/>
          <a:p>
            <a:r>
              <a:rPr lang="en-US" sz="5500">
                <a:latin typeface="KG Primary Penmanship" panose="020B0604020202020204" charset="0"/>
              </a:rPr>
              <a:t>Biểu đồ biểu diễn top các sản phẩm bán chạy nhất</a:t>
            </a:r>
          </a:p>
        </p:txBody>
      </p:sp>
      <p:pic>
        <p:nvPicPr>
          <p:cNvPr id="2050" name="Picture 2">
            <a:extLst>
              <a:ext uri="{FF2B5EF4-FFF2-40B4-BE49-F238E27FC236}">
                <a16:creationId xmlns:a16="http://schemas.microsoft.com/office/drawing/2014/main" id="{227A410B-8E3D-29AE-66D4-229466AD7A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465" y="2067377"/>
            <a:ext cx="7206535" cy="71439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39547E-C070-1949-3EEF-84E74F0CCE15}"/>
              </a:ext>
            </a:extLst>
          </p:cNvPr>
          <p:cNvSpPr txBox="1"/>
          <p:nvPr/>
        </p:nvSpPr>
        <p:spPr>
          <a:xfrm>
            <a:off x="8305800" y="3086100"/>
            <a:ext cx="8382000" cy="4708981"/>
          </a:xfrm>
          <a:prstGeom prst="rect">
            <a:avLst/>
          </a:prstGeom>
          <a:noFill/>
        </p:spPr>
        <p:txBody>
          <a:bodyPr wrap="square">
            <a:spAutoFit/>
          </a:bodyPr>
          <a:lstStyle/>
          <a:p>
            <a:pPr algn="just">
              <a:buNone/>
            </a:pPr>
            <a:r>
              <a:rPr lang="en-US" sz="2500" b="1"/>
              <a:t>T</a:t>
            </a:r>
            <a:r>
              <a:rPr lang="vi-VN" sz="2500" b="1"/>
              <a:t>op 10 sản phẩm bán chạy:</a:t>
            </a:r>
            <a:endParaRPr lang="vi-VN" sz="2500"/>
          </a:p>
          <a:p>
            <a:pPr algn="just">
              <a:buFont typeface="Arial" panose="020B0604020202020204" pitchFamily="34" charset="0"/>
              <a:buChar char="•"/>
            </a:pPr>
            <a:r>
              <a:rPr lang="vi-VN" sz="2500" b="1"/>
              <a:t>Hai nhóm chính:</a:t>
            </a:r>
            <a:r>
              <a:rPr lang="vi-VN" sz="2500"/>
              <a:t> Đồ trang trí (như đèn treo, đồ ornament) và dụng cụ làm bánh (như khuôn bánh, giấy lót bánh) chiếm đa số.</a:t>
            </a:r>
          </a:p>
          <a:p>
            <a:pPr algn="just">
              <a:buFont typeface="Arial" panose="020B0604020202020204" pitchFamily="34" charset="0"/>
              <a:buChar char="•"/>
            </a:pPr>
            <a:r>
              <a:rPr lang="vi-VN" sz="2500" b="1"/>
              <a:t>Hành vi tiêu dùng:</a:t>
            </a:r>
            <a:r>
              <a:rPr lang="vi-VN" sz="2500"/>
              <a:t> Người mua ưu tiên sản phẩm nhỏ, giá thấp, thẩm mỹ cao, phục vụ trang trí nhà cửa, tổ chức tiệc hoặc làm thủ công tại nhà.</a:t>
            </a:r>
          </a:p>
          <a:p>
            <a:pPr algn="just">
              <a:buFont typeface="Arial" panose="020B0604020202020204" pitchFamily="34" charset="0"/>
              <a:buChar char="•"/>
            </a:pPr>
            <a:r>
              <a:rPr lang="vi-VN" sz="2500" b="1"/>
              <a:t>Nhóm khách hàng tiềm năng:</a:t>
            </a:r>
            <a:r>
              <a:rPr lang="vi-VN" sz="2500"/>
              <a:t> Chủ yếu là phụ nữ, gia đình trẻ hoặc người yêu thích hoạt động DIY.</a:t>
            </a:r>
          </a:p>
          <a:p>
            <a:pPr algn="just">
              <a:buFont typeface="Arial" panose="020B0604020202020204" pitchFamily="34" charset="0"/>
              <a:buChar char="•"/>
            </a:pPr>
            <a:r>
              <a:rPr lang="vi-VN" sz="2500" b="1"/>
              <a:t>Ứng dụng:</a:t>
            </a:r>
            <a:r>
              <a:rPr lang="vi-VN" sz="2500"/>
              <a:t> Những insight này hỗ trợ xây dựng chiến lược marketing, lựa chọn sản phẩm và quản lý tồn kho trong mùa cao điểm như lễ hội, mùa cưới, Giáng sinh</a:t>
            </a:r>
          </a:p>
        </p:txBody>
      </p:sp>
    </p:spTree>
    <p:extLst>
      <p:ext uri="{BB962C8B-B14F-4D97-AF65-F5344CB8AC3E}">
        <p14:creationId xmlns:p14="http://schemas.microsoft.com/office/powerpoint/2010/main" val="8213705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08B3079A-1F51-9787-BEEB-DFB2552FD4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70D9804-F962-833D-1427-B592450D2585}"/>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56684E76-317C-DC8F-5702-BA5609A750EF}"/>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A5BB7045-8D97-21ED-A4F2-962205BFFA36}"/>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563A835B-FB16-A763-5926-AF49F95639C7}"/>
              </a:ext>
            </a:extLst>
          </p:cNvPr>
          <p:cNvSpPr txBox="1"/>
          <p:nvPr/>
        </p:nvSpPr>
        <p:spPr>
          <a:xfrm>
            <a:off x="2971800" y="800100"/>
            <a:ext cx="12877800" cy="938719"/>
          </a:xfrm>
          <a:prstGeom prst="rect">
            <a:avLst/>
          </a:prstGeom>
          <a:noFill/>
        </p:spPr>
        <p:txBody>
          <a:bodyPr wrap="square" rtlCol="0">
            <a:spAutoFit/>
          </a:bodyPr>
          <a:lstStyle/>
          <a:p>
            <a:r>
              <a:rPr lang="en-US" sz="5500">
                <a:latin typeface="KG Primary Penmanship" panose="020B0604020202020204" charset="0"/>
              </a:rPr>
              <a:t>Biểu đồ biểu diễn top các quốc gia mua nhiều nhất</a:t>
            </a:r>
          </a:p>
        </p:txBody>
      </p:sp>
      <p:pic>
        <p:nvPicPr>
          <p:cNvPr id="3074" name="Picture 2">
            <a:extLst>
              <a:ext uri="{FF2B5EF4-FFF2-40B4-BE49-F238E27FC236}">
                <a16:creationId xmlns:a16="http://schemas.microsoft.com/office/drawing/2014/main" id="{589A9CD5-389C-C9A5-080B-EBE161C5C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865995"/>
            <a:ext cx="14554200" cy="7343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209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0D2BBAE2-C46A-28D9-4B25-6DA81BD0A87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CE0D48-73AE-D44D-C82E-3C25514432D8}"/>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9D7A121E-4D87-0174-A89D-B30F3FECB410}"/>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18D8F7BA-565D-00B1-4A3D-9699C855FB24}"/>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17">
            <a:extLst>
              <a:ext uri="{FF2B5EF4-FFF2-40B4-BE49-F238E27FC236}">
                <a16:creationId xmlns:a16="http://schemas.microsoft.com/office/drawing/2014/main" id="{EEF969FD-7FE4-6DC1-1ACD-ABFA9DA76982}"/>
              </a:ext>
            </a:extLst>
          </p:cNvPr>
          <p:cNvSpPr txBox="1"/>
          <p:nvPr/>
        </p:nvSpPr>
        <p:spPr>
          <a:xfrm>
            <a:off x="2971800" y="800100"/>
            <a:ext cx="12877800" cy="938719"/>
          </a:xfrm>
          <a:prstGeom prst="rect">
            <a:avLst/>
          </a:prstGeom>
          <a:noFill/>
        </p:spPr>
        <p:txBody>
          <a:bodyPr wrap="square" rtlCol="0">
            <a:spAutoFit/>
          </a:bodyPr>
          <a:lstStyle/>
          <a:p>
            <a:r>
              <a:rPr lang="en-US" sz="5500">
                <a:latin typeface="KG Primary Penmanship" panose="020B0604020202020204" charset="0"/>
              </a:rPr>
              <a:t>Biểu đồ biểu diễn top các quốc gia mua nhiều nhất</a:t>
            </a:r>
          </a:p>
        </p:txBody>
      </p:sp>
      <p:pic>
        <p:nvPicPr>
          <p:cNvPr id="3074" name="Picture 2">
            <a:extLst>
              <a:ext uri="{FF2B5EF4-FFF2-40B4-BE49-F238E27FC236}">
                <a16:creationId xmlns:a16="http://schemas.microsoft.com/office/drawing/2014/main" id="{39D89C6D-4332-AEB3-AEE1-6082A995E2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865995"/>
            <a:ext cx="6781800" cy="734374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882C737-1B72-9F49-4FB1-1AAC6D32F3E4}"/>
              </a:ext>
            </a:extLst>
          </p:cNvPr>
          <p:cNvSpPr txBox="1"/>
          <p:nvPr/>
        </p:nvSpPr>
        <p:spPr>
          <a:xfrm>
            <a:off x="8541141" y="2869198"/>
            <a:ext cx="8756259" cy="5093702"/>
          </a:xfrm>
          <a:prstGeom prst="rect">
            <a:avLst/>
          </a:prstGeom>
          <a:noFill/>
        </p:spPr>
        <p:txBody>
          <a:bodyPr wrap="square">
            <a:spAutoFit/>
          </a:bodyPr>
          <a:lstStyle/>
          <a:p>
            <a:pPr algn="just">
              <a:buNone/>
            </a:pPr>
            <a:r>
              <a:rPr lang="vi-VN" sz="2500" b="1"/>
              <a:t>phân phối doanh số theo quốc gia:</a:t>
            </a:r>
            <a:endParaRPr lang="vi-VN" sz="2500"/>
          </a:p>
          <a:p>
            <a:pPr algn="just">
              <a:buFont typeface="Arial" panose="020B0604020202020204" pitchFamily="34" charset="0"/>
              <a:buChar char="•"/>
            </a:pPr>
            <a:r>
              <a:rPr lang="vi-VN" sz="2500" b="1"/>
              <a:t>UK chiếm ưu thế tuyệt đối</a:t>
            </a:r>
            <a:r>
              <a:rPr lang="vi-VN" sz="2500"/>
              <a:t> với gần 8 triệu đơn vị bán ra, do là thị trường nội địa của công ty.</a:t>
            </a:r>
          </a:p>
          <a:p>
            <a:pPr algn="just">
              <a:buFont typeface="Arial" panose="020B0604020202020204" pitchFamily="34" charset="0"/>
              <a:buChar char="•"/>
            </a:pPr>
            <a:r>
              <a:rPr lang="vi-VN" sz="2500" b="1"/>
              <a:t>Chênh lệch lớn</a:t>
            </a:r>
            <a:r>
              <a:rPr lang="vi-VN" sz="2500"/>
              <a:t>: UK vượt xa quốc gia đứng thứ hai (Netherlands) hơn 20 lần về doanh số.</a:t>
            </a:r>
          </a:p>
          <a:p>
            <a:pPr algn="just">
              <a:buFont typeface="Arial" panose="020B0604020202020204" pitchFamily="34" charset="0"/>
              <a:buChar char="•"/>
            </a:pPr>
            <a:r>
              <a:rPr lang="vi-VN" sz="2500" b="1"/>
              <a:t>Thị trường mở rộng chủ yếu trong châu Âu</a:t>
            </a:r>
            <a:r>
              <a:rPr lang="vi-VN" sz="2500"/>
              <a:t>: Các nước gần UK như Netherlands, Ireland, Đức, Pháp chiếm vị trí tiếp theo nhờ khoảng cách địa lý gần và chi phí vận chuyển thấp.</a:t>
            </a:r>
          </a:p>
          <a:p>
            <a:pPr algn="just">
              <a:buFont typeface="Arial" panose="020B0604020202020204" pitchFamily="34" charset="0"/>
              <a:buChar char="•"/>
            </a:pPr>
            <a:r>
              <a:rPr lang="vi-VN" sz="2500" b="1"/>
              <a:t>Các quốc gia xa như Australia có doanh số thấp</a:t>
            </a:r>
            <a:r>
              <a:rPr lang="vi-VN" sz="2500"/>
              <a:t> do rào cản vận chuyển và địa lý.</a:t>
            </a:r>
          </a:p>
          <a:p>
            <a:pPr algn="just"/>
            <a:r>
              <a:rPr lang="vi-VN" sz="2500"/>
              <a:t>→ Thị trường trọng tâm là nội địa và các nước châu Âu lân cận.</a:t>
            </a:r>
          </a:p>
        </p:txBody>
      </p:sp>
    </p:spTree>
    <p:extLst>
      <p:ext uri="{BB962C8B-B14F-4D97-AF65-F5344CB8AC3E}">
        <p14:creationId xmlns:p14="http://schemas.microsoft.com/office/powerpoint/2010/main" val="33332946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9172A9B7-993C-0E4B-E163-C902108A4E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5DE64DD-88EC-505B-E0D6-6C0F3EE11FBD}"/>
              </a:ext>
            </a:extLst>
          </p:cNvPr>
          <p:cNvGrpSpPr/>
          <p:nvPr/>
        </p:nvGrpSpPr>
        <p:grpSpPr>
          <a:xfrm>
            <a:off x="561726" y="592373"/>
            <a:ext cx="17164548" cy="9102254"/>
            <a:chOff x="0" y="0"/>
            <a:chExt cx="6964336" cy="3693145"/>
          </a:xfrm>
        </p:grpSpPr>
        <p:sp>
          <p:nvSpPr>
            <p:cNvPr id="3" name="Freeform 3">
              <a:extLst>
                <a:ext uri="{FF2B5EF4-FFF2-40B4-BE49-F238E27FC236}">
                  <a16:creationId xmlns:a16="http://schemas.microsoft.com/office/drawing/2014/main" id="{CACA7F4C-9E6D-00AB-E83D-CE4BDBF07329}"/>
                </a:ext>
              </a:extLst>
            </p:cNvPr>
            <p:cNvSpPr/>
            <p:nvPr/>
          </p:nvSpPr>
          <p:spPr>
            <a:xfrm>
              <a:off x="12700" y="12700"/>
              <a:ext cx="6897026" cy="3624565"/>
            </a:xfrm>
            <a:custGeom>
              <a:avLst/>
              <a:gdLst/>
              <a:ahLst/>
              <a:cxnLst/>
              <a:rect l="l" t="t" r="r" b="b"/>
              <a:pathLst>
                <a:path w="6897026" h="3624565">
                  <a:moveTo>
                    <a:pt x="43180" y="3624565"/>
                  </a:moveTo>
                  <a:lnTo>
                    <a:pt x="6853846" y="3624565"/>
                  </a:lnTo>
                  <a:cubicBezTo>
                    <a:pt x="6877976" y="3624565"/>
                    <a:pt x="6897026" y="3605515"/>
                    <a:pt x="6897026" y="3581385"/>
                  </a:cubicBezTo>
                  <a:lnTo>
                    <a:pt x="6897026" y="43180"/>
                  </a:lnTo>
                  <a:cubicBezTo>
                    <a:pt x="6897026" y="19050"/>
                    <a:pt x="6877976" y="0"/>
                    <a:pt x="6853846"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97591ED8-658F-E473-ABF4-307D3574924B}"/>
                </a:ext>
              </a:extLst>
            </p:cNvPr>
            <p:cNvSpPr/>
            <p:nvPr/>
          </p:nvSpPr>
          <p:spPr>
            <a:xfrm>
              <a:off x="0" y="0"/>
              <a:ext cx="6964336" cy="3693145"/>
            </a:xfrm>
            <a:custGeom>
              <a:avLst/>
              <a:gdLst/>
              <a:ahLst/>
              <a:cxnLst/>
              <a:rect l="l" t="t" r="r" b="b"/>
              <a:pathLst>
                <a:path w="6964336" h="3693145">
                  <a:moveTo>
                    <a:pt x="6921157" y="44450"/>
                  </a:moveTo>
                  <a:cubicBezTo>
                    <a:pt x="6916076" y="19050"/>
                    <a:pt x="6893216" y="0"/>
                    <a:pt x="6866546"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6908457" y="3693145"/>
                  </a:lnTo>
                  <a:cubicBezTo>
                    <a:pt x="6938936" y="3693145"/>
                    <a:pt x="6964336" y="3667745"/>
                    <a:pt x="6964336" y="3637265"/>
                  </a:cubicBezTo>
                  <a:lnTo>
                    <a:pt x="6964336" y="99060"/>
                  </a:lnTo>
                  <a:cubicBezTo>
                    <a:pt x="6964336" y="72390"/>
                    <a:pt x="6946557" y="50800"/>
                    <a:pt x="6921157" y="44450"/>
                  </a:cubicBezTo>
                  <a:close/>
                  <a:moveTo>
                    <a:pt x="12700" y="3594085"/>
                  </a:moveTo>
                  <a:lnTo>
                    <a:pt x="12700" y="55880"/>
                  </a:lnTo>
                  <a:cubicBezTo>
                    <a:pt x="12700" y="31750"/>
                    <a:pt x="31750" y="12700"/>
                    <a:pt x="55880" y="12700"/>
                  </a:cubicBezTo>
                  <a:lnTo>
                    <a:pt x="6866546" y="12700"/>
                  </a:lnTo>
                  <a:cubicBezTo>
                    <a:pt x="6890676" y="12700"/>
                    <a:pt x="6909726" y="31750"/>
                    <a:pt x="6909726" y="55880"/>
                  </a:cubicBezTo>
                  <a:lnTo>
                    <a:pt x="6909726" y="3594085"/>
                  </a:lnTo>
                  <a:cubicBezTo>
                    <a:pt x="6909726" y="3618215"/>
                    <a:pt x="6890676" y="3637265"/>
                    <a:pt x="6866546"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6" name="TextBox 5">
            <a:extLst>
              <a:ext uri="{FF2B5EF4-FFF2-40B4-BE49-F238E27FC236}">
                <a16:creationId xmlns:a16="http://schemas.microsoft.com/office/drawing/2014/main" id="{1F872503-64AF-8424-793C-7CB3BBE4474A}"/>
              </a:ext>
            </a:extLst>
          </p:cNvPr>
          <p:cNvSpPr txBox="1"/>
          <p:nvPr/>
        </p:nvSpPr>
        <p:spPr>
          <a:xfrm>
            <a:off x="4267200" y="753449"/>
            <a:ext cx="10363200" cy="1169551"/>
          </a:xfrm>
          <a:prstGeom prst="rect">
            <a:avLst/>
          </a:prstGeom>
          <a:noFill/>
        </p:spPr>
        <p:txBody>
          <a:bodyPr wrap="square">
            <a:spAutoFit/>
          </a:bodyPr>
          <a:lstStyle/>
          <a:p>
            <a:r>
              <a:rPr lang="en-US" sz="7000">
                <a:solidFill>
                  <a:srgbClr val="A049C3"/>
                </a:solidFill>
                <a:latin typeface="KG Primary Penmanship" panose="020B0604020202020204" charset="0"/>
              </a:rPr>
              <a:t>Phát hiện từ các phân tích EDA</a:t>
            </a:r>
          </a:p>
        </p:txBody>
      </p:sp>
      <p:sp>
        <p:nvSpPr>
          <p:cNvPr id="9" name="TextBox 8">
            <a:extLst>
              <a:ext uri="{FF2B5EF4-FFF2-40B4-BE49-F238E27FC236}">
                <a16:creationId xmlns:a16="http://schemas.microsoft.com/office/drawing/2014/main" id="{2CFB96B7-E824-7AB0-6D0E-5956CC190FE8}"/>
              </a:ext>
            </a:extLst>
          </p:cNvPr>
          <p:cNvSpPr txBox="1"/>
          <p:nvPr/>
        </p:nvSpPr>
        <p:spPr>
          <a:xfrm>
            <a:off x="1600200" y="1855530"/>
            <a:ext cx="15087600" cy="7478970"/>
          </a:xfrm>
          <a:prstGeom prst="rect">
            <a:avLst/>
          </a:prstGeom>
          <a:noFill/>
        </p:spPr>
        <p:txBody>
          <a:bodyPr wrap="square">
            <a:spAutoFit/>
          </a:bodyPr>
          <a:lstStyle/>
          <a:p>
            <a:pPr algn="just">
              <a:buNone/>
            </a:pPr>
            <a:r>
              <a:rPr lang="en-US" sz="4000" b="1">
                <a:latin typeface="Arial" panose="020B0604020202020204" pitchFamily="34" charset="0"/>
                <a:cs typeface="Arial" panose="020B0604020202020204" pitchFamily="34" charset="0"/>
              </a:rPr>
              <a:t>P</a:t>
            </a:r>
            <a:r>
              <a:rPr lang="vi-VN" sz="4000" b="1">
                <a:latin typeface="Arial" panose="020B0604020202020204" pitchFamily="34" charset="0"/>
                <a:cs typeface="Arial" panose="020B0604020202020204" pitchFamily="34" charset="0"/>
              </a:rPr>
              <a:t>hân tích</a:t>
            </a:r>
            <a:r>
              <a:rPr lang="en-US" sz="4000" b="1">
                <a:latin typeface="Arial" panose="020B0604020202020204" pitchFamily="34" charset="0"/>
                <a:cs typeface="Arial" panose="020B0604020202020204" pitchFamily="34" charset="0"/>
              </a:rPr>
              <a:t> được</a:t>
            </a:r>
            <a:r>
              <a:rPr lang="vi-VN" sz="4000" b="1">
                <a:latin typeface="Arial" panose="020B0604020202020204" pitchFamily="34" charset="0"/>
                <a:cs typeface="Arial" panose="020B0604020202020204" pitchFamily="34" charset="0"/>
              </a:rPr>
              <a:t> hành vi bán hàng:</a:t>
            </a:r>
            <a:endParaRPr lang="vi-VN" sz="4000">
              <a:latin typeface="Arial" panose="020B0604020202020204" pitchFamily="34" charset="0"/>
              <a:cs typeface="Arial" panose="020B0604020202020204" pitchFamily="34" charset="0"/>
            </a:endParaRPr>
          </a:p>
          <a:p>
            <a:pPr algn="just">
              <a:buFont typeface="Arial" panose="020B0604020202020204" pitchFamily="34" charset="0"/>
              <a:buChar char="•"/>
            </a:pPr>
            <a:r>
              <a:rPr lang="vi-VN" sz="4000" b="1">
                <a:latin typeface="Arial" panose="020B0604020202020204" pitchFamily="34" charset="0"/>
                <a:cs typeface="Arial" panose="020B0604020202020204" pitchFamily="34" charset="0"/>
              </a:rPr>
              <a:t>Tính mùa vụ rõ rệt:</a:t>
            </a:r>
            <a:r>
              <a:rPr lang="vi-VN" sz="4000">
                <a:latin typeface="Arial" panose="020B0604020202020204" pitchFamily="34" charset="0"/>
                <a:cs typeface="Arial" panose="020B0604020202020204" pitchFamily="34" charset="0"/>
              </a:rPr>
              <a:t> Doanh số đạt đỉnh vào quý 4 (tháng 9–11) và giảm mạnh đầu năm (tháng 1–2), phản ánh chu kỳ mua sắm lễ hội. Cần đưa yếu tố mùa vụ vào mô hình dự báo.</a:t>
            </a:r>
          </a:p>
          <a:p>
            <a:pPr algn="just">
              <a:buFont typeface="Arial" panose="020B0604020202020204" pitchFamily="34" charset="0"/>
              <a:buChar char="•"/>
            </a:pPr>
            <a:r>
              <a:rPr lang="vi-VN" sz="4000" b="1">
                <a:latin typeface="Arial" panose="020B0604020202020204" pitchFamily="34" charset="0"/>
                <a:cs typeface="Arial" panose="020B0604020202020204" pitchFamily="34" charset="0"/>
              </a:rPr>
              <a:t>Phân khúc sản phẩm:</a:t>
            </a:r>
            <a:r>
              <a:rPr lang="vi-VN" sz="4000">
                <a:latin typeface="Arial" panose="020B0604020202020204" pitchFamily="34" charset="0"/>
                <a:cs typeface="Arial" panose="020B0604020202020204" pitchFamily="34" charset="0"/>
              </a:rPr>
              <a:t> Sản phẩm bán chạy là đồ trang trí và dụng cụ làm bánh – giá rẻ, tiêu hao nhanh, phục vụ cá nhân hóa không gian sống, mang tính mùa vụ cao.</a:t>
            </a:r>
          </a:p>
          <a:p>
            <a:pPr algn="just">
              <a:buFont typeface="Arial" panose="020B0604020202020204" pitchFamily="34" charset="0"/>
              <a:buChar char="•"/>
            </a:pPr>
            <a:r>
              <a:rPr lang="vi-VN" sz="4000" b="1">
                <a:latin typeface="Arial" panose="020B0604020202020204" pitchFamily="34" charset="0"/>
                <a:cs typeface="Arial" panose="020B0604020202020204" pitchFamily="34" charset="0"/>
              </a:rPr>
              <a:t>Phân bố theo quốc gia:</a:t>
            </a:r>
            <a:r>
              <a:rPr lang="vi-VN" sz="4000">
                <a:latin typeface="Arial" panose="020B0604020202020204" pitchFamily="34" charset="0"/>
                <a:cs typeface="Arial" panose="020B0604020202020204" pitchFamily="34" charset="0"/>
              </a:rPr>
              <a:t> UK chiếm hơn 90% doanh số, là thị trường chủ lực. Các nước châu Âu lân cận có doanh số thấp hơn nhiều.</a:t>
            </a:r>
          </a:p>
          <a:p>
            <a:pPr algn="just">
              <a:buFont typeface="Arial" panose="020B0604020202020204" pitchFamily="34" charset="0"/>
              <a:buChar char="•"/>
            </a:pPr>
            <a:r>
              <a:rPr lang="vi-VN" sz="4000" b="1">
                <a:latin typeface="Arial" panose="020B0604020202020204" pitchFamily="34" charset="0"/>
                <a:cs typeface="Arial" panose="020B0604020202020204" pitchFamily="34" charset="0"/>
              </a:rPr>
              <a:t>Chu kỳ theo tháng/quý:</a:t>
            </a:r>
            <a:r>
              <a:rPr lang="vi-VN" sz="4000">
                <a:latin typeface="Arial" panose="020B0604020202020204" pitchFamily="34" charset="0"/>
                <a:cs typeface="Arial" panose="020B0604020202020204" pitchFamily="34" charset="0"/>
              </a:rPr>
              <a:t> Xu hướng doanh số lặp lại hàng năm – tăng vào tháng 9–11, giảm đầu năm, và ổn định giữa năm.</a:t>
            </a:r>
          </a:p>
        </p:txBody>
      </p:sp>
    </p:spTree>
    <p:extLst>
      <p:ext uri="{BB962C8B-B14F-4D97-AF65-F5344CB8AC3E}">
        <p14:creationId xmlns:p14="http://schemas.microsoft.com/office/powerpoint/2010/main" val="1759865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p:cNvGrpSpPr/>
        <p:nvPr/>
      </p:nvGrpSpPr>
      <p:grpSpPr>
        <a:xfrm>
          <a:off x="0" y="0"/>
          <a:ext cx="0" cy="0"/>
          <a:chOff x="0" y="0"/>
          <a:chExt cx="0" cy="0"/>
        </a:xfrm>
      </p:grpSpPr>
      <p:grpSp>
        <p:nvGrpSpPr>
          <p:cNvPr id="19" name="Group 6">
            <a:extLst>
              <a:ext uri="{FF2B5EF4-FFF2-40B4-BE49-F238E27FC236}">
                <a16:creationId xmlns:a16="http://schemas.microsoft.com/office/drawing/2014/main" id="{9E3A888A-61B9-32BB-4A91-BF6C00C020D6}"/>
              </a:ext>
            </a:extLst>
          </p:cNvPr>
          <p:cNvGrpSpPr/>
          <p:nvPr/>
        </p:nvGrpSpPr>
        <p:grpSpPr>
          <a:xfrm>
            <a:off x="7772400" y="2476500"/>
            <a:ext cx="9953874" cy="3352800"/>
            <a:chOff x="0" y="0"/>
            <a:chExt cx="2986989" cy="3693145"/>
          </a:xfrm>
        </p:grpSpPr>
        <p:sp>
          <p:nvSpPr>
            <p:cNvPr id="20" name="Freeform 7">
              <a:extLst>
                <a:ext uri="{FF2B5EF4-FFF2-40B4-BE49-F238E27FC236}">
                  <a16:creationId xmlns:a16="http://schemas.microsoft.com/office/drawing/2014/main" id="{0E35E7A8-6F8F-B275-9A6B-5F582D6EB728}"/>
                </a:ext>
              </a:extLst>
            </p:cNvPr>
            <p:cNvSpPr/>
            <p:nvPr/>
          </p:nvSpPr>
          <p:spPr>
            <a:xfrm>
              <a:off x="12700" y="12702"/>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21" name="Freeform 8">
              <a:extLst>
                <a:ext uri="{FF2B5EF4-FFF2-40B4-BE49-F238E27FC236}">
                  <a16:creationId xmlns:a16="http://schemas.microsoft.com/office/drawing/2014/main" id="{38C35A3B-484E-1581-6C18-D2DE9C5D460C}"/>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E1DB2FFF-491F-74A2-8582-BD941C47C06A}"/>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E9607433-DB5E-7B13-930D-96643A26B571}"/>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5C9CFE7B-5764-5572-7358-6DB28E89D0A8}"/>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2EA3EF90-CAEA-D42E-ACF1-1B1BBD17B7A9}"/>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grpSp>
        <p:nvGrpSpPr>
          <p:cNvPr id="5" name="Group 6">
            <a:extLst>
              <a:ext uri="{FF2B5EF4-FFF2-40B4-BE49-F238E27FC236}">
                <a16:creationId xmlns:a16="http://schemas.microsoft.com/office/drawing/2014/main" id="{CB5E140C-D435-A84B-322C-6F2DF312B301}"/>
              </a:ext>
            </a:extLst>
          </p:cNvPr>
          <p:cNvGrpSpPr/>
          <p:nvPr/>
        </p:nvGrpSpPr>
        <p:grpSpPr>
          <a:xfrm>
            <a:off x="621865" y="2476500"/>
            <a:ext cx="5397935" cy="7218126"/>
            <a:chOff x="0" y="0"/>
            <a:chExt cx="2986989" cy="3693145"/>
          </a:xfrm>
        </p:grpSpPr>
        <p:sp>
          <p:nvSpPr>
            <p:cNvPr id="15" name="Freeform 7">
              <a:extLst>
                <a:ext uri="{FF2B5EF4-FFF2-40B4-BE49-F238E27FC236}">
                  <a16:creationId xmlns:a16="http://schemas.microsoft.com/office/drawing/2014/main" id="{A4193644-CCCC-DC37-76A2-1EEC0A84288D}"/>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16" name="Freeform 8">
              <a:extLst>
                <a:ext uri="{FF2B5EF4-FFF2-40B4-BE49-F238E27FC236}">
                  <a16:creationId xmlns:a16="http://schemas.microsoft.com/office/drawing/2014/main" id="{4DC7FC84-CD54-D162-9BB0-A38E94FD509E}"/>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8" name="TextBox 9">
            <a:extLst>
              <a:ext uri="{FF2B5EF4-FFF2-40B4-BE49-F238E27FC236}">
                <a16:creationId xmlns:a16="http://schemas.microsoft.com/office/drawing/2014/main" id="{10FA182F-6BD6-A2B8-3D6C-4AD0C582E364}"/>
              </a:ext>
            </a:extLst>
          </p:cNvPr>
          <p:cNvSpPr txBox="1"/>
          <p:nvPr/>
        </p:nvSpPr>
        <p:spPr>
          <a:xfrm>
            <a:off x="7962900" y="2869215"/>
            <a:ext cx="9448800" cy="1283685"/>
          </a:xfrm>
          <a:prstGeom prst="rect">
            <a:avLst/>
          </a:prstGeom>
        </p:spPr>
        <p:txBody>
          <a:bodyPr wrap="square" lIns="0" tIns="0" rIns="0" bIns="0" rtlCol="0" anchor="t">
            <a:spAutoFit/>
          </a:bodyPr>
          <a:lstStyle/>
          <a:p>
            <a:pPr algn="l">
              <a:lnSpc>
                <a:spcPts val="5040"/>
              </a:lnSpc>
            </a:pPr>
            <a:r>
              <a:rPr lang="en-US" sz="4000">
                <a:solidFill>
                  <a:srgbClr val="000000"/>
                </a:solidFill>
                <a:latin typeface="Arial" panose="020B0604020202020204" pitchFamily="34" charset="0"/>
                <a:ea typeface="KG Primary Penmanship"/>
                <a:cs typeface="Arial" panose="020B0604020202020204" pitchFamily="34" charset="0"/>
                <a:sym typeface="KG Primary Penmanship"/>
              </a:rPr>
              <a:t>Dữ liệu huấn luyện đầu vào gồm các cột là InvoiceDate và Quantity</a:t>
            </a:r>
          </a:p>
        </p:txBody>
      </p:sp>
      <p:grpSp>
        <p:nvGrpSpPr>
          <p:cNvPr id="22" name="Group 6">
            <a:extLst>
              <a:ext uri="{FF2B5EF4-FFF2-40B4-BE49-F238E27FC236}">
                <a16:creationId xmlns:a16="http://schemas.microsoft.com/office/drawing/2014/main" id="{B601D8CB-9D10-0244-BBCB-40C6DAA41DA4}"/>
              </a:ext>
            </a:extLst>
          </p:cNvPr>
          <p:cNvGrpSpPr/>
          <p:nvPr/>
        </p:nvGrpSpPr>
        <p:grpSpPr>
          <a:xfrm>
            <a:off x="7772400" y="6341826"/>
            <a:ext cx="9953873" cy="3352799"/>
            <a:chOff x="0" y="0"/>
            <a:chExt cx="2986989" cy="3693145"/>
          </a:xfrm>
        </p:grpSpPr>
        <p:sp>
          <p:nvSpPr>
            <p:cNvPr id="23" name="Freeform 7">
              <a:extLst>
                <a:ext uri="{FF2B5EF4-FFF2-40B4-BE49-F238E27FC236}">
                  <a16:creationId xmlns:a16="http://schemas.microsoft.com/office/drawing/2014/main" id="{8781681E-A5A5-7635-A619-F9E11D5AF858}"/>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24" name="Freeform 8">
              <a:extLst>
                <a:ext uri="{FF2B5EF4-FFF2-40B4-BE49-F238E27FC236}">
                  <a16:creationId xmlns:a16="http://schemas.microsoft.com/office/drawing/2014/main" id="{7B291436-EE47-53F6-B0F5-BC44A842CCA6}"/>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25" name="TextBox 9">
            <a:extLst>
              <a:ext uri="{FF2B5EF4-FFF2-40B4-BE49-F238E27FC236}">
                <a16:creationId xmlns:a16="http://schemas.microsoft.com/office/drawing/2014/main" id="{F8CFB5B1-2CC5-5F1B-CDC7-43757E270258}"/>
              </a:ext>
            </a:extLst>
          </p:cNvPr>
          <p:cNvSpPr txBox="1"/>
          <p:nvPr/>
        </p:nvSpPr>
        <p:spPr>
          <a:xfrm>
            <a:off x="8011304" y="6395584"/>
            <a:ext cx="9400396" cy="3206006"/>
          </a:xfrm>
          <a:prstGeom prst="rect">
            <a:avLst/>
          </a:prstGeom>
        </p:spPr>
        <p:txBody>
          <a:bodyPr wrap="square" lIns="0" tIns="0" rIns="0" bIns="0" rtlCol="0" anchor="t">
            <a:spAutoFit/>
          </a:bodyPr>
          <a:lstStyle/>
          <a:p>
            <a:pPr algn="just">
              <a:lnSpc>
                <a:spcPts val="5040"/>
              </a:lnSpc>
            </a:pPr>
            <a:r>
              <a:rPr lang="vi-VN" sz="4000">
                <a:solidFill>
                  <a:srgbClr val="000000"/>
                </a:solidFill>
                <a:latin typeface="Arial" panose="020B0604020202020204" pitchFamily="34" charset="0"/>
                <a:ea typeface="KG Primary Penmanship"/>
                <a:cs typeface="Arial" panose="020B0604020202020204" pitchFamily="34" charset="0"/>
                <a:sym typeface="KG Primary Penmanship"/>
              </a:rPr>
              <a:t>Ngoài các đặc trưng cũ, tạo thêm các đặc trưng </a:t>
            </a:r>
            <a:r>
              <a:rPr lang="en-US" sz="4000">
                <a:solidFill>
                  <a:srgbClr val="000000"/>
                </a:solidFill>
                <a:latin typeface="Arial" panose="020B0604020202020204" pitchFamily="34" charset="0"/>
                <a:ea typeface="KG Primary Penmanship"/>
                <a:cs typeface="Arial" panose="020B0604020202020204" pitchFamily="34" charset="0"/>
                <a:sym typeface="KG Primary Penmanship"/>
              </a:rPr>
              <a:t>phụ trợ thời gian</a:t>
            </a:r>
            <a:r>
              <a:rPr lang="vi-VN" sz="4000">
                <a:solidFill>
                  <a:srgbClr val="000000"/>
                </a:solidFill>
                <a:latin typeface="Arial" panose="020B0604020202020204" pitchFamily="34" charset="0"/>
                <a:ea typeface="KG Primary Penmanship"/>
                <a:cs typeface="Arial" panose="020B0604020202020204" pitchFamily="34" charset="0"/>
                <a:sym typeface="KG Primary Penmanship"/>
              </a:rPr>
              <a:t> để phù hợp với việc mô hình như: day_</a:t>
            </a:r>
            <a:r>
              <a:rPr lang="en-US" sz="4000">
                <a:solidFill>
                  <a:srgbClr val="000000"/>
                </a:solidFill>
                <a:latin typeface="Arial" panose="020B0604020202020204" pitchFamily="34" charset="0"/>
                <a:ea typeface="KG Primary Penmanship"/>
                <a:cs typeface="Arial" panose="020B0604020202020204" pitchFamily="34" charset="0"/>
                <a:sym typeface="KG Primary Penmanship"/>
              </a:rPr>
              <a:t>of_week, day_of_month, day_of_year, month_int, … và thêm đặc trưng ngày lễ</a:t>
            </a:r>
          </a:p>
        </p:txBody>
      </p:sp>
      <p:sp>
        <p:nvSpPr>
          <p:cNvPr id="26" name="TextBox 9">
            <a:extLst>
              <a:ext uri="{FF2B5EF4-FFF2-40B4-BE49-F238E27FC236}">
                <a16:creationId xmlns:a16="http://schemas.microsoft.com/office/drawing/2014/main" id="{88BF47C3-6331-6AE5-BB42-E51AA3199A85}"/>
              </a:ext>
            </a:extLst>
          </p:cNvPr>
          <p:cNvSpPr txBox="1"/>
          <p:nvPr/>
        </p:nvSpPr>
        <p:spPr>
          <a:xfrm>
            <a:off x="990600" y="4330013"/>
            <a:ext cx="6595518" cy="2566087"/>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Mô hình huấn luyện</a:t>
            </a:r>
          </a:p>
          <a:p>
            <a:pPr marL="571500" indent="-571500" algn="l">
              <a:lnSpc>
                <a:spcPts val="5040"/>
              </a:lnSpc>
              <a:buFontTx/>
              <a:buChar char="-"/>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Prophet</a:t>
            </a:r>
          </a:p>
          <a:p>
            <a:pPr marL="571500" indent="-571500" algn="l">
              <a:lnSpc>
                <a:spcPts val="5040"/>
              </a:lnSpc>
              <a:buFontTx/>
              <a:buChar char="-"/>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Random Forest</a:t>
            </a:r>
          </a:p>
          <a:p>
            <a:pPr marL="571500" indent="-571500" algn="l">
              <a:lnSpc>
                <a:spcPts val="5040"/>
              </a:lnSpc>
              <a:buFontTx/>
              <a:buChar char="-"/>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LSTM</a:t>
            </a:r>
          </a:p>
        </p:txBody>
      </p:sp>
      <p:sp>
        <p:nvSpPr>
          <p:cNvPr id="28" name="TextBox 9">
            <a:extLst>
              <a:ext uri="{FF2B5EF4-FFF2-40B4-BE49-F238E27FC236}">
                <a16:creationId xmlns:a16="http://schemas.microsoft.com/office/drawing/2014/main" id="{B1BC418E-3B15-45AD-8F1B-0D3C39BD22E9}"/>
              </a:ext>
            </a:extLst>
          </p:cNvPr>
          <p:cNvSpPr txBox="1"/>
          <p:nvPr/>
        </p:nvSpPr>
        <p:spPr>
          <a:xfrm>
            <a:off x="7962900" y="4622036"/>
            <a:ext cx="9448800" cy="597664"/>
          </a:xfrm>
          <a:prstGeom prst="rect">
            <a:avLst/>
          </a:prstGeom>
        </p:spPr>
        <p:txBody>
          <a:bodyPr wrap="square" lIns="0" tIns="0" rIns="0" bIns="0" rtlCol="0" anchor="t">
            <a:spAutoFit/>
          </a:bodyPr>
          <a:lstStyle/>
          <a:p>
            <a:pPr algn="l">
              <a:lnSpc>
                <a:spcPts val="5040"/>
              </a:lnSpc>
            </a:pPr>
            <a:r>
              <a:rPr lang="en-US" sz="4000">
                <a:solidFill>
                  <a:srgbClr val="000000"/>
                </a:solidFill>
                <a:latin typeface="Arial" panose="020B0604020202020204" pitchFamily="34" charset="0"/>
                <a:ea typeface="KG Primary Penmanship"/>
                <a:cs typeface="Arial" panose="020B0604020202020204" pitchFamily="34" charset="0"/>
                <a:sym typeface="KG Primary Penmanship"/>
              </a:rPr>
              <a:t>Chia dữ liệu thành 80% trian và 20% test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8254A04C-6BD7-C85D-975C-D911257051D3}"/>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7E428AB0-4FB0-FD04-0C52-18D908E63518}"/>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57E5E8D9-680B-DE15-0CCB-D11F876D59C1}"/>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B2C17E4E-06F5-E433-82BD-CF061B1E38CF}"/>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11" name="Group 6">
            <a:extLst>
              <a:ext uri="{FF2B5EF4-FFF2-40B4-BE49-F238E27FC236}">
                <a16:creationId xmlns:a16="http://schemas.microsoft.com/office/drawing/2014/main" id="{8945173A-BE4F-F719-9C8C-E36FF4110355}"/>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5EF2D437-9902-2406-B249-E4ECCC106446}"/>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D5AE4C40-EF32-EDD9-14BD-FB1756F6DE97}"/>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BFE6651F-3115-7CDA-DB9A-BF685A5EBB0B}"/>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D2D4E89A-EEC3-3DD1-0BD8-629AD0B5C018}"/>
              </a:ext>
            </a:extLst>
          </p:cNvPr>
          <p:cNvPicPr>
            <a:picLocks noChangeAspect="1"/>
          </p:cNvPicPr>
          <p:nvPr/>
        </p:nvPicPr>
        <p:blipFill>
          <a:blip r:embed="rId2"/>
          <a:stretch>
            <a:fillRect/>
          </a:stretch>
        </p:blipFill>
        <p:spPr>
          <a:xfrm>
            <a:off x="7239000" y="2676741"/>
            <a:ext cx="4495799" cy="3299460"/>
          </a:xfrm>
          <a:prstGeom prst="rect">
            <a:avLst/>
          </a:prstGeom>
        </p:spPr>
      </p:pic>
      <p:pic>
        <p:nvPicPr>
          <p:cNvPr id="31" name="Picture 30" descr="A diagram of a tree&#10;&#10;AI-generated content may be incorrect.">
            <a:extLst>
              <a:ext uri="{FF2B5EF4-FFF2-40B4-BE49-F238E27FC236}">
                <a16:creationId xmlns:a16="http://schemas.microsoft.com/office/drawing/2014/main" id="{B5AD2851-96BF-6618-EC57-84DA7758D77B}"/>
              </a:ext>
            </a:extLst>
          </p:cNvPr>
          <p:cNvPicPr>
            <a:picLocks noChangeAspect="1"/>
          </p:cNvPicPr>
          <p:nvPr/>
        </p:nvPicPr>
        <p:blipFill>
          <a:blip r:embed="rId3"/>
          <a:stretch>
            <a:fillRect/>
          </a:stretch>
        </p:blipFill>
        <p:spPr>
          <a:xfrm>
            <a:off x="11966327" y="2687780"/>
            <a:ext cx="4495799" cy="3273181"/>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76E1474E-D33B-F07A-5372-37B06533C839}"/>
              </a:ext>
            </a:extLst>
          </p:cNvPr>
          <p:cNvPicPr>
            <a:picLocks noChangeAspect="1"/>
          </p:cNvPicPr>
          <p:nvPr/>
        </p:nvPicPr>
        <p:blipFill>
          <a:blip r:embed="rId4"/>
          <a:stretch>
            <a:fillRect/>
          </a:stretch>
        </p:blipFill>
        <p:spPr>
          <a:xfrm>
            <a:off x="8499694" y="6134100"/>
            <a:ext cx="6191131" cy="3299460"/>
          </a:xfrm>
          <a:prstGeom prst="rect">
            <a:avLst/>
          </a:prstGeom>
        </p:spPr>
      </p:pic>
      <p:sp>
        <p:nvSpPr>
          <p:cNvPr id="2" name="TextBox 9">
            <a:extLst>
              <a:ext uri="{FF2B5EF4-FFF2-40B4-BE49-F238E27FC236}">
                <a16:creationId xmlns:a16="http://schemas.microsoft.com/office/drawing/2014/main" id="{A57B879C-8BF2-9790-CCB8-C086746C3502}"/>
              </a:ext>
            </a:extLst>
          </p:cNvPr>
          <p:cNvSpPr txBox="1"/>
          <p:nvPr/>
        </p:nvSpPr>
        <p:spPr>
          <a:xfrm>
            <a:off x="990600" y="4330013"/>
            <a:ext cx="6595518" cy="2566087"/>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Mô hình huấn luyện</a:t>
            </a:r>
          </a:p>
          <a:p>
            <a:pPr marL="571500" indent="-571500" algn="l">
              <a:lnSpc>
                <a:spcPts val="5040"/>
              </a:lnSpc>
              <a:buFontTx/>
              <a:buChar char="-"/>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Prophet</a:t>
            </a:r>
          </a:p>
          <a:p>
            <a:pPr marL="571500" indent="-571500" algn="l">
              <a:lnSpc>
                <a:spcPts val="5040"/>
              </a:lnSpc>
              <a:buFontTx/>
              <a:buChar char="-"/>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Random Forest</a:t>
            </a:r>
          </a:p>
          <a:p>
            <a:pPr marL="571500" indent="-571500" algn="l">
              <a:lnSpc>
                <a:spcPts val="5040"/>
              </a:lnSpc>
              <a:buFontTx/>
              <a:buChar char="-"/>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LSTM</a:t>
            </a:r>
          </a:p>
        </p:txBody>
      </p:sp>
    </p:spTree>
    <p:extLst>
      <p:ext uri="{BB962C8B-B14F-4D97-AF65-F5344CB8AC3E}">
        <p14:creationId xmlns:p14="http://schemas.microsoft.com/office/powerpoint/2010/main" val="2448346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FDECA0BB-1E06-05A5-5ADB-0CEA47C9238D}"/>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E0DA3C31-4725-F6CA-D2EE-D7FB00E34158}"/>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57A34568-CB29-B32E-F657-387894880A78}"/>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70A354B3-03CF-4708-3184-5112451ED288}"/>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9" name="TextBox 9">
            <a:extLst>
              <a:ext uri="{FF2B5EF4-FFF2-40B4-BE49-F238E27FC236}">
                <a16:creationId xmlns:a16="http://schemas.microsoft.com/office/drawing/2014/main" id="{957CFF30-D37A-62D2-42E8-2DCADE4C6679}"/>
              </a:ext>
            </a:extLst>
          </p:cNvPr>
          <p:cNvSpPr txBox="1"/>
          <p:nvPr/>
        </p:nvSpPr>
        <p:spPr>
          <a:xfrm>
            <a:off x="2472282" y="2712310"/>
            <a:ext cx="6595518" cy="642484"/>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Prophet</a:t>
            </a:r>
          </a:p>
        </p:txBody>
      </p:sp>
      <p:sp>
        <p:nvSpPr>
          <p:cNvPr id="10" name="TextBox 10">
            <a:extLst>
              <a:ext uri="{FF2B5EF4-FFF2-40B4-BE49-F238E27FC236}">
                <a16:creationId xmlns:a16="http://schemas.microsoft.com/office/drawing/2014/main" id="{131D67F3-1C02-E394-48AB-6CA5E881054D}"/>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73AE632C-5EE7-9079-74EB-65D2B4D0C3DF}"/>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AB96A2BC-899A-6238-3415-0385862682D5}"/>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08E91145-09C7-768D-FF1C-CA13622DFE16}"/>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52D4C764-785B-CCCF-CFA0-544E322CFC7B}"/>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7C530B30-7DEF-DAE7-CB82-9FCC40C1BFC8}"/>
              </a:ext>
            </a:extLst>
          </p:cNvPr>
          <p:cNvPicPr>
            <a:picLocks noChangeAspect="1"/>
          </p:cNvPicPr>
          <p:nvPr/>
        </p:nvPicPr>
        <p:blipFill>
          <a:blip r:embed="rId2"/>
          <a:stretch>
            <a:fillRect/>
          </a:stretch>
        </p:blipFill>
        <p:spPr>
          <a:xfrm>
            <a:off x="1069536" y="3537792"/>
            <a:ext cx="4502592" cy="5429453"/>
          </a:xfrm>
          <a:prstGeom prst="rect">
            <a:avLst/>
          </a:prstGeom>
        </p:spPr>
      </p:pic>
      <p:pic>
        <p:nvPicPr>
          <p:cNvPr id="31" name="Picture 30" descr="A diagram of a tree&#10;&#10;AI-generated content may be incorrect.">
            <a:extLst>
              <a:ext uri="{FF2B5EF4-FFF2-40B4-BE49-F238E27FC236}">
                <a16:creationId xmlns:a16="http://schemas.microsoft.com/office/drawing/2014/main" id="{3B5A3EBD-294B-5236-D61A-5F40A751E9BD}"/>
              </a:ext>
            </a:extLst>
          </p:cNvPr>
          <p:cNvPicPr>
            <a:picLocks noChangeAspect="1"/>
          </p:cNvPicPr>
          <p:nvPr/>
        </p:nvPicPr>
        <p:blipFill>
          <a:blip r:embed="rId3"/>
          <a:stretch>
            <a:fillRect/>
          </a:stretch>
        </p:blipFill>
        <p:spPr>
          <a:xfrm>
            <a:off x="-6274987" y="-647700"/>
            <a:ext cx="5016699" cy="5073392"/>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6AE0AEF6-1E1E-F3B4-FDD1-F0203C36D20B}"/>
              </a:ext>
            </a:extLst>
          </p:cNvPr>
          <p:cNvPicPr>
            <a:picLocks noChangeAspect="1"/>
          </p:cNvPicPr>
          <p:nvPr/>
        </p:nvPicPr>
        <p:blipFill>
          <a:blip r:embed="rId4"/>
          <a:stretch>
            <a:fillRect/>
          </a:stretch>
        </p:blipFill>
        <p:spPr>
          <a:xfrm>
            <a:off x="-6977606" y="9210675"/>
            <a:ext cx="3959443" cy="2291254"/>
          </a:xfrm>
          <a:prstGeom prst="rect">
            <a:avLst/>
          </a:prstGeom>
        </p:spPr>
      </p:pic>
      <p:grpSp>
        <p:nvGrpSpPr>
          <p:cNvPr id="2" name="Group 6">
            <a:extLst>
              <a:ext uri="{FF2B5EF4-FFF2-40B4-BE49-F238E27FC236}">
                <a16:creationId xmlns:a16="http://schemas.microsoft.com/office/drawing/2014/main" id="{EF1EB595-832D-7219-7A52-89C9AE1CFFB5}"/>
              </a:ext>
            </a:extLst>
          </p:cNvPr>
          <p:cNvGrpSpPr/>
          <p:nvPr/>
        </p:nvGrpSpPr>
        <p:grpSpPr>
          <a:xfrm>
            <a:off x="6705600" y="2501322"/>
            <a:ext cx="11020674" cy="7218126"/>
            <a:chOff x="0" y="0"/>
            <a:chExt cx="2986989" cy="3693145"/>
          </a:xfrm>
        </p:grpSpPr>
        <p:sp>
          <p:nvSpPr>
            <p:cNvPr id="3" name="Freeform 7">
              <a:extLst>
                <a:ext uri="{FF2B5EF4-FFF2-40B4-BE49-F238E27FC236}">
                  <a16:creationId xmlns:a16="http://schemas.microsoft.com/office/drawing/2014/main" id="{134FC52D-53CD-E45C-C0C4-B1279BC8AEA0}"/>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8">
              <a:extLst>
                <a:ext uri="{FF2B5EF4-FFF2-40B4-BE49-F238E27FC236}">
                  <a16:creationId xmlns:a16="http://schemas.microsoft.com/office/drawing/2014/main" id="{553A5180-2ADD-117E-F82E-35E29E80E02A}"/>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mc:AlternateContent xmlns:mc="http://schemas.openxmlformats.org/markup-compatibility/2006">
        <mc:Choice xmlns:a14="http://schemas.microsoft.com/office/drawing/2010/main" Requires="a14">
          <p:sp>
            <p:nvSpPr>
              <p:cNvPr id="5" name="TextBox 9">
                <a:extLst>
                  <a:ext uri="{FF2B5EF4-FFF2-40B4-BE49-F238E27FC236}">
                    <a16:creationId xmlns:a16="http://schemas.microsoft.com/office/drawing/2014/main" id="{C6DA4531-6D88-2AA2-C9C0-24A30A38F5DE}"/>
                  </a:ext>
                </a:extLst>
              </p:cNvPr>
              <p:cNvSpPr txBox="1"/>
              <p:nvPr/>
            </p:nvSpPr>
            <p:spPr>
              <a:xfrm>
                <a:off x="7239000" y="3819346"/>
                <a:ext cx="9620958" cy="3847207"/>
              </a:xfrm>
              <a:prstGeom prst="rect">
                <a:avLst/>
              </a:prstGeom>
            </p:spPr>
            <p:txBody>
              <a:bodyPr wrap="square" lIns="0" tIns="0" rIns="0" bIns="0" rtlCol="0" anchor="t">
                <a:spAutoFit/>
              </a:bodyPr>
              <a:lstStyle/>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Nguyên lý: Mô hình cộng tuyến kết hợp với xu hướng, mùa vụ, ngày lễ</a:t>
                </a:r>
              </a:p>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Công dụng: dự báo chuỗi thời gian có tính chu kỳ rõ rệt (doanh số, …), dễ tích hợp với dữ liệu thực tế.</a:t>
                </a:r>
              </a:p>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Công thức tổng quát:</a:t>
                </a:r>
              </a:p>
              <a:p>
                <a:pPr lvl="2">
                  <a:lnSpc>
                    <a:spcPts val="5040"/>
                  </a:lnSpc>
                </a:pPr>
                <a14:m>
                  <m:oMathPara xmlns:m="http://schemas.openxmlformats.org/officeDocument/2006/math">
                    <m:oMathParaPr>
                      <m:jc m:val="centerGroup"/>
                    </m:oMathParaPr>
                    <m:oMath xmlns:m="http://schemas.openxmlformats.org/officeDocument/2006/math">
                      <m:r>
                        <a:rPr lang="en-US" sz="3000" i="1" smtClean="0">
                          <a:effectLst/>
                          <a:latin typeface="Cambria Math" panose="02040503050406030204" pitchFamily="18" charset="0"/>
                          <a:ea typeface="Times New Roman" panose="02020603050405020304" pitchFamily="18" charset="0"/>
                        </a:rPr>
                        <m:t>𝑦</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𝑡</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𝑔</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𝑡</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𝑠</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𝑡</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h</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𝑡</m:t>
                      </m:r>
                      <m:r>
                        <a:rPr lang="en-US" sz="3000" i="1" smtClean="0">
                          <a:effectLst/>
                          <a:latin typeface="Cambria Math" panose="02040503050406030204" pitchFamily="18" charset="0"/>
                          <a:ea typeface="Times New Roman" panose="02020603050405020304" pitchFamily="18" charset="0"/>
                        </a:rPr>
                        <m:t>)+</m:t>
                      </m:r>
                      <m:r>
                        <a:rPr lang="en-US" sz="3000" i="1" smtClean="0">
                          <a:effectLst/>
                          <a:latin typeface="Cambria Math" panose="02040503050406030204" pitchFamily="18" charset="0"/>
                          <a:ea typeface="Times New Roman" panose="02020603050405020304" pitchFamily="18" charset="0"/>
                        </a:rPr>
                        <m:t>𝜀</m:t>
                      </m:r>
                      <m:r>
                        <a:rPr lang="en-US" sz="3000" i="1" baseline="-25000" smtClean="0">
                          <a:effectLst/>
                          <a:latin typeface="Cambria Math" panose="02040503050406030204" pitchFamily="18" charset="0"/>
                          <a:ea typeface="Times New Roman" panose="02020603050405020304" pitchFamily="18" charset="0"/>
                        </a:rPr>
                        <m:t>𝑡</m:t>
                      </m:r>
                    </m:oMath>
                  </m:oMathPara>
                </a14:m>
                <a:endParaRPr lang="en-US" sz="3000">
                  <a:solidFill>
                    <a:srgbClr val="000000"/>
                  </a:solidFill>
                  <a:latin typeface="KG Primary Penmanship" panose="020B0604020202020204" charset="0"/>
                  <a:ea typeface="KG Primary Penmanship"/>
                  <a:cs typeface="KG Primary Penmanship"/>
                  <a:sym typeface="KG Primary Penmanship"/>
                </a:endParaRPr>
              </a:p>
            </p:txBody>
          </p:sp>
        </mc:Choice>
        <mc:Fallback>
          <p:sp>
            <p:nvSpPr>
              <p:cNvPr id="5" name="TextBox 9">
                <a:extLst>
                  <a:ext uri="{FF2B5EF4-FFF2-40B4-BE49-F238E27FC236}">
                    <a16:creationId xmlns:a16="http://schemas.microsoft.com/office/drawing/2014/main" id="{C6DA4531-6D88-2AA2-C9C0-24A30A38F5DE}"/>
                  </a:ext>
                </a:extLst>
              </p:cNvPr>
              <p:cNvSpPr txBox="1">
                <a:spLocks noRot="1" noChangeAspect="1" noMove="1" noResize="1" noEditPoints="1" noAdjustHandles="1" noChangeArrowheads="1" noChangeShapeType="1" noTextEdit="1"/>
              </p:cNvSpPr>
              <p:nvPr/>
            </p:nvSpPr>
            <p:spPr>
              <a:xfrm>
                <a:off x="7239000" y="3819346"/>
                <a:ext cx="9620958" cy="3847207"/>
              </a:xfrm>
              <a:prstGeom prst="rect">
                <a:avLst/>
              </a:prstGeom>
              <a:blipFill>
                <a:blip r:embed="rId5"/>
                <a:stretch>
                  <a:fillRect l="-2281" t="-634" r="-697"/>
                </a:stretch>
              </a:blipFill>
            </p:spPr>
            <p:txBody>
              <a:bodyPr/>
              <a:lstStyle/>
              <a:p>
                <a:r>
                  <a:rPr lang="en-US">
                    <a:noFill/>
                  </a:rPr>
                  <a:t> </a:t>
                </a:r>
              </a:p>
            </p:txBody>
          </p:sp>
        </mc:Fallback>
      </mc:AlternateContent>
    </p:spTree>
    <p:extLst>
      <p:ext uri="{BB962C8B-B14F-4D97-AF65-F5344CB8AC3E}">
        <p14:creationId xmlns:p14="http://schemas.microsoft.com/office/powerpoint/2010/main" val="3687685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73C7DFEB-4B67-84BC-D666-B36C162FB369}"/>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0BBDCEC5-2CD4-8A7B-2A96-F8C13C0AB2D1}"/>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95C58EE8-DD7D-4E8D-209D-841BD95282DE}"/>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6C4F0EEF-CA02-49F5-463B-69A2CC50BC90}"/>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0" name="TextBox 10">
            <a:extLst>
              <a:ext uri="{FF2B5EF4-FFF2-40B4-BE49-F238E27FC236}">
                <a16:creationId xmlns:a16="http://schemas.microsoft.com/office/drawing/2014/main" id="{D04032CA-01B0-AA0B-F29A-403B23C933B0}"/>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6F084F1F-7F29-1549-BE1D-7A1AC145AFDD}"/>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C175B47F-1139-4D8D-CCF1-FCB4BE36C8A2}"/>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1072B0C9-1543-75F4-ACB1-905FCFD51897}"/>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CF7CD6D9-3815-8FA2-7C74-44BB1787C5D1}"/>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9D9CFB12-FA7C-A4A4-652F-C1775788E0AD}"/>
              </a:ext>
            </a:extLst>
          </p:cNvPr>
          <p:cNvPicPr>
            <a:picLocks noChangeAspect="1"/>
          </p:cNvPicPr>
          <p:nvPr/>
        </p:nvPicPr>
        <p:blipFill>
          <a:blip r:embed="rId2"/>
          <a:stretch>
            <a:fillRect/>
          </a:stretch>
        </p:blipFill>
        <p:spPr>
          <a:xfrm>
            <a:off x="1069536" y="3537792"/>
            <a:ext cx="4502592" cy="5429453"/>
          </a:xfrm>
          <a:prstGeom prst="rect">
            <a:avLst/>
          </a:prstGeom>
        </p:spPr>
      </p:pic>
      <p:pic>
        <p:nvPicPr>
          <p:cNvPr id="31" name="Picture 30" descr="A diagram of a tree&#10;&#10;AI-generated content may be incorrect.">
            <a:extLst>
              <a:ext uri="{FF2B5EF4-FFF2-40B4-BE49-F238E27FC236}">
                <a16:creationId xmlns:a16="http://schemas.microsoft.com/office/drawing/2014/main" id="{D46DBB38-621F-01C5-2B60-8ACD24371A33}"/>
              </a:ext>
            </a:extLst>
          </p:cNvPr>
          <p:cNvPicPr>
            <a:picLocks noChangeAspect="1"/>
          </p:cNvPicPr>
          <p:nvPr/>
        </p:nvPicPr>
        <p:blipFill>
          <a:blip r:embed="rId3"/>
          <a:stretch>
            <a:fillRect/>
          </a:stretch>
        </p:blipFill>
        <p:spPr>
          <a:xfrm>
            <a:off x="-6274987" y="-647700"/>
            <a:ext cx="5016699" cy="5073392"/>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777BA5EA-C5B3-DB00-0359-E5C260627865}"/>
              </a:ext>
            </a:extLst>
          </p:cNvPr>
          <p:cNvPicPr>
            <a:picLocks noChangeAspect="1"/>
          </p:cNvPicPr>
          <p:nvPr/>
        </p:nvPicPr>
        <p:blipFill>
          <a:blip r:embed="rId4"/>
          <a:stretch>
            <a:fillRect/>
          </a:stretch>
        </p:blipFill>
        <p:spPr>
          <a:xfrm>
            <a:off x="-6977606" y="9210675"/>
            <a:ext cx="3959443" cy="2291254"/>
          </a:xfrm>
          <a:prstGeom prst="rect">
            <a:avLst/>
          </a:prstGeom>
        </p:spPr>
      </p:pic>
      <p:grpSp>
        <p:nvGrpSpPr>
          <p:cNvPr id="2" name="Group 6">
            <a:extLst>
              <a:ext uri="{FF2B5EF4-FFF2-40B4-BE49-F238E27FC236}">
                <a16:creationId xmlns:a16="http://schemas.microsoft.com/office/drawing/2014/main" id="{B1ECB6E3-C819-62D7-D312-A264710C2CD1}"/>
              </a:ext>
            </a:extLst>
          </p:cNvPr>
          <p:cNvGrpSpPr/>
          <p:nvPr/>
        </p:nvGrpSpPr>
        <p:grpSpPr>
          <a:xfrm>
            <a:off x="6705600" y="2501322"/>
            <a:ext cx="11020674" cy="7218126"/>
            <a:chOff x="0" y="0"/>
            <a:chExt cx="2986989" cy="3693145"/>
          </a:xfrm>
        </p:grpSpPr>
        <p:sp>
          <p:nvSpPr>
            <p:cNvPr id="3" name="Freeform 7">
              <a:extLst>
                <a:ext uri="{FF2B5EF4-FFF2-40B4-BE49-F238E27FC236}">
                  <a16:creationId xmlns:a16="http://schemas.microsoft.com/office/drawing/2014/main" id="{35A1CF16-C961-3C44-6B7B-3943675C0B29}"/>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8">
              <a:extLst>
                <a:ext uri="{FF2B5EF4-FFF2-40B4-BE49-F238E27FC236}">
                  <a16:creationId xmlns:a16="http://schemas.microsoft.com/office/drawing/2014/main" id="{A2BA2209-93F6-09EB-6FB2-967845A796F4}"/>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aphicFrame>
        <p:nvGraphicFramePr>
          <p:cNvPr id="15" name="Table 14">
            <a:extLst>
              <a:ext uri="{FF2B5EF4-FFF2-40B4-BE49-F238E27FC236}">
                <a16:creationId xmlns:a16="http://schemas.microsoft.com/office/drawing/2014/main" id="{D9F450D0-18D7-7381-8B56-C6B2CFD60614}"/>
              </a:ext>
            </a:extLst>
          </p:cNvPr>
          <p:cNvGraphicFramePr>
            <a:graphicFrameLocks noGrp="1"/>
          </p:cNvGraphicFramePr>
          <p:nvPr>
            <p:extLst>
              <p:ext uri="{D42A27DB-BD31-4B8C-83A1-F6EECF244321}">
                <p14:modId xmlns:p14="http://schemas.microsoft.com/office/powerpoint/2010/main" val="3721640809"/>
              </p:ext>
            </p:extLst>
          </p:nvPr>
        </p:nvGraphicFramePr>
        <p:xfrm>
          <a:off x="7012408" y="2712310"/>
          <a:ext cx="10246892" cy="6698390"/>
        </p:xfrm>
        <a:graphic>
          <a:graphicData uri="http://schemas.openxmlformats.org/drawingml/2006/table">
            <a:tbl>
              <a:tblPr firstRow="1" firstCol="1" bandRow="1">
                <a:tableStyleId>{5C22544A-7EE6-4342-B048-85BDC9FD1C3A}</a:tableStyleId>
              </a:tblPr>
              <a:tblGrid>
                <a:gridCol w="5117729">
                  <a:extLst>
                    <a:ext uri="{9D8B030D-6E8A-4147-A177-3AD203B41FA5}">
                      <a16:colId xmlns:a16="http://schemas.microsoft.com/office/drawing/2014/main" val="3400393796"/>
                    </a:ext>
                  </a:extLst>
                </a:gridCol>
                <a:gridCol w="5129163">
                  <a:extLst>
                    <a:ext uri="{9D8B030D-6E8A-4147-A177-3AD203B41FA5}">
                      <a16:colId xmlns:a16="http://schemas.microsoft.com/office/drawing/2014/main" val="2272900099"/>
                    </a:ext>
                  </a:extLst>
                </a:gridCol>
              </a:tblGrid>
              <a:tr h="1712942">
                <a:tc>
                  <a:txBody>
                    <a:bodyPr/>
                    <a:lstStyle/>
                    <a:p>
                      <a:pPr marL="0" marR="0" indent="0" algn="ctr">
                        <a:lnSpc>
                          <a:spcPct val="150000"/>
                        </a:lnSpc>
                        <a:buNone/>
                      </a:pPr>
                      <a:r>
                        <a:rPr lang="en-US" sz="4000" kern="100">
                          <a:effectLst/>
                        </a:rPr>
                        <a:t>Các chỉ số đánh giá</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Giá trị</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1708734"/>
                  </a:ext>
                </a:extLst>
              </a:tr>
              <a:tr h="1559564">
                <a:tc>
                  <a:txBody>
                    <a:bodyPr/>
                    <a:lstStyle/>
                    <a:p>
                      <a:pPr marL="0" marR="0" indent="0" algn="ctr">
                        <a:lnSpc>
                          <a:spcPct val="150000"/>
                        </a:lnSpc>
                        <a:buNone/>
                      </a:pPr>
                      <a:r>
                        <a:rPr lang="en-US" sz="4000" kern="100">
                          <a:effectLst/>
                        </a:rPr>
                        <a:t>RMSE</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2,906.54</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28621607"/>
                  </a:ext>
                </a:extLst>
              </a:tr>
              <a:tr h="1712942">
                <a:tc>
                  <a:txBody>
                    <a:bodyPr/>
                    <a:lstStyle/>
                    <a:p>
                      <a:pPr marL="0" marR="0" indent="0" algn="ctr">
                        <a:lnSpc>
                          <a:spcPct val="150000"/>
                        </a:lnSpc>
                        <a:buNone/>
                      </a:pPr>
                      <a:r>
                        <a:rPr lang="en-US" sz="4000" kern="100">
                          <a:effectLst/>
                        </a:rPr>
                        <a:t>MAE</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2,405.15</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124703"/>
                  </a:ext>
                </a:extLst>
              </a:tr>
              <a:tr h="1712942">
                <a:tc>
                  <a:txBody>
                    <a:bodyPr/>
                    <a:lstStyle/>
                    <a:p>
                      <a:pPr marL="0" marR="0" indent="0" algn="ctr">
                        <a:lnSpc>
                          <a:spcPct val="150000"/>
                        </a:lnSpc>
                        <a:buNone/>
                      </a:pPr>
                      <a:r>
                        <a:rPr lang="en-US" sz="4000" kern="100">
                          <a:effectLst/>
                        </a:rPr>
                        <a:t>R²</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0.6507</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96025298"/>
                  </a:ext>
                </a:extLst>
              </a:tr>
            </a:tbl>
          </a:graphicData>
        </a:graphic>
      </p:graphicFrame>
      <p:sp>
        <p:nvSpPr>
          <p:cNvPr id="5" name="TextBox 9">
            <a:extLst>
              <a:ext uri="{FF2B5EF4-FFF2-40B4-BE49-F238E27FC236}">
                <a16:creationId xmlns:a16="http://schemas.microsoft.com/office/drawing/2014/main" id="{3843ED4C-977C-1BEB-AFAF-CD1C3A67E239}"/>
              </a:ext>
            </a:extLst>
          </p:cNvPr>
          <p:cNvSpPr txBox="1"/>
          <p:nvPr/>
        </p:nvSpPr>
        <p:spPr>
          <a:xfrm>
            <a:off x="2472282" y="2712310"/>
            <a:ext cx="6595518" cy="642484"/>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Prophet</a:t>
            </a:r>
          </a:p>
        </p:txBody>
      </p:sp>
    </p:spTree>
    <p:extLst>
      <p:ext uri="{BB962C8B-B14F-4D97-AF65-F5344CB8AC3E}">
        <p14:creationId xmlns:p14="http://schemas.microsoft.com/office/powerpoint/2010/main" val="861100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C3B77CAC-E673-28F3-FC2A-3DAC6C436D55}"/>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4B29D412-A179-166C-C282-7538B3E86A3F}"/>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DCA35B8A-B2D0-1339-FAC2-0BD90F6562C1}"/>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F6B35EA0-4B8C-A0BC-DAB2-532660557F28}"/>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9" name="TextBox 9">
            <a:extLst>
              <a:ext uri="{FF2B5EF4-FFF2-40B4-BE49-F238E27FC236}">
                <a16:creationId xmlns:a16="http://schemas.microsoft.com/office/drawing/2014/main" id="{8B48F646-4218-9855-B65C-11E6CFD1C027}"/>
              </a:ext>
            </a:extLst>
          </p:cNvPr>
          <p:cNvSpPr txBox="1"/>
          <p:nvPr/>
        </p:nvSpPr>
        <p:spPr>
          <a:xfrm>
            <a:off x="1600200" y="2712310"/>
            <a:ext cx="6595518" cy="642484"/>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Random Forest</a:t>
            </a:r>
          </a:p>
        </p:txBody>
      </p:sp>
      <p:sp>
        <p:nvSpPr>
          <p:cNvPr id="10" name="TextBox 10">
            <a:extLst>
              <a:ext uri="{FF2B5EF4-FFF2-40B4-BE49-F238E27FC236}">
                <a16:creationId xmlns:a16="http://schemas.microsoft.com/office/drawing/2014/main" id="{7460D626-7C68-C4D3-90FC-CF870EF8EE8B}"/>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30D32444-4811-C37C-8D35-33FA49466472}"/>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A4FF88DA-C46B-CBDB-B7AF-2DDE2BD829A9}"/>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3C8FBD2B-268E-57DB-7E10-CF1F3B53D9BB}"/>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8CF0FE81-B30D-2862-7A3F-38B30087323D}"/>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90FBA41F-0FA8-1932-524B-68301571FAE9}"/>
              </a:ext>
            </a:extLst>
          </p:cNvPr>
          <p:cNvPicPr>
            <a:picLocks noChangeAspect="1"/>
          </p:cNvPicPr>
          <p:nvPr/>
        </p:nvPicPr>
        <p:blipFill>
          <a:blip r:embed="rId2"/>
          <a:stretch>
            <a:fillRect/>
          </a:stretch>
        </p:blipFill>
        <p:spPr>
          <a:xfrm>
            <a:off x="-8229600" y="3467100"/>
            <a:ext cx="4369248" cy="4690460"/>
          </a:xfrm>
          <a:prstGeom prst="rect">
            <a:avLst/>
          </a:prstGeom>
        </p:spPr>
      </p:pic>
      <p:pic>
        <p:nvPicPr>
          <p:cNvPr id="31" name="Picture 30" descr="A diagram of a tree&#10;&#10;AI-generated content may be incorrect.">
            <a:extLst>
              <a:ext uri="{FF2B5EF4-FFF2-40B4-BE49-F238E27FC236}">
                <a16:creationId xmlns:a16="http://schemas.microsoft.com/office/drawing/2014/main" id="{D68ED61E-88F3-7549-FC6B-76A51CB9AC27}"/>
              </a:ext>
            </a:extLst>
          </p:cNvPr>
          <p:cNvPicPr>
            <a:picLocks noChangeAspect="1"/>
          </p:cNvPicPr>
          <p:nvPr/>
        </p:nvPicPr>
        <p:blipFill>
          <a:blip r:embed="rId3"/>
          <a:stretch>
            <a:fillRect/>
          </a:stretch>
        </p:blipFill>
        <p:spPr>
          <a:xfrm>
            <a:off x="812482" y="3781222"/>
            <a:ext cx="5016699" cy="5073392"/>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92A6B930-FA5F-EAF8-4E7A-26FC16D717BB}"/>
              </a:ext>
            </a:extLst>
          </p:cNvPr>
          <p:cNvPicPr>
            <a:picLocks noChangeAspect="1"/>
          </p:cNvPicPr>
          <p:nvPr/>
        </p:nvPicPr>
        <p:blipFill>
          <a:blip r:embed="rId4"/>
          <a:stretch>
            <a:fillRect/>
          </a:stretch>
        </p:blipFill>
        <p:spPr>
          <a:xfrm>
            <a:off x="-6977606" y="9210675"/>
            <a:ext cx="3959443" cy="2291254"/>
          </a:xfrm>
          <a:prstGeom prst="rect">
            <a:avLst/>
          </a:prstGeom>
        </p:spPr>
      </p:pic>
      <p:grpSp>
        <p:nvGrpSpPr>
          <p:cNvPr id="2" name="Group 6">
            <a:extLst>
              <a:ext uri="{FF2B5EF4-FFF2-40B4-BE49-F238E27FC236}">
                <a16:creationId xmlns:a16="http://schemas.microsoft.com/office/drawing/2014/main" id="{D24F17A5-C702-CA89-D21E-E222C2EB19CA}"/>
              </a:ext>
            </a:extLst>
          </p:cNvPr>
          <p:cNvGrpSpPr/>
          <p:nvPr/>
        </p:nvGrpSpPr>
        <p:grpSpPr>
          <a:xfrm>
            <a:off x="6705600" y="2501322"/>
            <a:ext cx="11020674" cy="7218126"/>
            <a:chOff x="0" y="0"/>
            <a:chExt cx="2986989" cy="3693145"/>
          </a:xfrm>
        </p:grpSpPr>
        <p:sp>
          <p:nvSpPr>
            <p:cNvPr id="3" name="Freeform 7">
              <a:extLst>
                <a:ext uri="{FF2B5EF4-FFF2-40B4-BE49-F238E27FC236}">
                  <a16:creationId xmlns:a16="http://schemas.microsoft.com/office/drawing/2014/main" id="{01D33FF3-5767-5F62-0D16-85634C2AF4C2}"/>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8">
              <a:extLst>
                <a:ext uri="{FF2B5EF4-FFF2-40B4-BE49-F238E27FC236}">
                  <a16:creationId xmlns:a16="http://schemas.microsoft.com/office/drawing/2014/main" id="{4B0963AD-CD5A-33A9-F2E7-2825E38B6699}"/>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mc:AlternateContent xmlns:mc="http://schemas.openxmlformats.org/markup-compatibility/2006">
        <mc:Choice xmlns:a14="http://schemas.microsoft.com/office/drawing/2010/main" Requires="a14">
          <p:sp>
            <p:nvSpPr>
              <p:cNvPr id="5" name="TextBox 9">
                <a:extLst>
                  <a:ext uri="{FF2B5EF4-FFF2-40B4-BE49-F238E27FC236}">
                    <a16:creationId xmlns:a16="http://schemas.microsoft.com/office/drawing/2014/main" id="{2B5EE1FB-FD0E-9B80-1A99-6F0F01165066}"/>
                  </a:ext>
                </a:extLst>
              </p:cNvPr>
              <p:cNvSpPr txBox="1"/>
              <p:nvPr/>
            </p:nvSpPr>
            <p:spPr>
              <a:xfrm>
                <a:off x="7239000" y="3314700"/>
                <a:ext cx="9620958" cy="5129609"/>
              </a:xfrm>
              <a:prstGeom prst="rect">
                <a:avLst/>
              </a:prstGeom>
            </p:spPr>
            <p:txBody>
              <a:bodyPr wrap="square" lIns="0" tIns="0" rIns="0" bIns="0" rtlCol="0" anchor="t">
                <a:spAutoFit/>
              </a:bodyPr>
              <a:lstStyle/>
              <a:p>
                <a:pPr marL="571500" indent="-571500">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Nguyên lý: tập hợp nhiều cây quyết định để dự đoán và trung bình hóa kết quả</a:t>
                </a:r>
              </a:p>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Công dụng: phù hợp với bài toán hồi quy tuyến tính đa biến, dữ liệu không tuyến tính; dễ giải thích, ít yêu cầu xử lý chuỗi thời gian đặc biệt.</a:t>
                </a:r>
              </a:p>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Công thức tổng quát:</a:t>
                </a:r>
              </a:p>
              <a:p>
                <a:pPr algn="l">
                  <a:lnSpc>
                    <a:spcPts val="5040"/>
                  </a:lnSpc>
                </a:pPr>
                <a:endParaRPr lang="en-US" sz="4000">
                  <a:solidFill>
                    <a:srgbClr val="000000"/>
                  </a:solidFill>
                  <a:latin typeface="KG Primary Penmanship" panose="020B0604020202020204" charset="0"/>
                  <a:ea typeface="KG Primary Penmanship"/>
                  <a:cs typeface="KG Primary Penmanship"/>
                  <a:sym typeface="KG Primary Penmanship"/>
                </a:endParaRPr>
              </a:p>
              <a:p>
                <a:pPr lvl="2">
                  <a:lnSpc>
                    <a:spcPts val="5040"/>
                  </a:lnSpc>
                </a:pPr>
                <a14:m>
                  <m:oMathPara xmlns:m="http://schemas.openxmlformats.org/officeDocument/2006/math">
                    <m:oMathParaPr>
                      <m:jc m:val="centerGroup"/>
                    </m:oMathParaPr>
                    <m:oMath xmlns:m="http://schemas.openxmlformats.org/officeDocument/2006/math">
                      <m:acc>
                        <m:accPr>
                          <m:chr m:val="̂"/>
                          <m:ctrlPr>
                            <a:rPr lang="en-US" sz="3000" i="1">
                              <a:latin typeface="Cambria Math" panose="02040503050406030204" pitchFamily="18" charset="0"/>
                            </a:rPr>
                          </m:ctrlPr>
                        </m:accPr>
                        <m:e>
                          <m:r>
                            <a:rPr lang="en-US" sz="3000" i="1">
                              <a:latin typeface="Cambria Math" panose="02040503050406030204" pitchFamily="18" charset="0"/>
                            </a:rPr>
                            <m:t>𝑦</m:t>
                          </m:r>
                        </m:e>
                      </m:acc>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m:t>
                          </m:r>
                        </m:num>
                        <m:den>
                          <m:r>
                            <a:rPr lang="en-US" sz="3000" i="1">
                              <a:latin typeface="Cambria Math" panose="02040503050406030204" pitchFamily="18" charset="0"/>
                            </a:rPr>
                            <m:t>𝑇</m:t>
                          </m:r>
                        </m:den>
                      </m:f>
                      <m:nary>
                        <m:naryPr>
                          <m:chr m:val="∑"/>
                          <m:limLoc m:val="subSup"/>
                          <m:ctrlPr>
                            <a:rPr lang="en-US" sz="3000" i="1">
                              <a:latin typeface="Cambria Math" panose="02040503050406030204" pitchFamily="18" charset="0"/>
                            </a:rPr>
                          </m:ctrlPr>
                        </m:naryPr>
                        <m:sub>
                          <m:r>
                            <a:rPr lang="en-US" sz="3000" i="1">
                              <a:latin typeface="Cambria Math" panose="02040503050406030204" pitchFamily="18" charset="0"/>
                            </a:rPr>
                            <m:t>𝑡</m:t>
                          </m:r>
                          <m:r>
                            <a:rPr lang="en-US" sz="3000" i="1">
                              <a:latin typeface="Cambria Math" panose="02040503050406030204" pitchFamily="18" charset="0"/>
                            </a:rPr>
                            <m:t>=1</m:t>
                          </m:r>
                        </m:sub>
                        <m:sup>
                          <m:r>
                            <a:rPr lang="en-US" sz="3000" i="1">
                              <a:latin typeface="Cambria Math" panose="02040503050406030204" pitchFamily="18" charset="0"/>
                            </a:rPr>
                            <m:t>𝑇</m:t>
                          </m:r>
                        </m:sup>
                        <m:e>
                          <m:sSub>
                            <m:sSubPr>
                              <m:ctrlPr>
                                <a:rPr lang="en-US" sz="3000" i="1">
                                  <a:latin typeface="Cambria Math" panose="02040503050406030204" pitchFamily="18" charset="0"/>
                                </a:rPr>
                              </m:ctrlPr>
                            </m:sSubPr>
                            <m:e>
                              <m:r>
                                <a:rPr lang="en-US" sz="3000" i="1">
                                  <a:latin typeface="Cambria Math" panose="02040503050406030204" pitchFamily="18" charset="0"/>
                                </a:rPr>
                                <m:t>h</m:t>
                              </m:r>
                            </m:e>
                            <m:sub>
                              <m:r>
                                <a:rPr lang="en-US" sz="3000" i="1">
                                  <a:latin typeface="Cambria Math" panose="02040503050406030204" pitchFamily="18" charset="0"/>
                                </a:rPr>
                                <m:t>𝑡</m:t>
                              </m:r>
                            </m:sub>
                          </m:sSub>
                          <m:r>
                            <a:rPr lang="en-US" sz="3000" i="1">
                              <a:latin typeface="Cambria Math" panose="02040503050406030204" pitchFamily="18" charset="0"/>
                            </a:rPr>
                            <m:t>(</m:t>
                          </m:r>
                          <m:r>
                            <a:rPr lang="en-US" sz="3000" i="1">
                              <a:latin typeface="Cambria Math" panose="02040503050406030204" pitchFamily="18" charset="0"/>
                            </a:rPr>
                            <m:t>𝑥</m:t>
                          </m:r>
                          <m:r>
                            <a:rPr lang="en-US" sz="3000" i="1">
                              <a:latin typeface="Cambria Math" panose="02040503050406030204" pitchFamily="18" charset="0"/>
                            </a:rPr>
                            <m:t>)</m:t>
                          </m:r>
                        </m:e>
                      </m:nary>
                    </m:oMath>
                  </m:oMathPara>
                </a14:m>
                <a:endParaRPr lang="en-US" sz="3000">
                  <a:solidFill>
                    <a:srgbClr val="000000"/>
                  </a:solidFill>
                  <a:latin typeface="KG Primary Penmanship" panose="020B0604020202020204" charset="0"/>
                  <a:ea typeface="KG Primary Penmanship"/>
                  <a:cs typeface="KG Primary Penmanship"/>
                  <a:sym typeface="KG Primary Penmanship"/>
                </a:endParaRPr>
              </a:p>
            </p:txBody>
          </p:sp>
        </mc:Choice>
        <mc:Fallback>
          <p:sp>
            <p:nvSpPr>
              <p:cNvPr id="5" name="TextBox 9">
                <a:extLst>
                  <a:ext uri="{FF2B5EF4-FFF2-40B4-BE49-F238E27FC236}">
                    <a16:creationId xmlns:a16="http://schemas.microsoft.com/office/drawing/2014/main" id="{2B5EE1FB-FD0E-9B80-1A99-6F0F01165066}"/>
                  </a:ext>
                </a:extLst>
              </p:cNvPr>
              <p:cNvSpPr txBox="1">
                <a:spLocks noRot="1" noChangeAspect="1" noMove="1" noResize="1" noEditPoints="1" noAdjustHandles="1" noChangeArrowheads="1" noChangeShapeType="1" noTextEdit="1"/>
              </p:cNvSpPr>
              <p:nvPr/>
            </p:nvSpPr>
            <p:spPr>
              <a:xfrm>
                <a:off x="7239000" y="3314700"/>
                <a:ext cx="9620958" cy="5129609"/>
              </a:xfrm>
              <a:prstGeom prst="rect">
                <a:avLst/>
              </a:prstGeom>
              <a:blipFill>
                <a:blip r:embed="rId5"/>
                <a:stretch>
                  <a:fillRect l="-2281" t="-476" r="-2535" b="-595"/>
                </a:stretch>
              </a:blipFill>
            </p:spPr>
            <p:txBody>
              <a:bodyPr/>
              <a:lstStyle/>
              <a:p>
                <a:r>
                  <a:rPr lang="en-US">
                    <a:noFill/>
                  </a:rPr>
                  <a:t> </a:t>
                </a:r>
              </a:p>
            </p:txBody>
          </p:sp>
        </mc:Fallback>
      </mc:AlternateContent>
    </p:spTree>
    <p:extLst>
      <p:ext uri="{BB962C8B-B14F-4D97-AF65-F5344CB8AC3E}">
        <p14:creationId xmlns:p14="http://schemas.microsoft.com/office/powerpoint/2010/main" val="1369939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1D9611A1-391F-E7DA-9607-EF5C7F04009F}"/>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1E6FF0D6-3C5F-4535-8516-6A53871081FB}"/>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F3D43DC6-1EF0-20B8-66BF-71348B409CCB}"/>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F5D87197-C1AD-8DB1-1B82-7B8CBD03F852}"/>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0" name="TextBox 10">
            <a:extLst>
              <a:ext uri="{FF2B5EF4-FFF2-40B4-BE49-F238E27FC236}">
                <a16:creationId xmlns:a16="http://schemas.microsoft.com/office/drawing/2014/main" id="{D6E0EBC5-162F-7278-C1A2-FE858E1C3204}"/>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C3117229-E510-F9AF-6B3E-3636D9A67229}"/>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FA5B3065-E268-4314-4527-799745715C75}"/>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F2703AB7-BE7D-89D4-1750-6B87EEED661F}"/>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20A899C8-1B82-29F7-6D5E-8A4D80362FD1}"/>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42811282-87A2-EC12-F0CF-2FFE415CB44E}"/>
              </a:ext>
            </a:extLst>
          </p:cNvPr>
          <p:cNvPicPr>
            <a:picLocks noChangeAspect="1"/>
          </p:cNvPicPr>
          <p:nvPr/>
        </p:nvPicPr>
        <p:blipFill>
          <a:blip r:embed="rId2"/>
          <a:stretch>
            <a:fillRect/>
          </a:stretch>
        </p:blipFill>
        <p:spPr>
          <a:xfrm>
            <a:off x="-8229600" y="3467100"/>
            <a:ext cx="4369248" cy="4690460"/>
          </a:xfrm>
          <a:prstGeom prst="rect">
            <a:avLst/>
          </a:prstGeom>
        </p:spPr>
      </p:pic>
      <p:pic>
        <p:nvPicPr>
          <p:cNvPr id="31" name="Picture 30" descr="A diagram of a tree&#10;&#10;AI-generated content may be incorrect.">
            <a:extLst>
              <a:ext uri="{FF2B5EF4-FFF2-40B4-BE49-F238E27FC236}">
                <a16:creationId xmlns:a16="http://schemas.microsoft.com/office/drawing/2014/main" id="{A6C9A675-F73C-3C25-432A-9DA9CFDC738D}"/>
              </a:ext>
            </a:extLst>
          </p:cNvPr>
          <p:cNvPicPr>
            <a:picLocks noChangeAspect="1"/>
          </p:cNvPicPr>
          <p:nvPr/>
        </p:nvPicPr>
        <p:blipFill>
          <a:blip r:embed="rId3"/>
          <a:stretch>
            <a:fillRect/>
          </a:stretch>
        </p:blipFill>
        <p:spPr>
          <a:xfrm>
            <a:off x="812482" y="3781222"/>
            <a:ext cx="5016699" cy="5073392"/>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A552FFF7-D943-F5E2-1143-A51A9DCA0274}"/>
              </a:ext>
            </a:extLst>
          </p:cNvPr>
          <p:cNvPicPr>
            <a:picLocks noChangeAspect="1"/>
          </p:cNvPicPr>
          <p:nvPr/>
        </p:nvPicPr>
        <p:blipFill>
          <a:blip r:embed="rId4"/>
          <a:stretch>
            <a:fillRect/>
          </a:stretch>
        </p:blipFill>
        <p:spPr>
          <a:xfrm>
            <a:off x="-6977606" y="9210675"/>
            <a:ext cx="3959443" cy="2291254"/>
          </a:xfrm>
          <a:prstGeom prst="rect">
            <a:avLst/>
          </a:prstGeom>
        </p:spPr>
      </p:pic>
      <p:grpSp>
        <p:nvGrpSpPr>
          <p:cNvPr id="2" name="Group 6">
            <a:extLst>
              <a:ext uri="{FF2B5EF4-FFF2-40B4-BE49-F238E27FC236}">
                <a16:creationId xmlns:a16="http://schemas.microsoft.com/office/drawing/2014/main" id="{4F4539F8-C919-1BC0-781B-BADBCDB3CEB9}"/>
              </a:ext>
            </a:extLst>
          </p:cNvPr>
          <p:cNvGrpSpPr/>
          <p:nvPr/>
        </p:nvGrpSpPr>
        <p:grpSpPr>
          <a:xfrm>
            <a:off x="6705600" y="2501322"/>
            <a:ext cx="11020674" cy="7218126"/>
            <a:chOff x="0" y="0"/>
            <a:chExt cx="2986989" cy="3693145"/>
          </a:xfrm>
        </p:grpSpPr>
        <p:sp>
          <p:nvSpPr>
            <p:cNvPr id="3" name="Freeform 7">
              <a:extLst>
                <a:ext uri="{FF2B5EF4-FFF2-40B4-BE49-F238E27FC236}">
                  <a16:creationId xmlns:a16="http://schemas.microsoft.com/office/drawing/2014/main" id="{93B4D6C0-001D-CFD1-FADD-F56E7D4F6BE4}"/>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8">
              <a:extLst>
                <a:ext uri="{FF2B5EF4-FFF2-40B4-BE49-F238E27FC236}">
                  <a16:creationId xmlns:a16="http://schemas.microsoft.com/office/drawing/2014/main" id="{007C672F-5AAF-8C09-742E-547C7807DF11}"/>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aphicFrame>
        <p:nvGraphicFramePr>
          <p:cNvPr id="15" name="Table 14">
            <a:extLst>
              <a:ext uri="{FF2B5EF4-FFF2-40B4-BE49-F238E27FC236}">
                <a16:creationId xmlns:a16="http://schemas.microsoft.com/office/drawing/2014/main" id="{D9ED3E45-2061-9E17-F9EC-1CEF0C0681E9}"/>
              </a:ext>
            </a:extLst>
          </p:cNvPr>
          <p:cNvGraphicFramePr>
            <a:graphicFrameLocks noGrp="1"/>
          </p:cNvGraphicFramePr>
          <p:nvPr>
            <p:extLst>
              <p:ext uri="{D42A27DB-BD31-4B8C-83A1-F6EECF244321}">
                <p14:modId xmlns:p14="http://schemas.microsoft.com/office/powerpoint/2010/main" val="2712721326"/>
              </p:ext>
            </p:extLst>
          </p:nvPr>
        </p:nvGraphicFramePr>
        <p:xfrm>
          <a:off x="7123247" y="2712310"/>
          <a:ext cx="10136053" cy="6698392"/>
        </p:xfrm>
        <a:graphic>
          <a:graphicData uri="http://schemas.openxmlformats.org/drawingml/2006/table">
            <a:tbl>
              <a:tblPr firstRow="1" firstCol="1" bandRow="1">
                <a:tableStyleId>{5C22544A-7EE6-4342-B048-85BDC9FD1C3A}</a:tableStyleId>
              </a:tblPr>
              <a:tblGrid>
                <a:gridCol w="5064773">
                  <a:extLst>
                    <a:ext uri="{9D8B030D-6E8A-4147-A177-3AD203B41FA5}">
                      <a16:colId xmlns:a16="http://schemas.microsoft.com/office/drawing/2014/main" val="551036550"/>
                    </a:ext>
                  </a:extLst>
                </a:gridCol>
                <a:gridCol w="5071280">
                  <a:extLst>
                    <a:ext uri="{9D8B030D-6E8A-4147-A177-3AD203B41FA5}">
                      <a16:colId xmlns:a16="http://schemas.microsoft.com/office/drawing/2014/main" val="931811930"/>
                    </a:ext>
                  </a:extLst>
                </a:gridCol>
              </a:tblGrid>
              <a:tr h="1674598">
                <a:tc>
                  <a:txBody>
                    <a:bodyPr/>
                    <a:lstStyle/>
                    <a:p>
                      <a:pPr marL="0" marR="0" indent="0" algn="ctr">
                        <a:lnSpc>
                          <a:spcPct val="150000"/>
                        </a:lnSpc>
                        <a:buNone/>
                      </a:pPr>
                      <a:r>
                        <a:rPr lang="en-US" sz="4000" kern="100">
                          <a:effectLst/>
                        </a:rPr>
                        <a:t>Các chỉ số đánh giá</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Giá trị</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75817391"/>
                  </a:ext>
                </a:extLst>
              </a:tr>
              <a:tr h="1674598">
                <a:tc>
                  <a:txBody>
                    <a:bodyPr/>
                    <a:lstStyle/>
                    <a:p>
                      <a:pPr marL="0" marR="0" indent="0" algn="ctr">
                        <a:lnSpc>
                          <a:spcPct val="150000"/>
                        </a:lnSpc>
                        <a:buNone/>
                      </a:pPr>
                      <a:r>
                        <a:rPr lang="en-US" sz="4000" kern="100">
                          <a:effectLst/>
                        </a:rPr>
                        <a:t>RMSE</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3,591.80</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4761845"/>
                  </a:ext>
                </a:extLst>
              </a:tr>
              <a:tr h="1674598">
                <a:tc>
                  <a:txBody>
                    <a:bodyPr/>
                    <a:lstStyle/>
                    <a:p>
                      <a:pPr marL="0" marR="0" indent="0" algn="ctr">
                        <a:lnSpc>
                          <a:spcPct val="150000"/>
                        </a:lnSpc>
                        <a:buNone/>
                      </a:pPr>
                      <a:r>
                        <a:rPr lang="en-US" sz="4000" kern="100">
                          <a:effectLst/>
                        </a:rPr>
                        <a:t>MAE</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3,016.66</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92974021"/>
                  </a:ext>
                </a:extLst>
              </a:tr>
              <a:tr h="1674598">
                <a:tc>
                  <a:txBody>
                    <a:bodyPr/>
                    <a:lstStyle/>
                    <a:p>
                      <a:pPr marL="0" marR="0" indent="0" algn="ctr">
                        <a:lnSpc>
                          <a:spcPct val="150000"/>
                        </a:lnSpc>
                        <a:buNone/>
                      </a:pPr>
                      <a:r>
                        <a:rPr lang="en-US" sz="4000" kern="100">
                          <a:effectLst/>
                        </a:rPr>
                        <a:t>R²</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buNone/>
                      </a:pPr>
                      <a:r>
                        <a:rPr lang="en-US" sz="4000" kern="100">
                          <a:effectLst/>
                        </a:rPr>
                        <a:t>0.4665</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78787865"/>
                  </a:ext>
                </a:extLst>
              </a:tr>
            </a:tbl>
          </a:graphicData>
        </a:graphic>
      </p:graphicFrame>
      <p:sp>
        <p:nvSpPr>
          <p:cNvPr id="5" name="TextBox 9">
            <a:extLst>
              <a:ext uri="{FF2B5EF4-FFF2-40B4-BE49-F238E27FC236}">
                <a16:creationId xmlns:a16="http://schemas.microsoft.com/office/drawing/2014/main" id="{7C7792B3-9BED-125A-6012-ED5FED5B812F}"/>
              </a:ext>
            </a:extLst>
          </p:cNvPr>
          <p:cNvSpPr txBox="1"/>
          <p:nvPr/>
        </p:nvSpPr>
        <p:spPr>
          <a:xfrm>
            <a:off x="1600200" y="2712310"/>
            <a:ext cx="6595518" cy="642484"/>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Random Forest</a:t>
            </a:r>
          </a:p>
        </p:txBody>
      </p:sp>
    </p:spTree>
    <p:extLst>
      <p:ext uri="{BB962C8B-B14F-4D97-AF65-F5344CB8AC3E}">
        <p14:creationId xmlns:p14="http://schemas.microsoft.com/office/powerpoint/2010/main" val="2619265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30E42951-72C4-6502-5F08-A47E380CADA8}"/>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A9D45EFF-7163-B4E6-85D9-1BA373C16C82}"/>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E17A4BA5-62C7-9EB2-E89E-AC4B2BB2DC86}"/>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F51915D5-B69F-577D-00F7-BF7F129BE5BD}"/>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0" name="TextBox 10">
            <a:extLst>
              <a:ext uri="{FF2B5EF4-FFF2-40B4-BE49-F238E27FC236}">
                <a16:creationId xmlns:a16="http://schemas.microsoft.com/office/drawing/2014/main" id="{53C498A3-B29B-6C1C-E9D7-98092FED7897}"/>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5E91CA95-4947-2C03-EC14-C57C5AEB7DBE}"/>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F58C070B-5F97-2E63-1F49-9C792855AB21}"/>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0912206D-8803-3885-1CFB-3CBB78DCF62E}"/>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402596F7-6DCF-3738-C54C-6FFC0E7B10E9}"/>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064BAF69-EDB4-426A-ADDA-433D108C2AE9}"/>
              </a:ext>
            </a:extLst>
          </p:cNvPr>
          <p:cNvPicPr>
            <a:picLocks noChangeAspect="1"/>
          </p:cNvPicPr>
          <p:nvPr/>
        </p:nvPicPr>
        <p:blipFill>
          <a:blip r:embed="rId2"/>
          <a:stretch>
            <a:fillRect/>
          </a:stretch>
        </p:blipFill>
        <p:spPr>
          <a:xfrm>
            <a:off x="-3886200" y="7366851"/>
            <a:ext cx="3601720" cy="2870200"/>
          </a:xfrm>
          <a:prstGeom prst="rect">
            <a:avLst/>
          </a:prstGeom>
        </p:spPr>
      </p:pic>
      <p:pic>
        <p:nvPicPr>
          <p:cNvPr id="31" name="Picture 30" descr="A diagram of a tree&#10;&#10;AI-generated content may be incorrect.">
            <a:extLst>
              <a:ext uri="{FF2B5EF4-FFF2-40B4-BE49-F238E27FC236}">
                <a16:creationId xmlns:a16="http://schemas.microsoft.com/office/drawing/2014/main" id="{BC097049-45B9-EB3C-881A-7077A851CAC0}"/>
              </a:ext>
            </a:extLst>
          </p:cNvPr>
          <p:cNvPicPr>
            <a:picLocks noChangeAspect="1"/>
          </p:cNvPicPr>
          <p:nvPr/>
        </p:nvPicPr>
        <p:blipFill>
          <a:blip r:embed="rId3"/>
          <a:stretch>
            <a:fillRect/>
          </a:stretch>
        </p:blipFill>
        <p:spPr>
          <a:xfrm>
            <a:off x="-4020188" y="2285882"/>
            <a:ext cx="3601720" cy="2847340"/>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52E9617C-E6AD-7520-AC75-4D5ED9651ECE}"/>
              </a:ext>
            </a:extLst>
          </p:cNvPr>
          <p:cNvPicPr>
            <a:picLocks noChangeAspect="1"/>
          </p:cNvPicPr>
          <p:nvPr/>
        </p:nvPicPr>
        <p:blipFill>
          <a:blip r:embed="rId4"/>
          <a:stretch>
            <a:fillRect/>
          </a:stretch>
        </p:blipFill>
        <p:spPr>
          <a:xfrm>
            <a:off x="945971" y="4000500"/>
            <a:ext cx="4959901" cy="4439336"/>
          </a:xfrm>
          <a:prstGeom prst="rect">
            <a:avLst/>
          </a:prstGeom>
        </p:spPr>
      </p:pic>
      <p:sp>
        <p:nvSpPr>
          <p:cNvPr id="2" name="TextBox 9">
            <a:extLst>
              <a:ext uri="{FF2B5EF4-FFF2-40B4-BE49-F238E27FC236}">
                <a16:creationId xmlns:a16="http://schemas.microsoft.com/office/drawing/2014/main" id="{A8B71171-3CD2-AC46-5B4D-30BD6DD2F824}"/>
              </a:ext>
            </a:extLst>
          </p:cNvPr>
          <p:cNvSpPr txBox="1"/>
          <p:nvPr/>
        </p:nvSpPr>
        <p:spPr>
          <a:xfrm>
            <a:off x="2743200" y="2712310"/>
            <a:ext cx="6595518" cy="642484"/>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LSTM</a:t>
            </a:r>
          </a:p>
        </p:txBody>
      </p:sp>
      <p:grpSp>
        <p:nvGrpSpPr>
          <p:cNvPr id="3" name="Group 6">
            <a:extLst>
              <a:ext uri="{FF2B5EF4-FFF2-40B4-BE49-F238E27FC236}">
                <a16:creationId xmlns:a16="http://schemas.microsoft.com/office/drawing/2014/main" id="{B0B74543-54BD-B74D-EA87-D7E44D40FF97}"/>
              </a:ext>
            </a:extLst>
          </p:cNvPr>
          <p:cNvGrpSpPr/>
          <p:nvPr/>
        </p:nvGrpSpPr>
        <p:grpSpPr>
          <a:xfrm>
            <a:off x="6705600" y="2501322"/>
            <a:ext cx="11020674" cy="7218126"/>
            <a:chOff x="0" y="0"/>
            <a:chExt cx="2986989" cy="3693145"/>
          </a:xfrm>
        </p:grpSpPr>
        <p:sp>
          <p:nvSpPr>
            <p:cNvPr id="4" name="Freeform 7">
              <a:extLst>
                <a:ext uri="{FF2B5EF4-FFF2-40B4-BE49-F238E27FC236}">
                  <a16:creationId xmlns:a16="http://schemas.microsoft.com/office/drawing/2014/main" id="{4216AB38-3E7B-7AB1-9D31-8F9CA7E83D3D}"/>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5" name="Freeform 8">
              <a:extLst>
                <a:ext uri="{FF2B5EF4-FFF2-40B4-BE49-F238E27FC236}">
                  <a16:creationId xmlns:a16="http://schemas.microsoft.com/office/drawing/2014/main" id="{B11AE18E-83B7-94C2-586B-DAEEFA3325F0}"/>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mc:AlternateContent xmlns:mc="http://schemas.openxmlformats.org/markup-compatibility/2006">
        <mc:Choice xmlns:a14="http://schemas.microsoft.com/office/drawing/2010/main" Requires="a14">
          <p:sp>
            <p:nvSpPr>
              <p:cNvPr id="15" name="TextBox 9">
                <a:extLst>
                  <a:ext uri="{FF2B5EF4-FFF2-40B4-BE49-F238E27FC236}">
                    <a16:creationId xmlns:a16="http://schemas.microsoft.com/office/drawing/2014/main" id="{B018269C-3A36-9FE8-7699-61E2FFA67094}"/>
                  </a:ext>
                </a:extLst>
              </p:cNvPr>
              <p:cNvSpPr txBox="1"/>
              <p:nvPr/>
            </p:nvSpPr>
            <p:spPr>
              <a:xfrm>
                <a:off x="7405458" y="2750410"/>
                <a:ext cx="9620958" cy="6725111"/>
              </a:xfrm>
              <a:prstGeom prst="rect">
                <a:avLst/>
              </a:prstGeom>
            </p:spPr>
            <p:txBody>
              <a:bodyPr wrap="square" lIns="0" tIns="0" rIns="0" bIns="0" rtlCol="0" anchor="t">
                <a:spAutoFit/>
              </a:bodyPr>
              <a:lstStyle/>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Nguyên lý: mạng nơ-ron hồi tiếp có cơ chế ghi nhớ dài hạn để xử lý dữ liệu theo trình tự thời gian</a:t>
                </a:r>
              </a:p>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Công dụng: dự báo chuỗi thời gian phức tạp, không tuyến tính, đặc biệt hiệu quả với dữ liệu có độ trễ hoặc phụ thuộc dài hạn</a:t>
                </a:r>
              </a:p>
              <a:p>
                <a:pPr marL="571500" indent="-571500" algn="l">
                  <a:lnSpc>
                    <a:spcPts val="5040"/>
                  </a:lnSpc>
                  <a:buFontTx/>
                  <a:buChar char="-"/>
                </a:pPr>
                <a:r>
                  <a:rPr lang="en-US" sz="3000">
                    <a:solidFill>
                      <a:srgbClr val="000000"/>
                    </a:solidFill>
                    <a:latin typeface="Arial" panose="020B0604020202020204" pitchFamily="34" charset="0"/>
                    <a:ea typeface="KG Primary Penmanship"/>
                    <a:cs typeface="Arial" panose="020B0604020202020204" pitchFamily="34" charset="0"/>
                    <a:sym typeface="KG Primary Penmanship"/>
                  </a:rPr>
                  <a:t>Công thức tổng quát:</a:t>
                </a:r>
              </a:p>
              <a:p>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𝑓</m:t>
                          </m:r>
                        </m:e>
                        <m:sub>
                          <m:r>
                            <a:rPr lang="en-US" sz="3000" i="1">
                              <a:latin typeface="Cambria Math" panose="02040503050406030204" pitchFamily="18" charset="0"/>
                            </a:rPr>
                            <m:t>𝑡</m:t>
                          </m:r>
                        </m:sub>
                      </m:sSub>
                      <m:r>
                        <a:rPr lang="en-US" sz="3000" i="1">
                          <a:latin typeface="Cambria Math" panose="02040503050406030204" pitchFamily="18" charset="0"/>
                        </a:rPr>
                        <m:t>=</m:t>
                      </m:r>
                      <m:r>
                        <a:rPr lang="en-US" sz="3000" i="1">
                          <a:latin typeface="Cambria Math" panose="02040503050406030204" pitchFamily="18" charset="0"/>
                        </a:rPr>
                        <m:t>𝜎</m:t>
                      </m:r>
                      <m:r>
                        <a:rPr lang="en-US" sz="3000" i="1">
                          <a:latin typeface="Cambria Math" panose="02040503050406030204" pitchFamily="18" charset="0"/>
                        </a:rPr>
                        <m:t>(</m:t>
                      </m:r>
                      <m:r>
                        <a:rPr lang="en-US" sz="3000" i="1">
                          <a:latin typeface="Cambria Math" panose="02040503050406030204" pitchFamily="18" charset="0"/>
                        </a:rPr>
                        <m:t>𝑊𝑓</m:t>
                      </m:r>
                      <m:r>
                        <a:rPr lang="en-US" sz="3000" i="1">
                          <a:latin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h</m:t>
                              </m:r>
                            </m:e>
                            <m:sub>
                              <m:r>
                                <a:rPr lang="en-US" sz="3000" i="1">
                                  <a:latin typeface="Cambria Math" panose="02040503050406030204" pitchFamily="18" charset="0"/>
                                </a:rPr>
                                <m:t>𝑡</m:t>
                              </m:r>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𝑥</m:t>
                              </m:r>
                            </m:e>
                            <m:sub>
                              <m:r>
                                <a:rPr lang="en-US" sz="3000" i="1">
                                  <a:latin typeface="Cambria Math" panose="02040503050406030204" pitchFamily="18" charset="0"/>
                                </a:rPr>
                                <m:t>𝑡</m:t>
                              </m:r>
                            </m:sub>
                          </m:sSub>
                        </m:e>
                      </m:d>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𝑏</m:t>
                          </m:r>
                        </m:e>
                        <m:sub>
                          <m:r>
                            <a:rPr lang="en-US" sz="3000" i="1">
                              <a:latin typeface="Cambria Math" panose="02040503050406030204" pitchFamily="18" charset="0"/>
                            </a:rPr>
                            <m:t>𝑓</m:t>
                          </m:r>
                        </m:sub>
                      </m:sSub>
                      <m:r>
                        <a:rPr lang="en-US" sz="3000" i="1">
                          <a:latin typeface="Cambria Math" panose="02040503050406030204" pitchFamily="18" charset="0"/>
                        </a:rPr>
                        <m:t>​)</m:t>
                      </m:r>
                    </m:oMath>
                  </m:oMathPara>
                </a14:m>
                <a:endParaRPr lang="en-US" sz="3000"/>
              </a:p>
              <a:p>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𝑖</m:t>
                          </m:r>
                        </m:e>
                        <m:sub>
                          <m:r>
                            <a:rPr lang="en-US" sz="3000" i="1">
                              <a:latin typeface="Cambria Math" panose="02040503050406030204" pitchFamily="18" charset="0"/>
                            </a:rPr>
                            <m:t>𝑡</m:t>
                          </m:r>
                        </m:sub>
                      </m:sSub>
                      <m:r>
                        <a:rPr lang="en-US" sz="3000" i="1">
                          <a:latin typeface="Cambria Math" panose="02040503050406030204" pitchFamily="18" charset="0"/>
                        </a:rPr>
                        <m:t>=</m:t>
                      </m:r>
                      <m:r>
                        <m:rPr>
                          <m:sty m:val="p"/>
                        </m:rPr>
                        <a:rPr lang="en-US" sz="3000">
                          <a:latin typeface="Cambria Math" panose="02040503050406030204" pitchFamily="18" charset="0"/>
                        </a:rPr>
                        <m:t>σ</m:t>
                      </m:r>
                      <m:d>
                        <m:dPr>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𝑊</m:t>
                              </m:r>
                            </m:e>
                            <m:sub>
                              <m:r>
                                <a:rPr lang="en-US" sz="3000" i="1">
                                  <a:latin typeface="Cambria Math" panose="02040503050406030204" pitchFamily="18" charset="0"/>
                                </a:rPr>
                                <m:t>𝑖</m:t>
                              </m:r>
                            </m:sub>
                          </m:sSub>
                          <m:r>
                            <a:rPr lang="en-US" sz="3000">
                              <a:latin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h</m:t>
                                  </m:r>
                                </m:e>
                                <m:sub>
                                  <m:r>
                                    <a:rPr lang="en-US" sz="3000" i="1">
                                      <a:latin typeface="Cambria Math" panose="02040503050406030204" pitchFamily="18" charset="0"/>
                                    </a:rPr>
                                    <m:t>𝑡</m:t>
                                  </m:r>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𝑥</m:t>
                                  </m:r>
                                </m:e>
                                <m:sub>
                                  <m:r>
                                    <a:rPr lang="en-US" sz="3000" i="1">
                                      <a:latin typeface="Cambria Math" panose="02040503050406030204" pitchFamily="18" charset="0"/>
                                    </a:rPr>
                                    <m:t>𝑡</m:t>
                                  </m:r>
                                </m:sub>
                              </m:sSub>
                            </m:e>
                          </m:d>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𝑏</m:t>
                              </m:r>
                            </m:e>
                            <m:sub>
                              <m:r>
                                <a:rPr lang="en-US" sz="3000" i="1">
                                  <a:latin typeface="Cambria Math" panose="02040503050406030204" pitchFamily="18" charset="0"/>
                                </a:rPr>
                                <m:t>𝑖</m:t>
                              </m:r>
                            </m:sub>
                          </m:sSub>
                        </m:e>
                      </m:d>
                    </m:oMath>
                  </m:oMathPara>
                </a14:m>
                <a:endParaRPr lang="en-US" sz="3000"/>
              </a:p>
              <a:p>
                <a:pPr/>
                <a14:m>
                  <m:oMathPara xmlns:m="http://schemas.openxmlformats.org/officeDocument/2006/math">
                    <m:oMathParaPr>
                      <m:jc m:val="centerGroup"/>
                    </m:oMathParaPr>
                    <m:oMath xmlns:m="http://schemas.openxmlformats.org/officeDocument/2006/math">
                      <m:acc>
                        <m:accPr>
                          <m:chr m:val="̃"/>
                          <m:ctrlPr>
                            <a:rPr lang="en-US" sz="3000" i="1">
                              <a:latin typeface="Cambria Math" panose="02040503050406030204" pitchFamily="18" charset="0"/>
                            </a:rPr>
                          </m:ctrlPr>
                        </m:accPr>
                        <m:e>
                          <m:sSub>
                            <m:sSubPr>
                              <m:ctrlPr>
                                <a:rPr lang="en-US" sz="3000" i="1">
                                  <a:latin typeface="Cambria Math" panose="02040503050406030204" pitchFamily="18" charset="0"/>
                                </a:rPr>
                              </m:ctrlPr>
                            </m:sSubPr>
                            <m:e>
                              <m:r>
                                <a:rPr lang="en-US" sz="3000" i="1">
                                  <a:latin typeface="Cambria Math" panose="02040503050406030204" pitchFamily="18" charset="0"/>
                                </a:rPr>
                                <m:t>𝐶</m:t>
                              </m:r>
                            </m:e>
                            <m:sub>
                              <m:r>
                                <a:rPr lang="en-US" sz="3000" i="1">
                                  <a:latin typeface="Cambria Math" panose="02040503050406030204" pitchFamily="18" charset="0"/>
                                </a:rPr>
                                <m:t>𝑡</m:t>
                              </m:r>
                            </m:sub>
                          </m:sSub>
                        </m:e>
                      </m:acc>
                      <m:r>
                        <a:rPr lang="en-US" sz="3000" i="1">
                          <a:latin typeface="Cambria Math" panose="02040503050406030204" pitchFamily="18" charset="0"/>
                        </a:rPr>
                        <m:t>=</m:t>
                      </m:r>
                      <m:func>
                        <m:funcPr>
                          <m:ctrlPr>
                            <a:rPr lang="en-US" sz="3000" i="1">
                              <a:latin typeface="Cambria Math" panose="02040503050406030204" pitchFamily="18" charset="0"/>
                            </a:rPr>
                          </m:ctrlPr>
                        </m:funcPr>
                        <m:fName>
                          <m:r>
                            <m:rPr>
                              <m:sty m:val="p"/>
                            </m:rPr>
                            <a:rPr lang="en-US" sz="3000">
                              <a:latin typeface="Cambria Math" panose="02040503050406030204" pitchFamily="18" charset="0"/>
                            </a:rPr>
                            <m:t>tanh</m:t>
                          </m:r>
                        </m:fName>
                        <m:e>
                          <m:d>
                            <m:dPr>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𝑊</m:t>
                                  </m:r>
                                </m:e>
                                <m:sub>
                                  <m:r>
                                    <a:rPr lang="en-US" sz="3000" i="1">
                                      <a:latin typeface="Cambria Math" panose="02040503050406030204" pitchFamily="18" charset="0"/>
                                    </a:rPr>
                                    <m:t>𝐶</m:t>
                                  </m:r>
                                </m:sub>
                              </m:sSub>
                              <m:r>
                                <a:rPr lang="en-US" sz="3000">
                                  <a:latin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h</m:t>
                                      </m:r>
                                    </m:e>
                                    <m:sub>
                                      <m:r>
                                        <a:rPr lang="en-US" sz="3000" i="1">
                                          <a:latin typeface="Cambria Math" panose="02040503050406030204" pitchFamily="18" charset="0"/>
                                        </a:rPr>
                                        <m:t>𝑡</m:t>
                                      </m:r>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𝑥</m:t>
                                      </m:r>
                                    </m:e>
                                    <m:sub>
                                      <m:r>
                                        <a:rPr lang="en-US" sz="3000" i="1">
                                          <a:latin typeface="Cambria Math" panose="02040503050406030204" pitchFamily="18" charset="0"/>
                                        </a:rPr>
                                        <m:t>𝑡</m:t>
                                      </m:r>
                                    </m:sub>
                                  </m:sSub>
                                </m:e>
                              </m:d>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𝑏</m:t>
                                  </m:r>
                                </m:e>
                                <m:sub>
                                  <m:r>
                                    <a:rPr lang="en-US" sz="3000" i="1">
                                      <a:latin typeface="Cambria Math" panose="02040503050406030204" pitchFamily="18" charset="0"/>
                                    </a:rPr>
                                    <m:t>𝐶</m:t>
                                  </m:r>
                                </m:sub>
                              </m:sSub>
                            </m:e>
                          </m:d>
                        </m:e>
                      </m:func>
                      <m:r>
                        <m:rPr>
                          <m:nor/>
                        </m:rPr>
                        <a:rPr lang="en-US" sz="3000"/>
                        <m:t>		(3)</m:t>
                      </m:r>
                    </m:oMath>
                  </m:oMathPara>
                </a14:m>
                <a:endParaRPr lang="en-US" sz="3000"/>
              </a:p>
              <a:p>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𝐶</m:t>
                          </m:r>
                        </m:e>
                        <m:sub>
                          <m:r>
                            <a:rPr lang="en-US" sz="3000" i="1">
                              <a:latin typeface="Cambria Math" panose="02040503050406030204" pitchFamily="18" charset="0"/>
                            </a:rPr>
                            <m:t>𝑡</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𝑓</m:t>
                          </m:r>
                        </m:e>
                        <m:sub>
                          <m:r>
                            <a:rPr lang="en-US" sz="3000" i="1">
                              <a:latin typeface="Cambria Math" panose="02040503050406030204" pitchFamily="18" charset="0"/>
                            </a:rPr>
                            <m:t>𝑡</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𝐶</m:t>
                          </m:r>
                        </m:e>
                        <m:sub>
                          <m:r>
                            <a:rPr lang="en-US" sz="3000" i="1">
                              <a:latin typeface="Cambria Math" panose="02040503050406030204" pitchFamily="18" charset="0"/>
                            </a:rPr>
                            <m:t>𝑡</m:t>
                          </m:r>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𝑖</m:t>
                          </m:r>
                        </m:e>
                        <m:sub>
                          <m:r>
                            <a:rPr lang="en-US" sz="3000" i="1">
                              <a:latin typeface="Cambria Math" panose="02040503050406030204" pitchFamily="18" charset="0"/>
                            </a:rPr>
                            <m:t>𝑡</m:t>
                          </m:r>
                        </m:sub>
                      </m:sSub>
                      <m:r>
                        <a:rPr lang="en-US" sz="3000" i="1">
                          <a:latin typeface="Cambria Math" panose="02040503050406030204" pitchFamily="18" charset="0"/>
                        </a:rPr>
                        <m:t>∗</m:t>
                      </m:r>
                      <m:acc>
                        <m:accPr>
                          <m:chr m:val="̃"/>
                          <m:ctrlPr>
                            <a:rPr lang="en-US" sz="3000" i="1">
                              <a:latin typeface="Cambria Math" panose="02040503050406030204" pitchFamily="18" charset="0"/>
                            </a:rPr>
                          </m:ctrlPr>
                        </m:accPr>
                        <m:e>
                          <m:sSub>
                            <m:sSubPr>
                              <m:ctrlPr>
                                <a:rPr lang="en-US" sz="3000" i="1">
                                  <a:latin typeface="Cambria Math" panose="02040503050406030204" pitchFamily="18" charset="0"/>
                                </a:rPr>
                              </m:ctrlPr>
                            </m:sSubPr>
                            <m:e>
                              <m:r>
                                <a:rPr lang="en-US" sz="3000" i="1">
                                  <a:latin typeface="Cambria Math" panose="02040503050406030204" pitchFamily="18" charset="0"/>
                                </a:rPr>
                                <m:t>𝐶</m:t>
                              </m:r>
                            </m:e>
                            <m:sub>
                              <m:r>
                                <a:rPr lang="en-US" sz="3000" i="1">
                                  <a:latin typeface="Cambria Math" panose="02040503050406030204" pitchFamily="18" charset="0"/>
                                </a:rPr>
                                <m:t>𝑡</m:t>
                              </m:r>
                            </m:sub>
                          </m:sSub>
                        </m:e>
                      </m:acc>
                    </m:oMath>
                  </m:oMathPara>
                </a14:m>
                <a:endParaRPr lang="en-US" sz="3000"/>
              </a:p>
              <a:p>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𝑜</m:t>
                          </m:r>
                        </m:e>
                        <m:sub>
                          <m:r>
                            <a:rPr lang="en-US" sz="3000" i="1">
                              <a:latin typeface="Cambria Math" panose="02040503050406030204" pitchFamily="18" charset="0"/>
                            </a:rPr>
                            <m:t>𝑡</m:t>
                          </m:r>
                        </m:sub>
                      </m:sSub>
                      <m:r>
                        <a:rPr lang="en-US" sz="3000" i="1">
                          <a:latin typeface="Cambria Math" panose="02040503050406030204" pitchFamily="18" charset="0"/>
                        </a:rPr>
                        <m:t>=</m:t>
                      </m:r>
                      <m:r>
                        <m:rPr>
                          <m:sty m:val="p"/>
                        </m:rPr>
                        <a:rPr lang="en-US" sz="3000">
                          <a:latin typeface="Cambria Math" panose="02040503050406030204" pitchFamily="18" charset="0"/>
                        </a:rPr>
                        <m:t>σ</m:t>
                      </m:r>
                      <m:d>
                        <m:dPr>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𝑊</m:t>
                              </m:r>
                            </m:e>
                            <m:sub>
                              <m:r>
                                <a:rPr lang="en-US" sz="3000" i="1">
                                  <a:latin typeface="Cambria Math" panose="02040503050406030204" pitchFamily="18" charset="0"/>
                                </a:rPr>
                                <m:t>𝑜</m:t>
                              </m:r>
                            </m:sub>
                          </m:sSub>
                          <m:r>
                            <a:rPr lang="en-US" sz="3000">
                              <a:latin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h</m:t>
                                  </m:r>
                                </m:e>
                                <m:sub>
                                  <m:r>
                                    <a:rPr lang="en-US" sz="3000" i="1">
                                      <a:latin typeface="Cambria Math" panose="02040503050406030204" pitchFamily="18" charset="0"/>
                                    </a:rPr>
                                    <m:t>𝑡</m:t>
                                  </m:r>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𝑥</m:t>
                                  </m:r>
                                </m:e>
                                <m:sub>
                                  <m:r>
                                    <a:rPr lang="en-US" sz="3000" i="1">
                                      <a:latin typeface="Cambria Math" panose="02040503050406030204" pitchFamily="18" charset="0"/>
                                    </a:rPr>
                                    <m:t>𝑡</m:t>
                                  </m:r>
                                </m:sub>
                              </m:sSub>
                            </m:e>
                          </m:d>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𝑏</m:t>
                              </m:r>
                            </m:e>
                            <m:sub>
                              <m:r>
                                <a:rPr lang="en-US" sz="3000" i="1">
                                  <a:latin typeface="Cambria Math" panose="02040503050406030204" pitchFamily="18" charset="0"/>
                                </a:rPr>
                                <m:t>𝑜</m:t>
                              </m:r>
                            </m:sub>
                          </m:sSub>
                        </m:e>
                      </m:d>
                    </m:oMath>
                  </m:oMathPara>
                </a14:m>
                <a:endParaRPr lang="en-US" sz="3000"/>
              </a:p>
              <a:p>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h</m:t>
                          </m:r>
                        </m:e>
                        <m:sub>
                          <m:r>
                            <a:rPr lang="en-US" sz="3000" i="1">
                              <a:latin typeface="Cambria Math" panose="02040503050406030204" pitchFamily="18" charset="0"/>
                            </a:rPr>
                            <m:t>𝑡</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𝑜</m:t>
                          </m:r>
                        </m:e>
                        <m:sub>
                          <m:r>
                            <a:rPr lang="en-US" sz="3000" i="1">
                              <a:latin typeface="Cambria Math" panose="02040503050406030204" pitchFamily="18" charset="0"/>
                            </a:rPr>
                            <m:t>𝑡</m:t>
                          </m:r>
                        </m:sub>
                      </m:sSub>
                      <m:r>
                        <a:rPr lang="en-US" sz="3000" i="1">
                          <a:latin typeface="Cambria Math" panose="02040503050406030204" pitchFamily="18" charset="0"/>
                        </a:rPr>
                        <m:t>∗</m:t>
                      </m:r>
                      <m:func>
                        <m:funcPr>
                          <m:ctrlPr>
                            <a:rPr lang="en-US" sz="3000" i="1">
                              <a:latin typeface="Cambria Math" panose="02040503050406030204" pitchFamily="18" charset="0"/>
                            </a:rPr>
                          </m:ctrlPr>
                        </m:funcPr>
                        <m:fName>
                          <m:r>
                            <m:rPr>
                              <m:sty m:val="p"/>
                            </m:rPr>
                            <a:rPr lang="en-US" sz="3000">
                              <a:latin typeface="Cambria Math" panose="02040503050406030204" pitchFamily="18" charset="0"/>
                            </a:rPr>
                            <m:t>tanh</m:t>
                          </m:r>
                        </m:fName>
                        <m:e>
                          <m:d>
                            <m:dPr>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𝐶</m:t>
                                  </m:r>
                                </m:e>
                                <m:sub>
                                  <m:r>
                                    <a:rPr lang="en-US" sz="3000" i="1">
                                      <a:latin typeface="Cambria Math" panose="02040503050406030204" pitchFamily="18" charset="0"/>
                                    </a:rPr>
                                    <m:t>𝑡</m:t>
                                  </m:r>
                                </m:sub>
                              </m:sSub>
                            </m:e>
                          </m:d>
                        </m:e>
                      </m:func>
                    </m:oMath>
                  </m:oMathPara>
                </a14:m>
                <a:endParaRPr lang="en-US" sz="3000"/>
              </a:p>
            </p:txBody>
          </p:sp>
        </mc:Choice>
        <mc:Fallback>
          <p:sp>
            <p:nvSpPr>
              <p:cNvPr id="15" name="TextBox 9">
                <a:extLst>
                  <a:ext uri="{FF2B5EF4-FFF2-40B4-BE49-F238E27FC236}">
                    <a16:creationId xmlns:a16="http://schemas.microsoft.com/office/drawing/2014/main" id="{B018269C-3A36-9FE8-7699-61E2FFA67094}"/>
                  </a:ext>
                </a:extLst>
              </p:cNvPr>
              <p:cNvSpPr txBox="1">
                <a:spLocks noRot="1" noChangeAspect="1" noMove="1" noResize="1" noEditPoints="1" noAdjustHandles="1" noChangeArrowheads="1" noChangeShapeType="1" noTextEdit="1"/>
              </p:cNvSpPr>
              <p:nvPr/>
            </p:nvSpPr>
            <p:spPr>
              <a:xfrm>
                <a:off x="7405458" y="2750410"/>
                <a:ext cx="9620958" cy="6725111"/>
              </a:xfrm>
              <a:prstGeom prst="rect">
                <a:avLst/>
              </a:prstGeom>
              <a:blipFill>
                <a:blip r:embed="rId5"/>
                <a:stretch>
                  <a:fillRect l="-2281" t="-272" r="-253"/>
                </a:stretch>
              </a:blipFill>
            </p:spPr>
            <p:txBody>
              <a:bodyPr/>
              <a:lstStyle/>
              <a:p>
                <a:r>
                  <a:rPr lang="en-US">
                    <a:noFill/>
                  </a:rPr>
                  <a:t> </a:t>
                </a:r>
              </a:p>
            </p:txBody>
          </p:sp>
        </mc:Fallback>
      </mc:AlternateContent>
    </p:spTree>
    <p:extLst>
      <p:ext uri="{BB962C8B-B14F-4D97-AF65-F5344CB8AC3E}">
        <p14:creationId xmlns:p14="http://schemas.microsoft.com/office/powerpoint/2010/main" val="2369048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1DDEBB8F-CB0B-8882-829A-5B8AF7448338}"/>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4C27DC35-372E-1CAB-12E8-403E069AD076}"/>
              </a:ext>
            </a:extLst>
          </p:cNvPr>
          <p:cNvGrpSpPr/>
          <p:nvPr/>
        </p:nvGrpSpPr>
        <p:grpSpPr>
          <a:xfrm>
            <a:off x="621865" y="2476500"/>
            <a:ext cx="5397935" cy="7218126"/>
            <a:chOff x="0" y="0"/>
            <a:chExt cx="2986989" cy="3693145"/>
          </a:xfrm>
        </p:grpSpPr>
        <p:sp>
          <p:nvSpPr>
            <p:cNvPr id="7" name="Freeform 7">
              <a:extLst>
                <a:ext uri="{FF2B5EF4-FFF2-40B4-BE49-F238E27FC236}">
                  <a16:creationId xmlns:a16="http://schemas.microsoft.com/office/drawing/2014/main" id="{36C44D37-6DD6-E7BA-CC80-D168004950C7}"/>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2EB3DAEA-E3E2-4E05-B63B-3BB4BC8F883E}"/>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sp>
        <p:nvSpPr>
          <p:cNvPr id="10" name="TextBox 10">
            <a:extLst>
              <a:ext uri="{FF2B5EF4-FFF2-40B4-BE49-F238E27FC236}">
                <a16:creationId xmlns:a16="http://schemas.microsoft.com/office/drawing/2014/main" id="{4D1A716C-FB1D-E57B-CF45-C8655548F06A}"/>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grpSp>
        <p:nvGrpSpPr>
          <p:cNvPr id="11" name="Group 6">
            <a:extLst>
              <a:ext uri="{FF2B5EF4-FFF2-40B4-BE49-F238E27FC236}">
                <a16:creationId xmlns:a16="http://schemas.microsoft.com/office/drawing/2014/main" id="{363ED30D-AA70-5520-30A6-4E5BAFE2FCAB}"/>
              </a:ext>
            </a:extLst>
          </p:cNvPr>
          <p:cNvGrpSpPr/>
          <p:nvPr/>
        </p:nvGrpSpPr>
        <p:grpSpPr>
          <a:xfrm>
            <a:off x="561726" y="557775"/>
            <a:ext cx="17164548" cy="1728107"/>
            <a:chOff x="0" y="0"/>
            <a:chExt cx="6964336" cy="701161"/>
          </a:xfrm>
        </p:grpSpPr>
        <p:sp>
          <p:nvSpPr>
            <p:cNvPr id="12" name="Freeform 7">
              <a:extLst>
                <a:ext uri="{FF2B5EF4-FFF2-40B4-BE49-F238E27FC236}">
                  <a16:creationId xmlns:a16="http://schemas.microsoft.com/office/drawing/2014/main" id="{FE46D55D-067B-732E-648F-889AD6DF7BCA}"/>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575FCE6E-DECC-6373-80F8-0B52EA9418D4}"/>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35E40783-E532-20C5-C621-0E8584C41117}"/>
              </a:ext>
            </a:extLst>
          </p:cNvPr>
          <p:cNvSpPr txBox="1"/>
          <p:nvPr/>
        </p:nvSpPr>
        <p:spPr>
          <a:xfrm>
            <a:off x="561726" y="647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 Huấn luyện mô hình</a:t>
            </a:r>
          </a:p>
        </p:txBody>
      </p:sp>
      <p:pic>
        <p:nvPicPr>
          <p:cNvPr id="30" name="Picture 29" descr="A diagram of data and graphs&#10;&#10;AI-generated content may be incorrect.">
            <a:extLst>
              <a:ext uri="{FF2B5EF4-FFF2-40B4-BE49-F238E27FC236}">
                <a16:creationId xmlns:a16="http://schemas.microsoft.com/office/drawing/2014/main" id="{DDBE33FD-AF4C-1402-78E5-690A9A12394A}"/>
              </a:ext>
            </a:extLst>
          </p:cNvPr>
          <p:cNvPicPr>
            <a:picLocks noChangeAspect="1"/>
          </p:cNvPicPr>
          <p:nvPr/>
        </p:nvPicPr>
        <p:blipFill>
          <a:blip r:embed="rId2"/>
          <a:stretch>
            <a:fillRect/>
          </a:stretch>
        </p:blipFill>
        <p:spPr>
          <a:xfrm>
            <a:off x="-3886200" y="7366851"/>
            <a:ext cx="3601720" cy="2870200"/>
          </a:xfrm>
          <a:prstGeom prst="rect">
            <a:avLst/>
          </a:prstGeom>
        </p:spPr>
      </p:pic>
      <p:pic>
        <p:nvPicPr>
          <p:cNvPr id="31" name="Picture 30" descr="A diagram of a tree&#10;&#10;AI-generated content may be incorrect.">
            <a:extLst>
              <a:ext uri="{FF2B5EF4-FFF2-40B4-BE49-F238E27FC236}">
                <a16:creationId xmlns:a16="http://schemas.microsoft.com/office/drawing/2014/main" id="{BAFF5538-1565-DCBA-C527-2F961427D403}"/>
              </a:ext>
            </a:extLst>
          </p:cNvPr>
          <p:cNvPicPr>
            <a:picLocks noChangeAspect="1"/>
          </p:cNvPicPr>
          <p:nvPr/>
        </p:nvPicPr>
        <p:blipFill>
          <a:blip r:embed="rId3"/>
          <a:stretch>
            <a:fillRect/>
          </a:stretch>
        </p:blipFill>
        <p:spPr>
          <a:xfrm>
            <a:off x="-4020188" y="2285882"/>
            <a:ext cx="3601720" cy="2847340"/>
          </a:xfrm>
          <a:prstGeom prst="rect">
            <a:avLst/>
          </a:prstGeom>
        </p:spPr>
      </p:pic>
      <p:pic>
        <p:nvPicPr>
          <p:cNvPr id="32" name="Picture 31" descr="A diagram of a flowchart&#10;&#10;AI-generated content may be incorrect.">
            <a:extLst>
              <a:ext uri="{FF2B5EF4-FFF2-40B4-BE49-F238E27FC236}">
                <a16:creationId xmlns:a16="http://schemas.microsoft.com/office/drawing/2014/main" id="{01824264-4966-0C63-A742-B6BA4A965565}"/>
              </a:ext>
            </a:extLst>
          </p:cNvPr>
          <p:cNvPicPr>
            <a:picLocks noChangeAspect="1"/>
          </p:cNvPicPr>
          <p:nvPr/>
        </p:nvPicPr>
        <p:blipFill>
          <a:blip r:embed="rId4"/>
          <a:stretch>
            <a:fillRect/>
          </a:stretch>
        </p:blipFill>
        <p:spPr>
          <a:xfrm>
            <a:off x="945971" y="4000500"/>
            <a:ext cx="4959901" cy="4439336"/>
          </a:xfrm>
          <a:prstGeom prst="rect">
            <a:avLst/>
          </a:prstGeom>
        </p:spPr>
      </p:pic>
      <p:grpSp>
        <p:nvGrpSpPr>
          <p:cNvPr id="3" name="Group 6">
            <a:extLst>
              <a:ext uri="{FF2B5EF4-FFF2-40B4-BE49-F238E27FC236}">
                <a16:creationId xmlns:a16="http://schemas.microsoft.com/office/drawing/2014/main" id="{7FB0DD01-16D8-CEDA-B9BB-5C0C3A5EBFEA}"/>
              </a:ext>
            </a:extLst>
          </p:cNvPr>
          <p:cNvGrpSpPr/>
          <p:nvPr/>
        </p:nvGrpSpPr>
        <p:grpSpPr>
          <a:xfrm>
            <a:off x="6705600" y="2501322"/>
            <a:ext cx="11020674" cy="7218126"/>
            <a:chOff x="0" y="0"/>
            <a:chExt cx="2986989" cy="3693145"/>
          </a:xfrm>
        </p:grpSpPr>
        <p:sp>
          <p:nvSpPr>
            <p:cNvPr id="4" name="Freeform 7">
              <a:extLst>
                <a:ext uri="{FF2B5EF4-FFF2-40B4-BE49-F238E27FC236}">
                  <a16:creationId xmlns:a16="http://schemas.microsoft.com/office/drawing/2014/main" id="{AE77E014-DD27-075C-6BE6-17156B435759}"/>
                </a:ext>
              </a:extLst>
            </p:cNvPr>
            <p:cNvSpPr/>
            <p:nvPr/>
          </p:nvSpPr>
          <p:spPr>
            <a:xfrm>
              <a:off x="12700" y="12700"/>
              <a:ext cx="2919679" cy="3624565"/>
            </a:xfrm>
            <a:custGeom>
              <a:avLst/>
              <a:gdLst/>
              <a:ahLst/>
              <a:cxnLst/>
              <a:rect l="l" t="t" r="r" b="b"/>
              <a:pathLst>
                <a:path w="2919679" h="3624565">
                  <a:moveTo>
                    <a:pt x="43180" y="3624565"/>
                  </a:moveTo>
                  <a:lnTo>
                    <a:pt x="2876499" y="3624565"/>
                  </a:lnTo>
                  <a:cubicBezTo>
                    <a:pt x="2900629" y="3624565"/>
                    <a:pt x="2919679" y="3605515"/>
                    <a:pt x="2919679" y="3581385"/>
                  </a:cubicBezTo>
                  <a:lnTo>
                    <a:pt x="2919679" y="43180"/>
                  </a:lnTo>
                  <a:cubicBezTo>
                    <a:pt x="2919679" y="19050"/>
                    <a:pt x="2900629" y="0"/>
                    <a:pt x="2876499"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5" name="Freeform 8">
              <a:extLst>
                <a:ext uri="{FF2B5EF4-FFF2-40B4-BE49-F238E27FC236}">
                  <a16:creationId xmlns:a16="http://schemas.microsoft.com/office/drawing/2014/main" id="{F1A96739-17AC-5AA2-2FA2-D3D95CFEBE77}"/>
                </a:ext>
              </a:extLst>
            </p:cNvPr>
            <p:cNvSpPr/>
            <p:nvPr/>
          </p:nvSpPr>
          <p:spPr>
            <a:xfrm>
              <a:off x="0" y="0"/>
              <a:ext cx="2986989" cy="3693145"/>
            </a:xfrm>
            <a:custGeom>
              <a:avLst/>
              <a:gdLst/>
              <a:ahLst/>
              <a:cxnLst/>
              <a:rect l="l" t="t" r="r" b="b"/>
              <a:pathLst>
                <a:path w="2986989" h="3693145">
                  <a:moveTo>
                    <a:pt x="2943809" y="44450"/>
                  </a:moveTo>
                  <a:cubicBezTo>
                    <a:pt x="2938729" y="19050"/>
                    <a:pt x="2915869" y="0"/>
                    <a:pt x="2889199"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31109" y="3693145"/>
                  </a:lnTo>
                  <a:cubicBezTo>
                    <a:pt x="2961589" y="3693145"/>
                    <a:pt x="2986989" y="3667745"/>
                    <a:pt x="2986989" y="3637265"/>
                  </a:cubicBezTo>
                  <a:lnTo>
                    <a:pt x="2986989" y="99060"/>
                  </a:lnTo>
                  <a:cubicBezTo>
                    <a:pt x="2986989" y="72390"/>
                    <a:pt x="2969209" y="50800"/>
                    <a:pt x="2943809" y="44450"/>
                  </a:cubicBezTo>
                  <a:close/>
                  <a:moveTo>
                    <a:pt x="12700" y="3594085"/>
                  </a:moveTo>
                  <a:lnTo>
                    <a:pt x="12700" y="55880"/>
                  </a:lnTo>
                  <a:cubicBezTo>
                    <a:pt x="12700" y="31750"/>
                    <a:pt x="31750" y="12700"/>
                    <a:pt x="55880" y="12700"/>
                  </a:cubicBezTo>
                  <a:lnTo>
                    <a:pt x="2889199" y="12700"/>
                  </a:lnTo>
                  <a:cubicBezTo>
                    <a:pt x="2913329" y="12700"/>
                    <a:pt x="2932379" y="31750"/>
                    <a:pt x="2932379" y="55880"/>
                  </a:cubicBezTo>
                  <a:lnTo>
                    <a:pt x="2932379" y="3594085"/>
                  </a:lnTo>
                  <a:cubicBezTo>
                    <a:pt x="2932379" y="3618215"/>
                    <a:pt x="2913329" y="3637265"/>
                    <a:pt x="2889199"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aphicFrame>
        <p:nvGraphicFramePr>
          <p:cNvPr id="9" name="Table 8">
            <a:extLst>
              <a:ext uri="{FF2B5EF4-FFF2-40B4-BE49-F238E27FC236}">
                <a16:creationId xmlns:a16="http://schemas.microsoft.com/office/drawing/2014/main" id="{481D501C-0AC6-8D8F-0B79-10EF749A79A7}"/>
              </a:ext>
            </a:extLst>
          </p:cNvPr>
          <p:cNvGraphicFramePr>
            <a:graphicFrameLocks noGrp="1"/>
          </p:cNvGraphicFramePr>
          <p:nvPr>
            <p:extLst>
              <p:ext uri="{D42A27DB-BD31-4B8C-83A1-F6EECF244321}">
                <p14:modId xmlns:p14="http://schemas.microsoft.com/office/powerpoint/2010/main" val="2196055120"/>
              </p:ext>
            </p:extLst>
          </p:nvPr>
        </p:nvGraphicFramePr>
        <p:xfrm>
          <a:off x="7052627" y="2712310"/>
          <a:ext cx="10206673" cy="6698389"/>
        </p:xfrm>
        <a:graphic>
          <a:graphicData uri="http://schemas.openxmlformats.org/drawingml/2006/table">
            <a:tbl>
              <a:tblPr firstRow="1" firstCol="1" bandRow="1">
                <a:tableStyleId>{5C22544A-7EE6-4342-B048-85BDC9FD1C3A}</a:tableStyleId>
              </a:tblPr>
              <a:tblGrid>
                <a:gridCol w="5342737">
                  <a:extLst>
                    <a:ext uri="{9D8B030D-6E8A-4147-A177-3AD203B41FA5}">
                      <a16:colId xmlns:a16="http://schemas.microsoft.com/office/drawing/2014/main" val="1516826573"/>
                    </a:ext>
                  </a:extLst>
                </a:gridCol>
                <a:gridCol w="4863936">
                  <a:extLst>
                    <a:ext uri="{9D8B030D-6E8A-4147-A177-3AD203B41FA5}">
                      <a16:colId xmlns:a16="http://schemas.microsoft.com/office/drawing/2014/main" val="2714424326"/>
                    </a:ext>
                  </a:extLst>
                </a:gridCol>
              </a:tblGrid>
              <a:tr h="1642949">
                <a:tc>
                  <a:txBody>
                    <a:bodyPr/>
                    <a:lstStyle/>
                    <a:p>
                      <a:pPr marL="0" marR="0" indent="457200" algn="just">
                        <a:lnSpc>
                          <a:spcPct val="150000"/>
                        </a:lnSpc>
                        <a:buNone/>
                      </a:pPr>
                      <a:r>
                        <a:rPr lang="en-US" sz="4000" kern="100">
                          <a:effectLst/>
                        </a:rPr>
                        <a:t>Các chỉ số đánh giá</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457200" algn="just">
                        <a:lnSpc>
                          <a:spcPct val="150000"/>
                        </a:lnSpc>
                        <a:buNone/>
                      </a:pPr>
                      <a:r>
                        <a:rPr lang="en-US" sz="4000" kern="100">
                          <a:effectLst/>
                        </a:rPr>
                        <a:t>Giá trị</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75699344"/>
                  </a:ext>
                </a:extLst>
              </a:tr>
              <a:tr h="1642949">
                <a:tc>
                  <a:txBody>
                    <a:bodyPr/>
                    <a:lstStyle/>
                    <a:p>
                      <a:pPr marL="0" marR="0" indent="457200" algn="just">
                        <a:lnSpc>
                          <a:spcPct val="150000"/>
                        </a:lnSpc>
                        <a:buNone/>
                      </a:pPr>
                      <a:r>
                        <a:rPr lang="en-US" sz="4000" kern="100">
                          <a:effectLst/>
                        </a:rPr>
                        <a:t>RMSE</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457200" algn="just">
                        <a:lnSpc>
                          <a:spcPct val="150000"/>
                        </a:lnSpc>
                        <a:buNone/>
                      </a:pPr>
                      <a:r>
                        <a:rPr lang="en-US" sz="4000" kern="100">
                          <a:effectLst/>
                        </a:rPr>
                        <a:t>2001.343747  </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9968082"/>
                  </a:ext>
                </a:extLst>
              </a:tr>
              <a:tr h="1642949">
                <a:tc>
                  <a:txBody>
                    <a:bodyPr/>
                    <a:lstStyle/>
                    <a:p>
                      <a:pPr marL="0" marR="0" indent="457200" algn="just">
                        <a:lnSpc>
                          <a:spcPct val="150000"/>
                        </a:lnSpc>
                        <a:buNone/>
                      </a:pPr>
                      <a:r>
                        <a:rPr lang="en-US" sz="4000" kern="100">
                          <a:effectLst/>
                        </a:rPr>
                        <a:t>MAE</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457200" algn="just">
                        <a:lnSpc>
                          <a:spcPct val="150000"/>
                        </a:lnSpc>
                        <a:buNone/>
                      </a:pPr>
                      <a:r>
                        <a:rPr lang="en-US" sz="4000" kern="100">
                          <a:effectLst/>
                        </a:rPr>
                        <a:t>1598.599768  </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64903045"/>
                  </a:ext>
                </a:extLst>
              </a:tr>
              <a:tr h="1769542">
                <a:tc>
                  <a:txBody>
                    <a:bodyPr/>
                    <a:lstStyle/>
                    <a:p>
                      <a:pPr marL="0" marR="0" indent="457200" algn="just">
                        <a:lnSpc>
                          <a:spcPct val="150000"/>
                        </a:lnSpc>
                        <a:buNone/>
                      </a:pPr>
                      <a:r>
                        <a:rPr lang="en-US" sz="4000" kern="100">
                          <a:effectLst/>
                        </a:rPr>
                        <a:t>R²</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457200" algn="just">
                        <a:lnSpc>
                          <a:spcPct val="150000"/>
                        </a:lnSpc>
                        <a:buNone/>
                      </a:pPr>
                      <a:r>
                        <a:rPr lang="en-US" sz="4000" kern="100">
                          <a:effectLst/>
                        </a:rPr>
                        <a:t>0.833738</a:t>
                      </a:r>
                      <a:endParaRPr lang="en-US" sz="4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4754666"/>
                  </a:ext>
                </a:extLst>
              </a:tr>
            </a:tbl>
          </a:graphicData>
        </a:graphic>
      </p:graphicFrame>
      <p:sp>
        <p:nvSpPr>
          <p:cNvPr id="15" name="TextBox 9">
            <a:extLst>
              <a:ext uri="{FF2B5EF4-FFF2-40B4-BE49-F238E27FC236}">
                <a16:creationId xmlns:a16="http://schemas.microsoft.com/office/drawing/2014/main" id="{46E6CDD5-3610-76B2-DAC2-2C1684E46319}"/>
              </a:ext>
            </a:extLst>
          </p:cNvPr>
          <p:cNvSpPr txBox="1"/>
          <p:nvPr/>
        </p:nvSpPr>
        <p:spPr>
          <a:xfrm>
            <a:off x="2743200" y="2712310"/>
            <a:ext cx="6595518" cy="642484"/>
          </a:xfrm>
          <a:prstGeom prst="rect">
            <a:avLst/>
          </a:prstGeom>
        </p:spPr>
        <p:txBody>
          <a:bodyPr wrap="square" lIns="0" tIns="0" rIns="0" bIns="0" rtlCol="0" anchor="t">
            <a:spAutoFit/>
          </a:bodyPr>
          <a:lstStyle/>
          <a:p>
            <a:pPr algn="l">
              <a:lnSpc>
                <a:spcPts val="5040"/>
              </a:lnSpc>
            </a:pPr>
            <a:r>
              <a:rPr lang="en-US" sz="4200">
                <a:solidFill>
                  <a:srgbClr val="000000"/>
                </a:solidFill>
                <a:latin typeface="Sabon Next LT" panose="02000500000000000000" pitchFamily="2" charset="0"/>
                <a:ea typeface="KG Primary Penmanship"/>
                <a:cs typeface="Sabon Next LT" panose="02000500000000000000" pitchFamily="2" charset="0"/>
                <a:sym typeface="KG Primary Penmanship"/>
              </a:rPr>
              <a:t>LSTM</a:t>
            </a:r>
          </a:p>
        </p:txBody>
      </p:sp>
    </p:spTree>
    <p:extLst>
      <p:ext uri="{BB962C8B-B14F-4D97-AF65-F5344CB8AC3E}">
        <p14:creationId xmlns:p14="http://schemas.microsoft.com/office/powerpoint/2010/main" val="2726369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p:cNvGrpSpPr/>
        <p:nvPr/>
      </p:nvGrpSpPr>
      <p:grpSpPr>
        <a:xfrm>
          <a:off x="0" y="0"/>
          <a:ext cx="0" cy="0"/>
          <a:chOff x="0" y="0"/>
          <a:chExt cx="0" cy="0"/>
        </a:xfrm>
      </p:grpSpPr>
      <p:grpSp>
        <p:nvGrpSpPr>
          <p:cNvPr id="2" name="Group 2"/>
          <p:cNvGrpSpPr/>
          <p:nvPr/>
        </p:nvGrpSpPr>
        <p:grpSpPr>
          <a:xfrm>
            <a:off x="561726" y="1790699"/>
            <a:ext cx="9253185" cy="7903927"/>
            <a:chOff x="0" y="0"/>
            <a:chExt cx="3754383" cy="3693145"/>
          </a:xfrm>
        </p:grpSpPr>
        <p:sp>
          <p:nvSpPr>
            <p:cNvPr id="3" name="Freeform 3"/>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6" name="Group 6"/>
          <p:cNvGrpSpPr/>
          <p:nvPr/>
        </p:nvGrpSpPr>
        <p:grpSpPr>
          <a:xfrm>
            <a:off x="10286183" y="1817879"/>
            <a:ext cx="7454100" cy="7876748"/>
            <a:chOff x="0" y="0"/>
            <a:chExt cx="3024423" cy="3693145"/>
          </a:xfrm>
        </p:grpSpPr>
        <p:sp>
          <p:nvSpPr>
            <p:cNvPr id="7" name="Freeform 7"/>
            <p:cNvSpPr/>
            <p:nvPr/>
          </p:nvSpPr>
          <p:spPr>
            <a:xfrm>
              <a:off x="12700" y="12700"/>
              <a:ext cx="2957113" cy="3624565"/>
            </a:xfrm>
            <a:custGeom>
              <a:avLst/>
              <a:gdLst/>
              <a:ahLst/>
              <a:cxnLst/>
              <a:rect l="l" t="t" r="r" b="b"/>
              <a:pathLst>
                <a:path w="2957113" h="3624565">
                  <a:moveTo>
                    <a:pt x="43180" y="3624565"/>
                  </a:moveTo>
                  <a:lnTo>
                    <a:pt x="2913933" y="3624565"/>
                  </a:lnTo>
                  <a:cubicBezTo>
                    <a:pt x="2938063" y="3624565"/>
                    <a:pt x="2957113" y="3605515"/>
                    <a:pt x="2957113" y="3581385"/>
                  </a:cubicBezTo>
                  <a:lnTo>
                    <a:pt x="2957113" y="43180"/>
                  </a:lnTo>
                  <a:cubicBezTo>
                    <a:pt x="2957113" y="19050"/>
                    <a:pt x="2938063" y="0"/>
                    <a:pt x="291393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p:cNvSpPr/>
            <p:nvPr/>
          </p:nvSpPr>
          <p:spPr>
            <a:xfrm>
              <a:off x="0" y="0"/>
              <a:ext cx="3024423" cy="3693145"/>
            </a:xfrm>
            <a:custGeom>
              <a:avLst/>
              <a:gdLst/>
              <a:ahLst/>
              <a:cxnLst/>
              <a:rect l="l" t="t" r="r" b="b"/>
              <a:pathLst>
                <a:path w="3024423" h="3693145">
                  <a:moveTo>
                    <a:pt x="2981243" y="44450"/>
                  </a:moveTo>
                  <a:cubicBezTo>
                    <a:pt x="2976163" y="19050"/>
                    <a:pt x="2953303" y="0"/>
                    <a:pt x="292663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68543" y="3693145"/>
                  </a:lnTo>
                  <a:cubicBezTo>
                    <a:pt x="2999023" y="3693145"/>
                    <a:pt x="3024423" y="3667745"/>
                    <a:pt x="3024423" y="3637265"/>
                  </a:cubicBezTo>
                  <a:lnTo>
                    <a:pt x="3024423" y="99060"/>
                  </a:lnTo>
                  <a:cubicBezTo>
                    <a:pt x="3024423" y="72390"/>
                    <a:pt x="3006643" y="50800"/>
                    <a:pt x="2981243" y="44450"/>
                  </a:cubicBezTo>
                  <a:close/>
                  <a:moveTo>
                    <a:pt x="12700" y="3594085"/>
                  </a:moveTo>
                  <a:lnTo>
                    <a:pt x="12700" y="55880"/>
                  </a:lnTo>
                  <a:cubicBezTo>
                    <a:pt x="12700" y="31750"/>
                    <a:pt x="31750" y="12700"/>
                    <a:pt x="55880" y="12700"/>
                  </a:cubicBezTo>
                  <a:lnTo>
                    <a:pt x="2926633" y="12700"/>
                  </a:lnTo>
                  <a:cubicBezTo>
                    <a:pt x="2950763" y="12700"/>
                    <a:pt x="2969813" y="31750"/>
                    <a:pt x="2969813" y="55880"/>
                  </a:cubicBezTo>
                  <a:lnTo>
                    <a:pt x="2969813" y="3594085"/>
                  </a:lnTo>
                  <a:cubicBezTo>
                    <a:pt x="2969813" y="3618215"/>
                    <a:pt x="2950763" y="3637265"/>
                    <a:pt x="2926633"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11" name="Group 6">
            <a:extLst>
              <a:ext uri="{FF2B5EF4-FFF2-40B4-BE49-F238E27FC236}">
                <a16:creationId xmlns:a16="http://schemas.microsoft.com/office/drawing/2014/main" id="{AF02F428-693C-8EBC-679E-75FEE4E12B91}"/>
              </a:ext>
            </a:extLst>
          </p:cNvPr>
          <p:cNvGrpSpPr/>
          <p:nvPr/>
        </p:nvGrpSpPr>
        <p:grpSpPr>
          <a:xfrm>
            <a:off x="561726" y="237041"/>
            <a:ext cx="17164548" cy="1401259"/>
            <a:chOff x="0" y="0"/>
            <a:chExt cx="6964336" cy="701161"/>
          </a:xfrm>
        </p:grpSpPr>
        <p:sp>
          <p:nvSpPr>
            <p:cNvPr id="12" name="Freeform 7">
              <a:extLst>
                <a:ext uri="{FF2B5EF4-FFF2-40B4-BE49-F238E27FC236}">
                  <a16:creationId xmlns:a16="http://schemas.microsoft.com/office/drawing/2014/main" id="{074FECD6-9E30-786A-D26F-D8648DFDC2C8}"/>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90D0E101-315B-313D-439B-EA643887B4AF}"/>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9C7DF305-03D3-3806-0909-41F78017B9D3}"/>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III. Đánh giá</a:t>
            </a:r>
          </a:p>
        </p:txBody>
      </p:sp>
      <p:pic>
        <p:nvPicPr>
          <p:cNvPr id="18" name="Picture 17" descr="A graph of blue bars&#10;&#10;AI-generated content may be incorrect.">
            <a:extLst>
              <a:ext uri="{FF2B5EF4-FFF2-40B4-BE49-F238E27FC236}">
                <a16:creationId xmlns:a16="http://schemas.microsoft.com/office/drawing/2014/main" id="{1EC5F8B8-5F16-1BB8-5933-E7CAFBCB65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2310" y="2933699"/>
            <a:ext cx="8766489" cy="6477001"/>
          </a:xfrm>
          <a:prstGeom prst="rect">
            <a:avLst/>
          </a:prstGeom>
          <a:noFill/>
          <a:ln>
            <a:noFill/>
          </a:ln>
        </p:spPr>
      </p:pic>
      <p:pic>
        <p:nvPicPr>
          <p:cNvPr id="19" name="Picture 18" descr="A graph with red columns&#10;&#10;AI-generated content may be incorrect.">
            <a:extLst>
              <a:ext uri="{FF2B5EF4-FFF2-40B4-BE49-F238E27FC236}">
                <a16:creationId xmlns:a16="http://schemas.microsoft.com/office/drawing/2014/main" id="{CC896B70-3FD0-B3D8-E576-D35DE60520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92600" y="71921"/>
            <a:ext cx="9626887" cy="7112830"/>
          </a:xfrm>
          <a:prstGeom prst="rect">
            <a:avLst/>
          </a:prstGeom>
          <a:noFill/>
          <a:ln>
            <a:noFill/>
          </a:ln>
        </p:spPr>
      </p:pic>
      <p:pic>
        <p:nvPicPr>
          <p:cNvPr id="20" name="Picture 19" descr="A green bar chart with white text&#10;&#10;AI-generated content may be incorrect.">
            <a:extLst>
              <a:ext uri="{FF2B5EF4-FFF2-40B4-BE49-F238E27FC236}">
                <a16:creationId xmlns:a16="http://schemas.microsoft.com/office/drawing/2014/main" id="{3BA42948-65C5-C48E-D563-61B19518091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011400" y="11544300"/>
            <a:ext cx="9566795" cy="7068923"/>
          </a:xfrm>
          <a:prstGeom prst="rect">
            <a:avLst/>
          </a:prstGeom>
          <a:noFill/>
          <a:ln>
            <a:noFill/>
          </a:ln>
        </p:spPr>
      </p:pic>
      <p:sp>
        <p:nvSpPr>
          <p:cNvPr id="22" name="TextBox 21">
            <a:extLst>
              <a:ext uri="{FF2B5EF4-FFF2-40B4-BE49-F238E27FC236}">
                <a16:creationId xmlns:a16="http://schemas.microsoft.com/office/drawing/2014/main" id="{5FB23E65-8218-0A6D-07BF-F5FFE268E86E}"/>
              </a:ext>
            </a:extLst>
          </p:cNvPr>
          <p:cNvSpPr txBox="1"/>
          <p:nvPr/>
        </p:nvSpPr>
        <p:spPr>
          <a:xfrm>
            <a:off x="1447800" y="1842581"/>
            <a:ext cx="7543800" cy="938719"/>
          </a:xfrm>
          <a:prstGeom prst="rect">
            <a:avLst/>
          </a:prstGeom>
          <a:noFill/>
        </p:spPr>
        <p:txBody>
          <a:bodyPr wrap="square" rtlCol="0">
            <a:spAutoFit/>
          </a:bodyPr>
          <a:lstStyle/>
          <a:p>
            <a:r>
              <a:rPr lang="en-US" sz="5500">
                <a:latin typeface="KG Primary Penmanship" panose="020B0604020202020204" charset="0"/>
              </a:rPr>
              <a:t>Biểu đồ đánh giá chỉ số RMSE</a:t>
            </a:r>
          </a:p>
        </p:txBody>
      </p:sp>
      <p:sp>
        <p:nvSpPr>
          <p:cNvPr id="30" name="TextBox 29">
            <a:extLst>
              <a:ext uri="{FF2B5EF4-FFF2-40B4-BE49-F238E27FC236}">
                <a16:creationId xmlns:a16="http://schemas.microsoft.com/office/drawing/2014/main" id="{EF05FE60-DE10-11B1-9F35-2644C5C1C070}"/>
              </a:ext>
            </a:extLst>
          </p:cNvPr>
          <p:cNvSpPr txBox="1"/>
          <p:nvPr/>
        </p:nvSpPr>
        <p:spPr>
          <a:xfrm>
            <a:off x="10608724" y="2324100"/>
            <a:ext cx="6726776" cy="1403333"/>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LSTM đạt RMSE thấp nhất (</a:t>
            </a:r>
            <a:r>
              <a:rPr lang="en-US" sz="4500" kern="100">
                <a:effectLst/>
                <a:latin typeface="Arial" panose="020B0604020202020204" pitchFamily="34" charset="0"/>
                <a:cs typeface="Arial" panose="020B0604020202020204" pitchFamily="34" charset="0"/>
              </a:rPr>
              <a:t>2001.34)</a:t>
            </a:r>
            <a:endParaRPr lang="en-US" sz="4500">
              <a:solidFill>
                <a:srgbClr val="000000"/>
              </a:solidFill>
              <a:latin typeface="Arial" panose="020B0604020202020204" pitchFamily="34" charset="0"/>
              <a:ea typeface="KG Primary Penmanship"/>
              <a:cs typeface="Arial" panose="020B0604020202020204" pitchFamily="34" charset="0"/>
              <a:sym typeface="KG Primary Penmanship"/>
            </a:endParaRPr>
          </a:p>
        </p:txBody>
      </p:sp>
      <p:sp>
        <p:nvSpPr>
          <p:cNvPr id="31" name="TextBox 30">
            <a:extLst>
              <a:ext uri="{FF2B5EF4-FFF2-40B4-BE49-F238E27FC236}">
                <a16:creationId xmlns:a16="http://schemas.microsoft.com/office/drawing/2014/main" id="{2BD6AA85-89AD-DD7F-C26A-2A6929E2027B}"/>
              </a:ext>
            </a:extLst>
          </p:cNvPr>
          <p:cNvSpPr txBox="1"/>
          <p:nvPr/>
        </p:nvSpPr>
        <p:spPr>
          <a:xfrm>
            <a:off x="10591800" y="4701769"/>
            <a:ext cx="6726776" cy="1374735"/>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Prophet ghi nhận ở mức 2906.54, cao hơn LSTM</a:t>
            </a:r>
          </a:p>
        </p:txBody>
      </p:sp>
      <p:sp>
        <p:nvSpPr>
          <p:cNvPr id="32" name="TextBox 31">
            <a:extLst>
              <a:ext uri="{FF2B5EF4-FFF2-40B4-BE49-F238E27FC236}">
                <a16:creationId xmlns:a16="http://schemas.microsoft.com/office/drawing/2014/main" id="{791FD32B-3B33-B650-5A2E-F3CDECBC5EBF}"/>
              </a:ext>
            </a:extLst>
          </p:cNvPr>
          <p:cNvSpPr txBox="1"/>
          <p:nvPr/>
        </p:nvSpPr>
        <p:spPr>
          <a:xfrm>
            <a:off x="10591800" y="7048500"/>
            <a:ext cx="6726776" cy="2015936"/>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Và Random Forest nằm ở mức cao nhất (3591.80)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C8B83474-435C-1DF1-244D-0C65C749F0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84380E-68DF-E666-0C3F-1F6ABC9B051F}"/>
              </a:ext>
            </a:extLst>
          </p:cNvPr>
          <p:cNvGrpSpPr/>
          <p:nvPr/>
        </p:nvGrpSpPr>
        <p:grpSpPr>
          <a:xfrm>
            <a:off x="561726" y="1790699"/>
            <a:ext cx="9253185" cy="7903927"/>
            <a:chOff x="0" y="0"/>
            <a:chExt cx="3754383" cy="3693145"/>
          </a:xfrm>
        </p:grpSpPr>
        <p:sp>
          <p:nvSpPr>
            <p:cNvPr id="3" name="Freeform 3">
              <a:extLst>
                <a:ext uri="{FF2B5EF4-FFF2-40B4-BE49-F238E27FC236}">
                  <a16:creationId xmlns:a16="http://schemas.microsoft.com/office/drawing/2014/main" id="{F494F626-8BA1-E979-2BF1-E02B0E7911D3}"/>
                </a:ext>
              </a:extLst>
            </p:cNvPr>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BF2DC6BD-786A-50DA-248E-60BF6936A47F}"/>
                </a:ext>
              </a:extLst>
            </p:cNvPr>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6" name="Group 6">
            <a:extLst>
              <a:ext uri="{FF2B5EF4-FFF2-40B4-BE49-F238E27FC236}">
                <a16:creationId xmlns:a16="http://schemas.microsoft.com/office/drawing/2014/main" id="{9CBE13F9-5048-C58A-1318-5AE31252FBEB}"/>
              </a:ext>
            </a:extLst>
          </p:cNvPr>
          <p:cNvGrpSpPr/>
          <p:nvPr/>
        </p:nvGrpSpPr>
        <p:grpSpPr>
          <a:xfrm>
            <a:off x="10286183" y="1817879"/>
            <a:ext cx="7454100" cy="7876748"/>
            <a:chOff x="0" y="0"/>
            <a:chExt cx="3024423" cy="3693145"/>
          </a:xfrm>
        </p:grpSpPr>
        <p:sp>
          <p:nvSpPr>
            <p:cNvPr id="7" name="Freeform 7">
              <a:extLst>
                <a:ext uri="{FF2B5EF4-FFF2-40B4-BE49-F238E27FC236}">
                  <a16:creationId xmlns:a16="http://schemas.microsoft.com/office/drawing/2014/main" id="{772874FB-7F51-BB9E-ECBA-FF154F6E21E0}"/>
                </a:ext>
              </a:extLst>
            </p:cNvPr>
            <p:cNvSpPr/>
            <p:nvPr/>
          </p:nvSpPr>
          <p:spPr>
            <a:xfrm>
              <a:off x="12700" y="12700"/>
              <a:ext cx="2957113" cy="3624565"/>
            </a:xfrm>
            <a:custGeom>
              <a:avLst/>
              <a:gdLst/>
              <a:ahLst/>
              <a:cxnLst/>
              <a:rect l="l" t="t" r="r" b="b"/>
              <a:pathLst>
                <a:path w="2957113" h="3624565">
                  <a:moveTo>
                    <a:pt x="43180" y="3624565"/>
                  </a:moveTo>
                  <a:lnTo>
                    <a:pt x="2913933" y="3624565"/>
                  </a:lnTo>
                  <a:cubicBezTo>
                    <a:pt x="2938063" y="3624565"/>
                    <a:pt x="2957113" y="3605515"/>
                    <a:pt x="2957113" y="3581385"/>
                  </a:cubicBezTo>
                  <a:lnTo>
                    <a:pt x="2957113" y="43180"/>
                  </a:lnTo>
                  <a:cubicBezTo>
                    <a:pt x="2957113" y="19050"/>
                    <a:pt x="2938063" y="0"/>
                    <a:pt x="291393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FCE092BE-F3BD-3027-9139-141F2C623D6D}"/>
                </a:ext>
              </a:extLst>
            </p:cNvPr>
            <p:cNvSpPr/>
            <p:nvPr/>
          </p:nvSpPr>
          <p:spPr>
            <a:xfrm>
              <a:off x="0" y="0"/>
              <a:ext cx="3024423" cy="3693145"/>
            </a:xfrm>
            <a:custGeom>
              <a:avLst/>
              <a:gdLst/>
              <a:ahLst/>
              <a:cxnLst/>
              <a:rect l="l" t="t" r="r" b="b"/>
              <a:pathLst>
                <a:path w="3024423" h="3693145">
                  <a:moveTo>
                    <a:pt x="2981243" y="44450"/>
                  </a:moveTo>
                  <a:cubicBezTo>
                    <a:pt x="2976163" y="19050"/>
                    <a:pt x="2953303" y="0"/>
                    <a:pt x="292663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68543" y="3693145"/>
                  </a:lnTo>
                  <a:cubicBezTo>
                    <a:pt x="2999023" y="3693145"/>
                    <a:pt x="3024423" y="3667745"/>
                    <a:pt x="3024423" y="3637265"/>
                  </a:cubicBezTo>
                  <a:lnTo>
                    <a:pt x="3024423" y="99060"/>
                  </a:lnTo>
                  <a:cubicBezTo>
                    <a:pt x="3024423" y="72390"/>
                    <a:pt x="3006643" y="50800"/>
                    <a:pt x="2981243" y="44450"/>
                  </a:cubicBezTo>
                  <a:close/>
                  <a:moveTo>
                    <a:pt x="12700" y="3594085"/>
                  </a:moveTo>
                  <a:lnTo>
                    <a:pt x="12700" y="55880"/>
                  </a:lnTo>
                  <a:cubicBezTo>
                    <a:pt x="12700" y="31750"/>
                    <a:pt x="31750" y="12700"/>
                    <a:pt x="55880" y="12700"/>
                  </a:cubicBezTo>
                  <a:lnTo>
                    <a:pt x="2926633" y="12700"/>
                  </a:lnTo>
                  <a:cubicBezTo>
                    <a:pt x="2950763" y="12700"/>
                    <a:pt x="2969813" y="31750"/>
                    <a:pt x="2969813" y="55880"/>
                  </a:cubicBezTo>
                  <a:lnTo>
                    <a:pt x="2969813" y="3594085"/>
                  </a:lnTo>
                  <a:cubicBezTo>
                    <a:pt x="2969813" y="3618215"/>
                    <a:pt x="2950763" y="3637265"/>
                    <a:pt x="2926633"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11" name="Group 6">
            <a:extLst>
              <a:ext uri="{FF2B5EF4-FFF2-40B4-BE49-F238E27FC236}">
                <a16:creationId xmlns:a16="http://schemas.microsoft.com/office/drawing/2014/main" id="{4979EC81-1ED7-5BAC-EDDF-346C17C39ADA}"/>
              </a:ext>
            </a:extLst>
          </p:cNvPr>
          <p:cNvGrpSpPr/>
          <p:nvPr/>
        </p:nvGrpSpPr>
        <p:grpSpPr>
          <a:xfrm>
            <a:off x="561726" y="237041"/>
            <a:ext cx="17164548" cy="1401259"/>
            <a:chOff x="0" y="0"/>
            <a:chExt cx="6964336" cy="701161"/>
          </a:xfrm>
        </p:grpSpPr>
        <p:sp>
          <p:nvSpPr>
            <p:cNvPr id="12" name="Freeform 7">
              <a:extLst>
                <a:ext uri="{FF2B5EF4-FFF2-40B4-BE49-F238E27FC236}">
                  <a16:creationId xmlns:a16="http://schemas.microsoft.com/office/drawing/2014/main" id="{5F0E84CE-ABF3-6FE1-F135-7B00CF50D775}"/>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DA0FA9BD-2187-7A09-D39E-8A6341CD4EDD}"/>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616B494F-D7CE-D5A0-C1DB-0FDB9BFCFC9E}"/>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III. Đánh giá</a:t>
            </a:r>
          </a:p>
        </p:txBody>
      </p:sp>
      <p:pic>
        <p:nvPicPr>
          <p:cNvPr id="18" name="Picture 17" descr="A graph of blue bars&#10;&#10;AI-generated content may be incorrect.">
            <a:extLst>
              <a:ext uri="{FF2B5EF4-FFF2-40B4-BE49-F238E27FC236}">
                <a16:creationId xmlns:a16="http://schemas.microsoft.com/office/drawing/2014/main" id="{0E80377B-F295-D1CB-32B1-75B54219B6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08946" y="3809999"/>
            <a:ext cx="8766489" cy="6477001"/>
          </a:xfrm>
          <a:prstGeom prst="rect">
            <a:avLst/>
          </a:prstGeom>
          <a:noFill/>
          <a:ln>
            <a:noFill/>
          </a:ln>
        </p:spPr>
      </p:pic>
      <p:pic>
        <p:nvPicPr>
          <p:cNvPr id="19" name="Picture 18" descr="A graph with red columns&#10;&#10;AI-generated content may be incorrect.">
            <a:extLst>
              <a:ext uri="{FF2B5EF4-FFF2-40B4-BE49-F238E27FC236}">
                <a16:creationId xmlns:a16="http://schemas.microsoft.com/office/drawing/2014/main" id="{7ACD83CC-9668-7C08-C1EB-777D5EAED9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5895" y="2919552"/>
            <a:ext cx="8799105" cy="6500646"/>
          </a:xfrm>
          <a:prstGeom prst="rect">
            <a:avLst/>
          </a:prstGeom>
          <a:noFill/>
          <a:ln>
            <a:noFill/>
          </a:ln>
        </p:spPr>
      </p:pic>
      <p:pic>
        <p:nvPicPr>
          <p:cNvPr id="20" name="Picture 19" descr="A green bar chart with white text&#10;&#10;AI-generated content may be incorrect.">
            <a:extLst>
              <a:ext uri="{FF2B5EF4-FFF2-40B4-BE49-F238E27FC236}">
                <a16:creationId xmlns:a16="http://schemas.microsoft.com/office/drawing/2014/main" id="{5C699354-034B-D0A1-FEAE-271562E8E04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08947" y="15717314"/>
            <a:ext cx="8766489" cy="6477001"/>
          </a:xfrm>
          <a:prstGeom prst="rect">
            <a:avLst/>
          </a:prstGeom>
          <a:noFill/>
          <a:ln>
            <a:noFill/>
          </a:ln>
        </p:spPr>
      </p:pic>
      <p:sp>
        <p:nvSpPr>
          <p:cNvPr id="22" name="TextBox 21">
            <a:extLst>
              <a:ext uri="{FF2B5EF4-FFF2-40B4-BE49-F238E27FC236}">
                <a16:creationId xmlns:a16="http://schemas.microsoft.com/office/drawing/2014/main" id="{C2C368C1-CADA-E292-F596-9823C6809DC5}"/>
              </a:ext>
            </a:extLst>
          </p:cNvPr>
          <p:cNvSpPr txBox="1"/>
          <p:nvPr/>
        </p:nvSpPr>
        <p:spPr>
          <a:xfrm>
            <a:off x="1447800" y="1842581"/>
            <a:ext cx="7543800" cy="938719"/>
          </a:xfrm>
          <a:prstGeom prst="rect">
            <a:avLst/>
          </a:prstGeom>
          <a:noFill/>
        </p:spPr>
        <p:txBody>
          <a:bodyPr wrap="square" rtlCol="0">
            <a:spAutoFit/>
          </a:bodyPr>
          <a:lstStyle/>
          <a:p>
            <a:r>
              <a:rPr lang="en-US" sz="5500">
                <a:latin typeface="KG Primary Penmanship" panose="020B0604020202020204" charset="0"/>
              </a:rPr>
              <a:t>Biểu đồ đánh giá chỉ số MAE</a:t>
            </a:r>
          </a:p>
        </p:txBody>
      </p:sp>
      <p:sp>
        <p:nvSpPr>
          <p:cNvPr id="5" name="TextBox 4">
            <a:extLst>
              <a:ext uri="{FF2B5EF4-FFF2-40B4-BE49-F238E27FC236}">
                <a16:creationId xmlns:a16="http://schemas.microsoft.com/office/drawing/2014/main" id="{BAB3666D-43E8-8E6B-9BC8-6C9DEB7F3DD4}"/>
              </a:ext>
            </a:extLst>
          </p:cNvPr>
          <p:cNvSpPr txBox="1"/>
          <p:nvPr/>
        </p:nvSpPr>
        <p:spPr>
          <a:xfrm>
            <a:off x="10608724" y="2324100"/>
            <a:ext cx="6726776" cy="1374735"/>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Tương tự LSTM đạt MAE thấp nhất (</a:t>
            </a:r>
            <a:r>
              <a:rPr lang="en-US" sz="4500" kern="100">
                <a:effectLst/>
                <a:latin typeface="Arial" panose="020B0604020202020204" pitchFamily="34" charset="0"/>
                <a:cs typeface="Arial" panose="020B0604020202020204" pitchFamily="34" charset="0"/>
              </a:rPr>
              <a:t>1598.60)</a:t>
            </a:r>
            <a:endParaRPr lang="en-US" sz="4500">
              <a:solidFill>
                <a:srgbClr val="000000"/>
              </a:solidFill>
              <a:latin typeface="Arial" panose="020B0604020202020204" pitchFamily="34" charset="0"/>
              <a:ea typeface="KG Primary Penmanship"/>
              <a:cs typeface="Arial" panose="020B0604020202020204" pitchFamily="34" charset="0"/>
              <a:sym typeface="KG Primary Penmanship"/>
            </a:endParaRPr>
          </a:p>
        </p:txBody>
      </p:sp>
      <p:sp>
        <p:nvSpPr>
          <p:cNvPr id="9" name="TextBox 8">
            <a:extLst>
              <a:ext uri="{FF2B5EF4-FFF2-40B4-BE49-F238E27FC236}">
                <a16:creationId xmlns:a16="http://schemas.microsoft.com/office/drawing/2014/main" id="{84F28B63-9894-908D-AC12-5ABC94C0D18B}"/>
              </a:ext>
            </a:extLst>
          </p:cNvPr>
          <p:cNvSpPr txBox="1"/>
          <p:nvPr/>
        </p:nvSpPr>
        <p:spPr>
          <a:xfrm>
            <a:off x="10591800" y="4701769"/>
            <a:ext cx="6726776" cy="1374735"/>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Prophet ghi nhận ở mức 2405.15, cao hơn LSTM</a:t>
            </a:r>
          </a:p>
        </p:txBody>
      </p:sp>
      <p:sp>
        <p:nvSpPr>
          <p:cNvPr id="15" name="TextBox 14">
            <a:extLst>
              <a:ext uri="{FF2B5EF4-FFF2-40B4-BE49-F238E27FC236}">
                <a16:creationId xmlns:a16="http://schemas.microsoft.com/office/drawing/2014/main" id="{32E8DD75-4471-01DC-FABD-590FE873BF5E}"/>
              </a:ext>
            </a:extLst>
          </p:cNvPr>
          <p:cNvSpPr txBox="1"/>
          <p:nvPr/>
        </p:nvSpPr>
        <p:spPr>
          <a:xfrm>
            <a:off x="10591800" y="7048500"/>
            <a:ext cx="6726776" cy="2015936"/>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Và Random Forest vẫn nằm ở mức cao nhất (3016.66)</a:t>
            </a:r>
          </a:p>
        </p:txBody>
      </p:sp>
    </p:spTree>
    <p:extLst>
      <p:ext uri="{BB962C8B-B14F-4D97-AF65-F5344CB8AC3E}">
        <p14:creationId xmlns:p14="http://schemas.microsoft.com/office/powerpoint/2010/main" val="574855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54E0B511-C3C4-A27C-DD82-90EABF4EAE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A9D92F-5BA9-651E-0B15-3660B70D29D7}"/>
              </a:ext>
            </a:extLst>
          </p:cNvPr>
          <p:cNvGrpSpPr/>
          <p:nvPr/>
        </p:nvGrpSpPr>
        <p:grpSpPr>
          <a:xfrm>
            <a:off x="561726" y="1790699"/>
            <a:ext cx="9253185" cy="7903927"/>
            <a:chOff x="0" y="0"/>
            <a:chExt cx="3754383" cy="3693145"/>
          </a:xfrm>
        </p:grpSpPr>
        <p:sp>
          <p:nvSpPr>
            <p:cNvPr id="3" name="Freeform 3">
              <a:extLst>
                <a:ext uri="{FF2B5EF4-FFF2-40B4-BE49-F238E27FC236}">
                  <a16:creationId xmlns:a16="http://schemas.microsoft.com/office/drawing/2014/main" id="{CC680328-72FE-9954-B12D-43EFD2D45B4B}"/>
                </a:ext>
              </a:extLst>
            </p:cNvPr>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4" name="Freeform 4">
              <a:extLst>
                <a:ext uri="{FF2B5EF4-FFF2-40B4-BE49-F238E27FC236}">
                  <a16:creationId xmlns:a16="http://schemas.microsoft.com/office/drawing/2014/main" id="{018D2A22-6FDA-882A-0ABC-E85D818C9E13}"/>
                </a:ext>
              </a:extLst>
            </p:cNvPr>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6" name="Group 6">
            <a:extLst>
              <a:ext uri="{FF2B5EF4-FFF2-40B4-BE49-F238E27FC236}">
                <a16:creationId xmlns:a16="http://schemas.microsoft.com/office/drawing/2014/main" id="{605F7DA5-C8E1-B566-AA38-E695FA4FA995}"/>
              </a:ext>
            </a:extLst>
          </p:cNvPr>
          <p:cNvGrpSpPr/>
          <p:nvPr/>
        </p:nvGrpSpPr>
        <p:grpSpPr>
          <a:xfrm>
            <a:off x="10286183" y="1817879"/>
            <a:ext cx="7454100" cy="7876748"/>
            <a:chOff x="0" y="0"/>
            <a:chExt cx="3024423" cy="3693145"/>
          </a:xfrm>
        </p:grpSpPr>
        <p:sp>
          <p:nvSpPr>
            <p:cNvPr id="7" name="Freeform 7">
              <a:extLst>
                <a:ext uri="{FF2B5EF4-FFF2-40B4-BE49-F238E27FC236}">
                  <a16:creationId xmlns:a16="http://schemas.microsoft.com/office/drawing/2014/main" id="{4FF94431-1C47-40AE-16E9-D9A2FE1B862A}"/>
                </a:ext>
              </a:extLst>
            </p:cNvPr>
            <p:cNvSpPr/>
            <p:nvPr/>
          </p:nvSpPr>
          <p:spPr>
            <a:xfrm>
              <a:off x="12700" y="12700"/>
              <a:ext cx="2957113" cy="3624565"/>
            </a:xfrm>
            <a:custGeom>
              <a:avLst/>
              <a:gdLst/>
              <a:ahLst/>
              <a:cxnLst/>
              <a:rect l="l" t="t" r="r" b="b"/>
              <a:pathLst>
                <a:path w="2957113" h="3624565">
                  <a:moveTo>
                    <a:pt x="43180" y="3624565"/>
                  </a:moveTo>
                  <a:lnTo>
                    <a:pt x="2913933" y="3624565"/>
                  </a:lnTo>
                  <a:cubicBezTo>
                    <a:pt x="2938063" y="3624565"/>
                    <a:pt x="2957113" y="3605515"/>
                    <a:pt x="2957113" y="3581385"/>
                  </a:cubicBezTo>
                  <a:lnTo>
                    <a:pt x="2957113" y="43180"/>
                  </a:lnTo>
                  <a:cubicBezTo>
                    <a:pt x="2957113" y="19050"/>
                    <a:pt x="2938063" y="0"/>
                    <a:pt x="291393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endParaRPr lang="en-US"/>
            </a:p>
          </p:txBody>
        </p:sp>
        <p:sp>
          <p:nvSpPr>
            <p:cNvPr id="8" name="Freeform 8">
              <a:extLst>
                <a:ext uri="{FF2B5EF4-FFF2-40B4-BE49-F238E27FC236}">
                  <a16:creationId xmlns:a16="http://schemas.microsoft.com/office/drawing/2014/main" id="{A595382A-03EA-3ADD-EF32-E69E97AA776B}"/>
                </a:ext>
              </a:extLst>
            </p:cNvPr>
            <p:cNvSpPr/>
            <p:nvPr/>
          </p:nvSpPr>
          <p:spPr>
            <a:xfrm>
              <a:off x="0" y="0"/>
              <a:ext cx="3024423" cy="3693145"/>
            </a:xfrm>
            <a:custGeom>
              <a:avLst/>
              <a:gdLst/>
              <a:ahLst/>
              <a:cxnLst/>
              <a:rect l="l" t="t" r="r" b="b"/>
              <a:pathLst>
                <a:path w="3024423" h="3693145">
                  <a:moveTo>
                    <a:pt x="2981243" y="44450"/>
                  </a:moveTo>
                  <a:cubicBezTo>
                    <a:pt x="2976163" y="19050"/>
                    <a:pt x="2953303" y="0"/>
                    <a:pt x="292663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2968543" y="3693145"/>
                  </a:lnTo>
                  <a:cubicBezTo>
                    <a:pt x="2999023" y="3693145"/>
                    <a:pt x="3024423" y="3667745"/>
                    <a:pt x="3024423" y="3637265"/>
                  </a:cubicBezTo>
                  <a:lnTo>
                    <a:pt x="3024423" y="99060"/>
                  </a:lnTo>
                  <a:cubicBezTo>
                    <a:pt x="3024423" y="72390"/>
                    <a:pt x="3006643" y="50800"/>
                    <a:pt x="2981243" y="44450"/>
                  </a:cubicBezTo>
                  <a:close/>
                  <a:moveTo>
                    <a:pt x="12700" y="3594085"/>
                  </a:moveTo>
                  <a:lnTo>
                    <a:pt x="12700" y="55880"/>
                  </a:lnTo>
                  <a:cubicBezTo>
                    <a:pt x="12700" y="31750"/>
                    <a:pt x="31750" y="12700"/>
                    <a:pt x="55880" y="12700"/>
                  </a:cubicBezTo>
                  <a:lnTo>
                    <a:pt x="2926633" y="12700"/>
                  </a:lnTo>
                  <a:cubicBezTo>
                    <a:pt x="2950763" y="12700"/>
                    <a:pt x="2969813" y="31750"/>
                    <a:pt x="2969813" y="55880"/>
                  </a:cubicBezTo>
                  <a:lnTo>
                    <a:pt x="2969813" y="3594085"/>
                  </a:lnTo>
                  <a:cubicBezTo>
                    <a:pt x="2969813" y="3618215"/>
                    <a:pt x="2950763" y="3637265"/>
                    <a:pt x="2926633" y="3637265"/>
                  </a:cubicBezTo>
                  <a:lnTo>
                    <a:pt x="55880" y="3637265"/>
                  </a:lnTo>
                  <a:cubicBezTo>
                    <a:pt x="31750" y="3637265"/>
                    <a:pt x="12700" y="3618215"/>
                    <a:pt x="12700" y="3594085"/>
                  </a:cubicBezTo>
                  <a:close/>
                </a:path>
              </a:pathLst>
            </a:custGeom>
            <a:solidFill>
              <a:srgbClr val="000000"/>
            </a:solidFill>
          </p:spPr>
          <p:txBody>
            <a:bodyPr/>
            <a:lstStyle/>
            <a:p>
              <a:endParaRPr lang="en-US"/>
            </a:p>
          </p:txBody>
        </p:sp>
      </p:grpSp>
      <p:grpSp>
        <p:nvGrpSpPr>
          <p:cNvPr id="11" name="Group 6">
            <a:extLst>
              <a:ext uri="{FF2B5EF4-FFF2-40B4-BE49-F238E27FC236}">
                <a16:creationId xmlns:a16="http://schemas.microsoft.com/office/drawing/2014/main" id="{DF7EC76D-3C47-1A9B-3420-3580D7600DCE}"/>
              </a:ext>
            </a:extLst>
          </p:cNvPr>
          <p:cNvGrpSpPr/>
          <p:nvPr/>
        </p:nvGrpSpPr>
        <p:grpSpPr>
          <a:xfrm>
            <a:off x="561726" y="237041"/>
            <a:ext cx="17164548" cy="1401259"/>
            <a:chOff x="0" y="0"/>
            <a:chExt cx="6964336" cy="701161"/>
          </a:xfrm>
        </p:grpSpPr>
        <p:sp>
          <p:nvSpPr>
            <p:cNvPr id="12" name="Freeform 7">
              <a:extLst>
                <a:ext uri="{FF2B5EF4-FFF2-40B4-BE49-F238E27FC236}">
                  <a16:creationId xmlns:a16="http://schemas.microsoft.com/office/drawing/2014/main" id="{DBD4D4D4-BE6A-23F2-18EA-E1E42467CDD2}"/>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7539E5FB-3CE1-F78F-B12E-F61E60D98332}"/>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679EAB25-F9F3-5EC5-5BCD-87F64BC5C5F9}"/>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III. Đánh giá</a:t>
            </a:r>
          </a:p>
        </p:txBody>
      </p:sp>
      <p:pic>
        <p:nvPicPr>
          <p:cNvPr id="18" name="Picture 17" descr="A graph of blue bars&#10;&#10;AI-generated content may be incorrect.">
            <a:extLst>
              <a:ext uri="{FF2B5EF4-FFF2-40B4-BE49-F238E27FC236}">
                <a16:creationId xmlns:a16="http://schemas.microsoft.com/office/drawing/2014/main" id="{04F3C664-663B-FF1D-4C3C-E903F0F11B0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08946" y="3809999"/>
            <a:ext cx="8766489" cy="6477001"/>
          </a:xfrm>
          <a:prstGeom prst="rect">
            <a:avLst/>
          </a:prstGeom>
          <a:noFill/>
          <a:ln>
            <a:noFill/>
          </a:ln>
        </p:spPr>
      </p:pic>
      <p:pic>
        <p:nvPicPr>
          <p:cNvPr id="19" name="Picture 18" descr="A graph with red columns&#10;&#10;AI-generated content may be incorrect.">
            <a:extLst>
              <a:ext uri="{FF2B5EF4-FFF2-40B4-BE49-F238E27FC236}">
                <a16:creationId xmlns:a16="http://schemas.microsoft.com/office/drawing/2014/main" id="{8233DDC0-55C7-4914-A4E2-BB780BC709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779617" y="12496799"/>
            <a:ext cx="8821554" cy="6517231"/>
          </a:xfrm>
          <a:prstGeom prst="rect">
            <a:avLst/>
          </a:prstGeom>
          <a:noFill/>
          <a:ln>
            <a:noFill/>
          </a:ln>
        </p:spPr>
      </p:pic>
      <p:pic>
        <p:nvPicPr>
          <p:cNvPr id="20" name="Picture 19" descr="A green bar chart with white text&#10;&#10;AI-generated content may be incorrect.">
            <a:extLst>
              <a:ext uri="{FF2B5EF4-FFF2-40B4-BE49-F238E27FC236}">
                <a16:creationId xmlns:a16="http://schemas.microsoft.com/office/drawing/2014/main" id="{3FF33B71-8E6E-86D9-FFB9-0C4F799D785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114" y="2933699"/>
            <a:ext cx="8766489" cy="6477001"/>
          </a:xfrm>
          <a:prstGeom prst="rect">
            <a:avLst/>
          </a:prstGeom>
          <a:noFill/>
          <a:ln>
            <a:noFill/>
          </a:ln>
        </p:spPr>
      </p:pic>
      <p:sp>
        <p:nvSpPr>
          <p:cNvPr id="22" name="TextBox 21">
            <a:extLst>
              <a:ext uri="{FF2B5EF4-FFF2-40B4-BE49-F238E27FC236}">
                <a16:creationId xmlns:a16="http://schemas.microsoft.com/office/drawing/2014/main" id="{A752C019-E424-5090-61AC-C67A6A526211}"/>
              </a:ext>
            </a:extLst>
          </p:cNvPr>
          <p:cNvSpPr txBox="1"/>
          <p:nvPr/>
        </p:nvSpPr>
        <p:spPr>
          <a:xfrm>
            <a:off x="1447800" y="1842581"/>
            <a:ext cx="7543800" cy="938719"/>
          </a:xfrm>
          <a:prstGeom prst="rect">
            <a:avLst/>
          </a:prstGeom>
          <a:noFill/>
        </p:spPr>
        <p:txBody>
          <a:bodyPr wrap="square" rtlCol="0">
            <a:spAutoFit/>
          </a:bodyPr>
          <a:lstStyle/>
          <a:p>
            <a:r>
              <a:rPr lang="en-US" sz="5500">
                <a:latin typeface="KG Primary Penmanship" panose="020B0604020202020204" charset="0"/>
              </a:rPr>
              <a:t>Biểu đồ đánh giá chỉ số R2</a:t>
            </a:r>
          </a:p>
        </p:txBody>
      </p:sp>
      <p:sp>
        <p:nvSpPr>
          <p:cNvPr id="5" name="TextBox 4">
            <a:extLst>
              <a:ext uri="{FF2B5EF4-FFF2-40B4-BE49-F238E27FC236}">
                <a16:creationId xmlns:a16="http://schemas.microsoft.com/office/drawing/2014/main" id="{4DF6E2E2-FEF6-0816-81AC-D443334E2130}"/>
              </a:ext>
            </a:extLst>
          </p:cNvPr>
          <p:cNvSpPr txBox="1"/>
          <p:nvPr/>
        </p:nvSpPr>
        <p:spPr>
          <a:xfrm>
            <a:off x="10608724" y="2324100"/>
            <a:ext cx="6726776" cy="2015936"/>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Ngược lại với R2 LSTM đạt MAE cao nhất (0.8337)</a:t>
            </a:r>
          </a:p>
        </p:txBody>
      </p:sp>
      <p:sp>
        <p:nvSpPr>
          <p:cNvPr id="9" name="TextBox 8">
            <a:extLst>
              <a:ext uri="{FF2B5EF4-FFF2-40B4-BE49-F238E27FC236}">
                <a16:creationId xmlns:a16="http://schemas.microsoft.com/office/drawing/2014/main" id="{DFB626EA-FFEC-C593-671E-95B7071B8A00}"/>
              </a:ext>
            </a:extLst>
          </p:cNvPr>
          <p:cNvSpPr txBox="1"/>
          <p:nvPr/>
        </p:nvSpPr>
        <p:spPr>
          <a:xfrm>
            <a:off x="10591800" y="4701769"/>
            <a:ext cx="6726776" cy="1374735"/>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Prophet ghi nhận ở mức 0.6507, thấp hơn LSTM</a:t>
            </a:r>
          </a:p>
        </p:txBody>
      </p:sp>
      <p:sp>
        <p:nvSpPr>
          <p:cNvPr id="15" name="TextBox 14">
            <a:extLst>
              <a:ext uri="{FF2B5EF4-FFF2-40B4-BE49-F238E27FC236}">
                <a16:creationId xmlns:a16="http://schemas.microsoft.com/office/drawing/2014/main" id="{7355C697-970D-C1D7-8701-0CF6ECC953F5}"/>
              </a:ext>
            </a:extLst>
          </p:cNvPr>
          <p:cNvSpPr txBox="1"/>
          <p:nvPr/>
        </p:nvSpPr>
        <p:spPr>
          <a:xfrm>
            <a:off x="10591800" y="7048500"/>
            <a:ext cx="6726776" cy="2015936"/>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Và Random Forest vẫn nằm ở mức thấp nhất (0.4665)</a:t>
            </a:r>
          </a:p>
        </p:txBody>
      </p:sp>
    </p:spTree>
    <p:extLst>
      <p:ext uri="{BB962C8B-B14F-4D97-AF65-F5344CB8AC3E}">
        <p14:creationId xmlns:p14="http://schemas.microsoft.com/office/powerpoint/2010/main" val="1724838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2EF4CF14-48F1-3208-C7D4-D1FDCEECB5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6FA0B1-E873-6CD4-667E-83366B40962C}"/>
              </a:ext>
            </a:extLst>
          </p:cNvPr>
          <p:cNvGrpSpPr/>
          <p:nvPr/>
        </p:nvGrpSpPr>
        <p:grpSpPr>
          <a:xfrm>
            <a:off x="561726" y="647701"/>
            <a:ext cx="17164548" cy="9046926"/>
            <a:chOff x="0" y="0"/>
            <a:chExt cx="3754383" cy="3693145"/>
          </a:xfrm>
        </p:grpSpPr>
        <p:sp>
          <p:nvSpPr>
            <p:cNvPr id="3" name="Freeform 3">
              <a:extLst>
                <a:ext uri="{FF2B5EF4-FFF2-40B4-BE49-F238E27FC236}">
                  <a16:creationId xmlns:a16="http://schemas.microsoft.com/office/drawing/2014/main" id="{3E190034-B834-770E-EAD6-459F38230242}"/>
                </a:ext>
              </a:extLst>
            </p:cNvPr>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pPr algn="just"/>
              <a:endParaRPr lang="en-US"/>
            </a:p>
          </p:txBody>
        </p:sp>
        <p:sp>
          <p:nvSpPr>
            <p:cNvPr id="4" name="Freeform 4">
              <a:extLst>
                <a:ext uri="{FF2B5EF4-FFF2-40B4-BE49-F238E27FC236}">
                  <a16:creationId xmlns:a16="http://schemas.microsoft.com/office/drawing/2014/main" id="{07A91BCD-2C9B-0FD0-F233-F89C1B81A8A9}"/>
                </a:ext>
              </a:extLst>
            </p:cNvPr>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pPr algn="just"/>
              <a:endParaRPr lang="en-US"/>
            </a:p>
          </p:txBody>
        </p:sp>
      </p:grpSp>
      <p:pic>
        <p:nvPicPr>
          <p:cNvPr id="18" name="Picture 17" descr="A graph of blue bars&#10;&#10;AI-generated content may be incorrect.">
            <a:extLst>
              <a:ext uri="{FF2B5EF4-FFF2-40B4-BE49-F238E27FC236}">
                <a16:creationId xmlns:a16="http://schemas.microsoft.com/office/drawing/2014/main" id="{E052F49C-D8B0-1E10-7C8B-02FF09B6D1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08946" y="3809999"/>
            <a:ext cx="8766489" cy="6477001"/>
          </a:xfrm>
          <a:prstGeom prst="rect">
            <a:avLst/>
          </a:prstGeom>
          <a:noFill/>
          <a:ln>
            <a:noFill/>
          </a:ln>
        </p:spPr>
      </p:pic>
      <p:pic>
        <p:nvPicPr>
          <p:cNvPr id="19" name="Picture 18" descr="A graph with red columns&#10;&#10;AI-generated content may be incorrect.">
            <a:extLst>
              <a:ext uri="{FF2B5EF4-FFF2-40B4-BE49-F238E27FC236}">
                <a16:creationId xmlns:a16="http://schemas.microsoft.com/office/drawing/2014/main" id="{5A44277D-FA3D-E547-32A6-F05BC99831B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779617" y="12496799"/>
            <a:ext cx="8821554" cy="6517231"/>
          </a:xfrm>
          <a:prstGeom prst="rect">
            <a:avLst/>
          </a:prstGeom>
          <a:noFill/>
          <a:ln>
            <a:noFill/>
          </a:ln>
        </p:spPr>
      </p:pic>
      <p:sp>
        <p:nvSpPr>
          <p:cNvPr id="16" name="TextBox 15">
            <a:extLst>
              <a:ext uri="{FF2B5EF4-FFF2-40B4-BE49-F238E27FC236}">
                <a16:creationId xmlns:a16="http://schemas.microsoft.com/office/drawing/2014/main" id="{C711FA2C-0B0D-F359-4E5D-6A26A6BAC8CB}"/>
              </a:ext>
            </a:extLst>
          </p:cNvPr>
          <p:cNvSpPr txBox="1"/>
          <p:nvPr/>
        </p:nvSpPr>
        <p:spPr>
          <a:xfrm>
            <a:off x="1524000" y="952500"/>
            <a:ext cx="3581400" cy="1015663"/>
          </a:xfrm>
          <a:prstGeom prst="rect">
            <a:avLst/>
          </a:prstGeom>
          <a:noFill/>
        </p:spPr>
        <p:txBody>
          <a:bodyPr wrap="square" rtlCol="0">
            <a:spAutoFit/>
          </a:bodyPr>
          <a:lstStyle/>
          <a:p>
            <a:r>
              <a:rPr lang="en-US" sz="6000" b="1">
                <a:latin typeface="Sabon Next LT" panose="02000500000000000000" pitchFamily="2" charset="0"/>
                <a:cs typeface="Sabon Next LT" panose="02000500000000000000" pitchFamily="2" charset="0"/>
              </a:rPr>
              <a:t>Tổng kết</a:t>
            </a:r>
          </a:p>
        </p:txBody>
      </p:sp>
      <p:sp>
        <p:nvSpPr>
          <p:cNvPr id="17" name="TextBox 16">
            <a:extLst>
              <a:ext uri="{FF2B5EF4-FFF2-40B4-BE49-F238E27FC236}">
                <a16:creationId xmlns:a16="http://schemas.microsoft.com/office/drawing/2014/main" id="{B9B22226-557B-5C67-791B-3E2153121CAF}"/>
              </a:ext>
            </a:extLst>
          </p:cNvPr>
          <p:cNvSpPr txBox="1"/>
          <p:nvPr/>
        </p:nvSpPr>
        <p:spPr>
          <a:xfrm>
            <a:off x="1524000" y="2352067"/>
            <a:ext cx="15735300" cy="2015936"/>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LSTM vượt trội toán diện, cho thấy khả năng học tập tốt xu hướng thời gian, và giải thích được 83.37% phương sai trong dữ liệu</a:t>
            </a:r>
          </a:p>
        </p:txBody>
      </p:sp>
      <p:sp>
        <p:nvSpPr>
          <p:cNvPr id="21" name="TextBox 20">
            <a:extLst>
              <a:ext uri="{FF2B5EF4-FFF2-40B4-BE49-F238E27FC236}">
                <a16:creationId xmlns:a16="http://schemas.microsoft.com/office/drawing/2014/main" id="{A9403AF3-5965-22AF-B8F6-FEC2DFB5B699}"/>
              </a:ext>
            </a:extLst>
          </p:cNvPr>
          <p:cNvSpPr txBox="1"/>
          <p:nvPr/>
        </p:nvSpPr>
        <p:spPr>
          <a:xfrm>
            <a:off x="1524000" y="4499164"/>
            <a:ext cx="15735300" cy="2015936"/>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Prophet có hiệu năng trung bình, phù hợp với dữ liệu có tính mùa vụ nhưng kém linh hoạt khi dữ liệu biến động bất thường, và chỉ giải thích được 65.07% phương sai dữ liệu</a:t>
            </a:r>
          </a:p>
        </p:txBody>
      </p:sp>
      <p:sp>
        <p:nvSpPr>
          <p:cNvPr id="25" name="TextBox 24">
            <a:extLst>
              <a:ext uri="{FF2B5EF4-FFF2-40B4-BE49-F238E27FC236}">
                <a16:creationId xmlns:a16="http://schemas.microsoft.com/office/drawing/2014/main" id="{4D580D4A-B18E-0940-49F9-CA87D4EB210F}"/>
              </a:ext>
            </a:extLst>
          </p:cNvPr>
          <p:cNvSpPr txBox="1"/>
          <p:nvPr/>
        </p:nvSpPr>
        <p:spPr>
          <a:xfrm>
            <a:off x="1524000" y="6743700"/>
            <a:ext cx="15735300" cy="1406795"/>
          </a:xfrm>
          <a:prstGeom prst="rect">
            <a:avLst/>
          </a:prstGeom>
          <a:noFill/>
        </p:spPr>
        <p:txBody>
          <a:bodyPr wrap="square">
            <a:spAutoFit/>
          </a:bodyPr>
          <a:lstStyle/>
          <a:p>
            <a:pPr algn="just">
              <a:lnSpc>
                <a:spcPts val="5040"/>
              </a:lnSpc>
            </a:pPr>
            <a:r>
              <a:rPr lang="en-US" sz="4500">
                <a:solidFill>
                  <a:srgbClr val="000000"/>
                </a:solidFill>
                <a:latin typeface="Arial" panose="020B0604020202020204" pitchFamily="34" charset="0"/>
                <a:ea typeface="KG Primary Penmanship"/>
                <a:cs typeface="Arial" panose="020B0604020202020204" pitchFamily="34" charset="0"/>
                <a:sym typeface="KG Primary Penmanship"/>
              </a:rPr>
              <a:t>Random Forest thể hiện kém nhất, do không xử lý tốt choỗi thời gian, chỉ giải thích được 46.65%</a:t>
            </a:r>
          </a:p>
        </p:txBody>
      </p:sp>
      <p:sp>
        <p:nvSpPr>
          <p:cNvPr id="26" name="Oval 25">
            <a:extLst>
              <a:ext uri="{FF2B5EF4-FFF2-40B4-BE49-F238E27FC236}">
                <a16:creationId xmlns:a16="http://schemas.microsoft.com/office/drawing/2014/main" id="{92DF4541-FBD6-2C73-CEC7-80BC4099587A}"/>
              </a:ext>
            </a:extLst>
          </p:cNvPr>
          <p:cNvSpPr/>
          <p:nvPr/>
        </p:nvSpPr>
        <p:spPr>
          <a:xfrm>
            <a:off x="826636" y="2432865"/>
            <a:ext cx="617561" cy="615018"/>
          </a:xfrm>
          <a:prstGeom prst="ellipse">
            <a:avLst/>
          </a:prstGeom>
          <a:solidFill>
            <a:srgbClr val="25FB67"/>
          </a:solid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just"/>
            <a:endParaRPr lang="en-US"/>
          </a:p>
        </p:txBody>
      </p:sp>
      <p:sp>
        <p:nvSpPr>
          <p:cNvPr id="27" name="Oval 26">
            <a:extLst>
              <a:ext uri="{FF2B5EF4-FFF2-40B4-BE49-F238E27FC236}">
                <a16:creationId xmlns:a16="http://schemas.microsoft.com/office/drawing/2014/main" id="{83929ED2-0714-FE8B-447C-9F8973AB3A51}"/>
              </a:ext>
            </a:extLst>
          </p:cNvPr>
          <p:cNvSpPr/>
          <p:nvPr/>
        </p:nvSpPr>
        <p:spPr>
          <a:xfrm>
            <a:off x="826636" y="4584645"/>
            <a:ext cx="617561" cy="615018"/>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28" name="Oval 27">
            <a:extLst>
              <a:ext uri="{FF2B5EF4-FFF2-40B4-BE49-F238E27FC236}">
                <a16:creationId xmlns:a16="http://schemas.microsoft.com/office/drawing/2014/main" id="{18B3C73D-66C0-5F5E-4A92-B0188889DF9B}"/>
              </a:ext>
            </a:extLst>
          </p:cNvPr>
          <p:cNvSpPr/>
          <p:nvPr/>
        </p:nvSpPr>
        <p:spPr>
          <a:xfrm>
            <a:off x="826635" y="6832079"/>
            <a:ext cx="617561" cy="615018"/>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p>
        </p:txBody>
      </p:sp>
    </p:spTree>
    <p:extLst>
      <p:ext uri="{BB962C8B-B14F-4D97-AF65-F5344CB8AC3E}">
        <p14:creationId xmlns:p14="http://schemas.microsoft.com/office/powerpoint/2010/main" val="419793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D6EF5C65-D09D-F509-7E37-513DB3DF76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D53C824-5D89-916A-CB2E-B3C2A037E88D}"/>
              </a:ext>
            </a:extLst>
          </p:cNvPr>
          <p:cNvGrpSpPr/>
          <p:nvPr/>
        </p:nvGrpSpPr>
        <p:grpSpPr>
          <a:xfrm>
            <a:off x="561726" y="1790699"/>
            <a:ext cx="17164548" cy="7903927"/>
            <a:chOff x="0" y="0"/>
            <a:chExt cx="3754383" cy="3693145"/>
          </a:xfrm>
        </p:grpSpPr>
        <p:sp>
          <p:nvSpPr>
            <p:cNvPr id="3" name="Freeform 3">
              <a:extLst>
                <a:ext uri="{FF2B5EF4-FFF2-40B4-BE49-F238E27FC236}">
                  <a16:creationId xmlns:a16="http://schemas.microsoft.com/office/drawing/2014/main" id="{997EFB44-16C3-E0E6-7440-444A67860283}"/>
                </a:ext>
              </a:extLst>
            </p:cNvPr>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pPr algn="just"/>
              <a:endParaRPr lang="en-US"/>
            </a:p>
          </p:txBody>
        </p:sp>
        <p:sp>
          <p:nvSpPr>
            <p:cNvPr id="4" name="Freeform 4">
              <a:extLst>
                <a:ext uri="{FF2B5EF4-FFF2-40B4-BE49-F238E27FC236}">
                  <a16:creationId xmlns:a16="http://schemas.microsoft.com/office/drawing/2014/main" id="{44C9FD24-EBAB-8D63-E697-710EACE9F3BF}"/>
                </a:ext>
              </a:extLst>
            </p:cNvPr>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pPr algn="just"/>
              <a:endParaRPr lang="en-US"/>
            </a:p>
          </p:txBody>
        </p:sp>
      </p:grpSp>
      <p:grpSp>
        <p:nvGrpSpPr>
          <p:cNvPr id="11" name="Group 6">
            <a:extLst>
              <a:ext uri="{FF2B5EF4-FFF2-40B4-BE49-F238E27FC236}">
                <a16:creationId xmlns:a16="http://schemas.microsoft.com/office/drawing/2014/main" id="{9B655C45-18E7-86B4-DBFB-61D0188592A4}"/>
              </a:ext>
            </a:extLst>
          </p:cNvPr>
          <p:cNvGrpSpPr/>
          <p:nvPr/>
        </p:nvGrpSpPr>
        <p:grpSpPr>
          <a:xfrm>
            <a:off x="561726" y="237041"/>
            <a:ext cx="17164548" cy="1401259"/>
            <a:chOff x="0" y="0"/>
            <a:chExt cx="6964336" cy="701161"/>
          </a:xfrm>
        </p:grpSpPr>
        <p:sp>
          <p:nvSpPr>
            <p:cNvPr id="12" name="Freeform 7">
              <a:extLst>
                <a:ext uri="{FF2B5EF4-FFF2-40B4-BE49-F238E27FC236}">
                  <a16:creationId xmlns:a16="http://schemas.microsoft.com/office/drawing/2014/main" id="{3A9FFB97-6B64-D06D-AA7D-799CFFFA8ECD}"/>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303CD887-A0F7-6C96-0C6E-D540058A5D04}"/>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BF702C52-7D0D-A56E-BF7C-E13FA78C265B}"/>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III. Đánh giá</a:t>
            </a:r>
          </a:p>
        </p:txBody>
      </p:sp>
      <p:pic>
        <p:nvPicPr>
          <p:cNvPr id="8" name="Picture 7">
            <a:extLst>
              <a:ext uri="{FF2B5EF4-FFF2-40B4-BE49-F238E27FC236}">
                <a16:creationId xmlns:a16="http://schemas.microsoft.com/office/drawing/2014/main" id="{47591C60-5B93-A010-478D-D741E3155BB0}"/>
              </a:ext>
            </a:extLst>
          </p:cNvPr>
          <p:cNvPicPr>
            <a:picLocks noChangeAspect="1"/>
          </p:cNvPicPr>
          <p:nvPr/>
        </p:nvPicPr>
        <p:blipFill>
          <a:blip r:embed="rId3"/>
          <a:stretch>
            <a:fillRect/>
          </a:stretch>
        </p:blipFill>
        <p:spPr>
          <a:xfrm>
            <a:off x="2945282" y="1883303"/>
            <a:ext cx="12205828" cy="7626306"/>
          </a:xfrm>
          <a:prstGeom prst="rect">
            <a:avLst/>
          </a:prstGeom>
        </p:spPr>
      </p:pic>
    </p:spTree>
    <p:extLst>
      <p:ext uri="{BB962C8B-B14F-4D97-AF65-F5344CB8AC3E}">
        <p14:creationId xmlns:p14="http://schemas.microsoft.com/office/powerpoint/2010/main" val="3641424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B9BBE297-1C78-21C5-DACA-F502142381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8A42CD1-CB6E-EF92-C053-85EDC4A9EB28}"/>
              </a:ext>
            </a:extLst>
          </p:cNvPr>
          <p:cNvGrpSpPr/>
          <p:nvPr/>
        </p:nvGrpSpPr>
        <p:grpSpPr>
          <a:xfrm>
            <a:off x="561726" y="1790699"/>
            <a:ext cx="17164548" cy="7903927"/>
            <a:chOff x="0" y="0"/>
            <a:chExt cx="3754383" cy="3693145"/>
          </a:xfrm>
        </p:grpSpPr>
        <p:sp>
          <p:nvSpPr>
            <p:cNvPr id="3" name="Freeform 3">
              <a:extLst>
                <a:ext uri="{FF2B5EF4-FFF2-40B4-BE49-F238E27FC236}">
                  <a16:creationId xmlns:a16="http://schemas.microsoft.com/office/drawing/2014/main" id="{D7A6DB61-1464-0840-2C27-ECD5FD5AD053}"/>
                </a:ext>
              </a:extLst>
            </p:cNvPr>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pPr algn="just"/>
              <a:endParaRPr lang="en-US"/>
            </a:p>
          </p:txBody>
        </p:sp>
        <p:sp>
          <p:nvSpPr>
            <p:cNvPr id="4" name="Freeform 4">
              <a:extLst>
                <a:ext uri="{FF2B5EF4-FFF2-40B4-BE49-F238E27FC236}">
                  <a16:creationId xmlns:a16="http://schemas.microsoft.com/office/drawing/2014/main" id="{9EEB846D-57B8-73F9-4AE9-A8A1344B7F16}"/>
                </a:ext>
              </a:extLst>
            </p:cNvPr>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pPr algn="just"/>
              <a:endParaRPr lang="en-US"/>
            </a:p>
          </p:txBody>
        </p:sp>
      </p:grpSp>
      <p:grpSp>
        <p:nvGrpSpPr>
          <p:cNvPr id="11" name="Group 6">
            <a:extLst>
              <a:ext uri="{FF2B5EF4-FFF2-40B4-BE49-F238E27FC236}">
                <a16:creationId xmlns:a16="http://schemas.microsoft.com/office/drawing/2014/main" id="{42F88C79-083A-22AA-764F-CDF95DD02544}"/>
              </a:ext>
            </a:extLst>
          </p:cNvPr>
          <p:cNvGrpSpPr/>
          <p:nvPr/>
        </p:nvGrpSpPr>
        <p:grpSpPr>
          <a:xfrm>
            <a:off x="561726" y="237041"/>
            <a:ext cx="17164548" cy="1401259"/>
            <a:chOff x="0" y="0"/>
            <a:chExt cx="6964336" cy="701161"/>
          </a:xfrm>
        </p:grpSpPr>
        <p:sp>
          <p:nvSpPr>
            <p:cNvPr id="12" name="Freeform 7">
              <a:extLst>
                <a:ext uri="{FF2B5EF4-FFF2-40B4-BE49-F238E27FC236}">
                  <a16:creationId xmlns:a16="http://schemas.microsoft.com/office/drawing/2014/main" id="{0EA1E0A3-2D32-141B-971C-56BAB4543EF8}"/>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1CEF768C-73F7-653B-4621-E9BCCA2738A2}"/>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516B9958-93F5-AEC9-399E-3FD7D0E79592}"/>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III. Đánh giá</a:t>
            </a:r>
          </a:p>
        </p:txBody>
      </p:sp>
      <p:pic>
        <p:nvPicPr>
          <p:cNvPr id="8" name="Picture 7">
            <a:extLst>
              <a:ext uri="{FF2B5EF4-FFF2-40B4-BE49-F238E27FC236}">
                <a16:creationId xmlns:a16="http://schemas.microsoft.com/office/drawing/2014/main" id="{7D914F8B-93BD-C7A1-DD97-1F548C60EA6B}"/>
              </a:ext>
            </a:extLst>
          </p:cNvPr>
          <p:cNvPicPr>
            <a:picLocks noChangeAspect="1"/>
          </p:cNvPicPr>
          <p:nvPr/>
        </p:nvPicPr>
        <p:blipFill>
          <a:blip r:embed="rId3"/>
          <a:stretch>
            <a:fillRect/>
          </a:stretch>
        </p:blipFill>
        <p:spPr>
          <a:xfrm>
            <a:off x="1219200" y="3197140"/>
            <a:ext cx="6849311" cy="4316221"/>
          </a:xfrm>
          <a:prstGeom prst="rect">
            <a:avLst/>
          </a:prstGeom>
        </p:spPr>
      </p:pic>
      <p:sp>
        <p:nvSpPr>
          <p:cNvPr id="6" name="TextBox 5">
            <a:extLst>
              <a:ext uri="{FF2B5EF4-FFF2-40B4-BE49-F238E27FC236}">
                <a16:creationId xmlns:a16="http://schemas.microsoft.com/office/drawing/2014/main" id="{D5DFB823-68D0-6B38-D7DE-DF083AE086A2}"/>
              </a:ext>
            </a:extLst>
          </p:cNvPr>
          <p:cNvSpPr txBox="1"/>
          <p:nvPr/>
        </p:nvSpPr>
        <p:spPr>
          <a:xfrm>
            <a:off x="8239886" y="2705100"/>
            <a:ext cx="8860869" cy="5478423"/>
          </a:xfrm>
          <a:prstGeom prst="rect">
            <a:avLst/>
          </a:prstGeom>
          <a:noFill/>
        </p:spPr>
        <p:txBody>
          <a:bodyPr wrap="square">
            <a:spAutoFit/>
          </a:bodyPr>
          <a:lstStyle/>
          <a:p>
            <a:pPr algn="just">
              <a:buNone/>
            </a:pPr>
            <a:r>
              <a:rPr lang="en-US" sz="2500" b="1"/>
              <a:t>B</a:t>
            </a:r>
            <a:r>
              <a:rPr lang="vi-VN" sz="2500" b="1"/>
              <a:t>iểu đồ “So sánh kết quả dự báo giữa các mô hình”:</a:t>
            </a:r>
            <a:endParaRPr lang="vi-VN" sz="2500"/>
          </a:p>
          <a:p>
            <a:pPr algn="just">
              <a:buFont typeface="Arial" panose="020B0604020202020204" pitchFamily="34" charset="0"/>
              <a:buChar char="•"/>
            </a:pPr>
            <a:r>
              <a:rPr lang="vi-VN" sz="2500" b="1"/>
              <a:t>Dữ liệu thực tế (Actual - màu xanh dương)</a:t>
            </a:r>
            <a:r>
              <a:rPr lang="vi-VN" sz="2500"/>
              <a:t> có biến động rõ rệt, đặc biệt từ tháng 9 đến tháng 11/2011 với các đỉnh cao và đáy sâu.</a:t>
            </a:r>
          </a:p>
          <a:p>
            <a:pPr algn="just">
              <a:buFont typeface="Arial" panose="020B0604020202020204" pitchFamily="34" charset="0"/>
              <a:buChar char="•"/>
            </a:pPr>
            <a:r>
              <a:rPr lang="vi-VN" sz="2500" b="1"/>
              <a:t>Prophet (cam)</a:t>
            </a:r>
            <a:r>
              <a:rPr lang="vi-VN" sz="2500"/>
              <a:t> bám khá sát xu hướng chung, nhưng có độ trễ nhẹ và làm trơn đỉnh/đáy, thể hiện đặc trưng của mô hình tuyến tính với thành phần mùa vụ.</a:t>
            </a:r>
          </a:p>
          <a:p>
            <a:pPr algn="just">
              <a:buFont typeface="Arial" panose="020B0604020202020204" pitchFamily="34" charset="0"/>
              <a:buChar char="•"/>
            </a:pPr>
            <a:r>
              <a:rPr lang="vi-VN" sz="2500" b="1"/>
              <a:t>LSTM (xanh lá)</a:t>
            </a:r>
            <a:r>
              <a:rPr lang="vi-VN" sz="2500"/>
              <a:t> mô phỏng tương đối tốt dao động ngắn hạn và bám sát xu hướng, đặc biệt trong giai đoạn tăng mạnh (10–11/2011), cho thấy khả năng học chuỗi thời gian phức tạp.</a:t>
            </a:r>
          </a:p>
          <a:p>
            <a:pPr algn="just">
              <a:buFont typeface="Arial" panose="020B0604020202020204" pitchFamily="34" charset="0"/>
              <a:buChar char="•"/>
            </a:pPr>
            <a:r>
              <a:rPr lang="vi-VN" sz="2500" b="1"/>
              <a:t>Random Forest (đỏ)</a:t>
            </a:r>
            <a:r>
              <a:rPr lang="vi-VN" sz="2500"/>
              <a:t> hoạt động kém ổn định hơn, đặc biệt khi vào giai đoạn biến động lớn – mô hình không phản ứng tốt với các đỉnh/đáy bất thường.</a:t>
            </a:r>
          </a:p>
        </p:txBody>
      </p:sp>
    </p:spTree>
    <p:extLst>
      <p:ext uri="{BB962C8B-B14F-4D97-AF65-F5344CB8AC3E}">
        <p14:creationId xmlns:p14="http://schemas.microsoft.com/office/powerpoint/2010/main" val="540351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9D43A"/>
        </a:solidFill>
        <a:effectLst/>
      </p:bgPr>
    </p:bg>
    <p:spTree>
      <p:nvGrpSpPr>
        <p:cNvPr id="1" name="">
          <a:extLst>
            <a:ext uri="{FF2B5EF4-FFF2-40B4-BE49-F238E27FC236}">
              <a16:creationId xmlns:a16="http://schemas.microsoft.com/office/drawing/2014/main" id="{AD10455A-1835-EB8A-9DD5-ECF787349D0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CDE63B-8E59-EF2F-BDA2-76BEAF138AB3}"/>
              </a:ext>
            </a:extLst>
          </p:cNvPr>
          <p:cNvGrpSpPr/>
          <p:nvPr/>
        </p:nvGrpSpPr>
        <p:grpSpPr>
          <a:xfrm>
            <a:off x="561726" y="1790699"/>
            <a:ext cx="17164548" cy="7903927"/>
            <a:chOff x="0" y="0"/>
            <a:chExt cx="3754383" cy="3693145"/>
          </a:xfrm>
        </p:grpSpPr>
        <p:sp>
          <p:nvSpPr>
            <p:cNvPr id="3" name="Freeform 3">
              <a:extLst>
                <a:ext uri="{FF2B5EF4-FFF2-40B4-BE49-F238E27FC236}">
                  <a16:creationId xmlns:a16="http://schemas.microsoft.com/office/drawing/2014/main" id="{6D8D1B70-789C-F534-F752-C64982477D9E}"/>
                </a:ext>
              </a:extLst>
            </p:cNvPr>
            <p:cNvSpPr/>
            <p:nvPr/>
          </p:nvSpPr>
          <p:spPr>
            <a:xfrm>
              <a:off x="12700" y="12700"/>
              <a:ext cx="3687073" cy="3624565"/>
            </a:xfrm>
            <a:custGeom>
              <a:avLst/>
              <a:gdLst/>
              <a:ahLst/>
              <a:cxnLst/>
              <a:rect l="l" t="t" r="r" b="b"/>
              <a:pathLst>
                <a:path w="3687073" h="3624565">
                  <a:moveTo>
                    <a:pt x="43180" y="3624565"/>
                  </a:moveTo>
                  <a:lnTo>
                    <a:pt x="3643893" y="3624565"/>
                  </a:lnTo>
                  <a:cubicBezTo>
                    <a:pt x="3668023" y="3624565"/>
                    <a:pt x="3687073" y="3605515"/>
                    <a:pt x="3687073" y="3581385"/>
                  </a:cubicBezTo>
                  <a:lnTo>
                    <a:pt x="3687073" y="43180"/>
                  </a:lnTo>
                  <a:cubicBezTo>
                    <a:pt x="3687073" y="19050"/>
                    <a:pt x="3668023" y="0"/>
                    <a:pt x="3643893" y="0"/>
                  </a:cubicBezTo>
                  <a:lnTo>
                    <a:pt x="43180" y="0"/>
                  </a:lnTo>
                  <a:cubicBezTo>
                    <a:pt x="19050" y="0"/>
                    <a:pt x="0" y="19050"/>
                    <a:pt x="0" y="43180"/>
                  </a:cubicBezTo>
                  <a:lnTo>
                    <a:pt x="0" y="3581385"/>
                  </a:lnTo>
                  <a:cubicBezTo>
                    <a:pt x="0" y="3605515"/>
                    <a:pt x="19050" y="3624565"/>
                    <a:pt x="43180" y="3624565"/>
                  </a:cubicBezTo>
                  <a:close/>
                </a:path>
              </a:pathLst>
            </a:custGeom>
            <a:solidFill>
              <a:srgbClr val="FFFFFF"/>
            </a:solidFill>
          </p:spPr>
          <p:txBody>
            <a:bodyPr/>
            <a:lstStyle/>
            <a:p>
              <a:pPr algn="just"/>
              <a:endParaRPr lang="en-US"/>
            </a:p>
          </p:txBody>
        </p:sp>
        <p:sp>
          <p:nvSpPr>
            <p:cNvPr id="4" name="Freeform 4">
              <a:extLst>
                <a:ext uri="{FF2B5EF4-FFF2-40B4-BE49-F238E27FC236}">
                  <a16:creationId xmlns:a16="http://schemas.microsoft.com/office/drawing/2014/main" id="{976D2411-7FCB-5CCD-D1B6-7E373EE80A53}"/>
                </a:ext>
              </a:extLst>
            </p:cNvPr>
            <p:cNvSpPr/>
            <p:nvPr/>
          </p:nvSpPr>
          <p:spPr>
            <a:xfrm>
              <a:off x="0" y="0"/>
              <a:ext cx="3754383" cy="3693145"/>
            </a:xfrm>
            <a:custGeom>
              <a:avLst/>
              <a:gdLst/>
              <a:ahLst/>
              <a:cxnLst/>
              <a:rect l="l" t="t" r="r" b="b"/>
              <a:pathLst>
                <a:path w="3754383" h="3693145">
                  <a:moveTo>
                    <a:pt x="3711203" y="44450"/>
                  </a:moveTo>
                  <a:cubicBezTo>
                    <a:pt x="3706123" y="19050"/>
                    <a:pt x="3683263" y="0"/>
                    <a:pt x="3656593" y="0"/>
                  </a:cubicBezTo>
                  <a:lnTo>
                    <a:pt x="55880" y="0"/>
                  </a:lnTo>
                  <a:cubicBezTo>
                    <a:pt x="25400" y="0"/>
                    <a:pt x="0" y="25400"/>
                    <a:pt x="0" y="55880"/>
                  </a:cubicBezTo>
                  <a:lnTo>
                    <a:pt x="0" y="3594085"/>
                  </a:lnTo>
                  <a:cubicBezTo>
                    <a:pt x="0" y="3620755"/>
                    <a:pt x="17780" y="3642345"/>
                    <a:pt x="43180" y="3648695"/>
                  </a:cubicBezTo>
                  <a:cubicBezTo>
                    <a:pt x="48260" y="3674095"/>
                    <a:pt x="71120" y="3693145"/>
                    <a:pt x="97790" y="3693145"/>
                  </a:cubicBezTo>
                  <a:lnTo>
                    <a:pt x="3698503" y="3693145"/>
                  </a:lnTo>
                  <a:cubicBezTo>
                    <a:pt x="3728983" y="3693145"/>
                    <a:pt x="3754383" y="3667745"/>
                    <a:pt x="3754383" y="3637265"/>
                  </a:cubicBezTo>
                  <a:lnTo>
                    <a:pt x="3754383" y="99060"/>
                  </a:lnTo>
                  <a:cubicBezTo>
                    <a:pt x="3754383" y="72390"/>
                    <a:pt x="3736603" y="50800"/>
                    <a:pt x="3711203" y="44450"/>
                  </a:cubicBezTo>
                  <a:close/>
                  <a:moveTo>
                    <a:pt x="12700" y="3594085"/>
                  </a:moveTo>
                  <a:lnTo>
                    <a:pt x="12700" y="55880"/>
                  </a:lnTo>
                  <a:cubicBezTo>
                    <a:pt x="12700" y="31750"/>
                    <a:pt x="31750" y="12700"/>
                    <a:pt x="55880" y="12700"/>
                  </a:cubicBezTo>
                  <a:lnTo>
                    <a:pt x="3656593" y="12700"/>
                  </a:lnTo>
                  <a:cubicBezTo>
                    <a:pt x="3680723" y="12700"/>
                    <a:pt x="3699773" y="31750"/>
                    <a:pt x="3699773" y="55880"/>
                  </a:cubicBezTo>
                  <a:lnTo>
                    <a:pt x="3699773" y="3594085"/>
                  </a:lnTo>
                  <a:cubicBezTo>
                    <a:pt x="3699773" y="3618215"/>
                    <a:pt x="3680723" y="3637265"/>
                    <a:pt x="3656593" y="3637265"/>
                  </a:cubicBezTo>
                  <a:lnTo>
                    <a:pt x="55880" y="3637265"/>
                  </a:lnTo>
                  <a:cubicBezTo>
                    <a:pt x="31750" y="3637265"/>
                    <a:pt x="12700" y="3618215"/>
                    <a:pt x="12700" y="3594085"/>
                  </a:cubicBezTo>
                  <a:close/>
                </a:path>
              </a:pathLst>
            </a:custGeom>
            <a:solidFill>
              <a:srgbClr val="000000"/>
            </a:solidFill>
          </p:spPr>
          <p:txBody>
            <a:bodyPr/>
            <a:lstStyle/>
            <a:p>
              <a:pPr algn="just"/>
              <a:endParaRPr lang="en-US"/>
            </a:p>
          </p:txBody>
        </p:sp>
      </p:grpSp>
      <p:grpSp>
        <p:nvGrpSpPr>
          <p:cNvPr id="11" name="Group 6">
            <a:extLst>
              <a:ext uri="{FF2B5EF4-FFF2-40B4-BE49-F238E27FC236}">
                <a16:creationId xmlns:a16="http://schemas.microsoft.com/office/drawing/2014/main" id="{0B025BC1-6008-0B3C-A680-B20CB11DEBA7}"/>
              </a:ext>
            </a:extLst>
          </p:cNvPr>
          <p:cNvGrpSpPr/>
          <p:nvPr/>
        </p:nvGrpSpPr>
        <p:grpSpPr>
          <a:xfrm>
            <a:off x="561726" y="237041"/>
            <a:ext cx="17164548" cy="1401259"/>
            <a:chOff x="0" y="0"/>
            <a:chExt cx="6964336" cy="701161"/>
          </a:xfrm>
        </p:grpSpPr>
        <p:sp>
          <p:nvSpPr>
            <p:cNvPr id="12" name="Freeform 7">
              <a:extLst>
                <a:ext uri="{FF2B5EF4-FFF2-40B4-BE49-F238E27FC236}">
                  <a16:creationId xmlns:a16="http://schemas.microsoft.com/office/drawing/2014/main" id="{D5C8CD5C-1A9E-DB7B-42C9-066C958EC933}"/>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13" name="Freeform 8">
              <a:extLst>
                <a:ext uri="{FF2B5EF4-FFF2-40B4-BE49-F238E27FC236}">
                  <a16:creationId xmlns:a16="http://schemas.microsoft.com/office/drawing/2014/main" id="{BE2C3BB4-C000-DF78-D496-8120B93CE917}"/>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14" name="TextBox 8">
            <a:extLst>
              <a:ext uri="{FF2B5EF4-FFF2-40B4-BE49-F238E27FC236}">
                <a16:creationId xmlns:a16="http://schemas.microsoft.com/office/drawing/2014/main" id="{98A06251-0123-4172-1A27-1D6D2A4503FC}"/>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III. Đánh giá</a:t>
            </a:r>
          </a:p>
        </p:txBody>
      </p:sp>
      <p:pic>
        <p:nvPicPr>
          <p:cNvPr id="8" name="Picture 7">
            <a:extLst>
              <a:ext uri="{FF2B5EF4-FFF2-40B4-BE49-F238E27FC236}">
                <a16:creationId xmlns:a16="http://schemas.microsoft.com/office/drawing/2014/main" id="{55AEE0F2-07E8-DC54-22C7-0396B15215D0}"/>
              </a:ext>
            </a:extLst>
          </p:cNvPr>
          <p:cNvPicPr>
            <a:picLocks noChangeAspect="1"/>
          </p:cNvPicPr>
          <p:nvPr/>
        </p:nvPicPr>
        <p:blipFill>
          <a:blip r:embed="rId3"/>
          <a:stretch>
            <a:fillRect/>
          </a:stretch>
        </p:blipFill>
        <p:spPr>
          <a:xfrm>
            <a:off x="1219200" y="3197140"/>
            <a:ext cx="6849311" cy="4316221"/>
          </a:xfrm>
          <a:prstGeom prst="rect">
            <a:avLst/>
          </a:prstGeom>
        </p:spPr>
      </p:pic>
      <p:sp>
        <p:nvSpPr>
          <p:cNvPr id="6" name="TextBox 5">
            <a:extLst>
              <a:ext uri="{FF2B5EF4-FFF2-40B4-BE49-F238E27FC236}">
                <a16:creationId xmlns:a16="http://schemas.microsoft.com/office/drawing/2014/main" id="{C6A53974-235C-5429-D99C-FBF62F4E6261}"/>
              </a:ext>
            </a:extLst>
          </p:cNvPr>
          <p:cNvSpPr txBox="1"/>
          <p:nvPr/>
        </p:nvSpPr>
        <p:spPr>
          <a:xfrm>
            <a:off x="8360331" y="2863989"/>
            <a:ext cx="8860869" cy="5632311"/>
          </a:xfrm>
          <a:prstGeom prst="rect">
            <a:avLst/>
          </a:prstGeom>
          <a:noFill/>
        </p:spPr>
        <p:txBody>
          <a:bodyPr wrap="square">
            <a:spAutoFit/>
          </a:bodyPr>
          <a:lstStyle/>
          <a:p>
            <a:pPr algn="ctr"/>
            <a:r>
              <a:rPr lang="en-US" sz="3500" b="1"/>
              <a:t>INSIGHT:</a:t>
            </a:r>
          </a:p>
          <a:p>
            <a:pPr algn="just">
              <a:buFont typeface="Arial" panose="020B0604020202020204" pitchFamily="34" charset="0"/>
              <a:buChar char="•"/>
            </a:pPr>
            <a:r>
              <a:rPr lang="vi-VN" sz="2500" b="1"/>
              <a:t>LSTM</a:t>
            </a:r>
            <a:r>
              <a:rPr lang="vi-VN" sz="2500"/>
              <a:t> có thể là lựa chọn tốt nhất nếu muốn </a:t>
            </a:r>
            <a:r>
              <a:rPr lang="vi-VN" sz="2500" b="1"/>
              <a:t>dự báo biến động ngắn hạn</a:t>
            </a:r>
            <a:r>
              <a:rPr lang="vi-VN" sz="2500"/>
              <a:t> và bám sát thực tế, nhưng cần cải thiện khả năng bắt đỉnh.</a:t>
            </a:r>
          </a:p>
          <a:p>
            <a:pPr algn="just">
              <a:buFont typeface="Arial" panose="020B0604020202020204" pitchFamily="34" charset="0"/>
              <a:buChar char="•"/>
            </a:pPr>
            <a:r>
              <a:rPr lang="vi-VN" sz="2500" b="1"/>
              <a:t>Prophet</a:t>
            </a:r>
            <a:r>
              <a:rPr lang="vi-VN" sz="2500"/>
              <a:t> phù hợp cho các bài toán cần </a:t>
            </a:r>
            <a:r>
              <a:rPr lang="vi-VN" sz="2500" b="1"/>
              <a:t>ổn định, dễ giải thích</a:t>
            </a:r>
            <a:r>
              <a:rPr lang="vi-VN" sz="2500"/>
              <a:t>, nhưng nên kết hợp với các mô hình khác khi biến động mạnh.</a:t>
            </a:r>
          </a:p>
          <a:p>
            <a:pPr algn="just">
              <a:buFont typeface="Arial" panose="020B0604020202020204" pitchFamily="34" charset="0"/>
              <a:buChar char="•"/>
            </a:pPr>
            <a:r>
              <a:rPr lang="vi-VN" sz="2500" b="1"/>
              <a:t>Random Forest</a:t>
            </a:r>
            <a:r>
              <a:rPr lang="vi-VN" sz="2500"/>
              <a:t> không phù hợp cho chuỗi thời gian có tính liên tục cao – cần cải tiến hoặc thay thế.</a:t>
            </a:r>
            <a:endParaRPr lang="en-US" sz="2500"/>
          </a:p>
          <a:p>
            <a:pPr algn="just"/>
            <a:r>
              <a:rPr lang="vi-VN" sz="2500"/>
              <a:t>→ </a:t>
            </a:r>
            <a:r>
              <a:rPr lang="vi-VN" sz="2500" b="1"/>
              <a:t>Tổng kết</a:t>
            </a:r>
            <a:r>
              <a:rPr lang="vi-VN" sz="2500"/>
              <a:t>: LSTM có độ bám tốt nhất với dữ liệu thực tế trong giai đoạn biến động mạnh. Prophet ổn định và dễ dự báo chu kỳ. Random Forest không phù hợp trong dự báo chuỗi thời gian có biến động lớn</a:t>
            </a:r>
          </a:p>
          <a:p>
            <a:pPr algn="just">
              <a:buFont typeface="Arial" panose="020B0604020202020204" pitchFamily="34" charset="0"/>
              <a:buChar char="•"/>
            </a:pPr>
            <a:endParaRPr lang="vi-VN" sz="2500"/>
          </a:p>
        </p:txBody>
      </p:sp>
    </p:spTree>
    <p:extLst>
      <p:ext uri="{BB962C8B-B14F-4D97-AF65-F5344CB8AC3E}">
        <p14:creationId xmlns:p14="http://schemas.microsoft.com/office/powerpoint/2010/main" val="561309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CEDE1C45-A41C-73FA-BF53-3B6E7EF943C4}"/>
            </a:ext>
          </a:extLst>
        </p:cNvPr>
        <p:cNvGrpSpPr/>
        <p:nvPr/>
      </p:nvGrpSpPr>
      <p:grpSpPr>
        <a:xfrm>
          <a:off x="0" y="0"/>
          <a:ext cx="0" cy="0"/>
          <a:chOff x="0" y="0"/>
          <a:chExt cx="0" cy="0"/>
        </a:xfrm>
      </p:grpSpPr>
      <p:grpSp>
        <p:nvGrpSpPr>
          <p:cNvPr id="9" name="Group 2">
            <a:extLst>
              <a:ext uri="{FF2B5EF4-FFF2-40B4-BE49-F238E27FC236}">
                <a16:creationId xmlns:a16="http://schemas.microsoft.com/office/drawing/2014/main" id="{E2C4CEB1-844F-8282-8D27-B18D4FD99A0B}"/>
              </a:ext>
            </a:extLst>
          </p:cNvPr>
          <p:cNvGrpSpPr/>
          <p:nvPr/>
        </p:nvGrpSpPr>
        <p:grpSpPr>
          <a:xfrm>
            <a:off x="561726" y="1943100"/>
            <a:ext cx="17164548" cy="8187854"/>
            <a:chOff x="0" y="0"/>
            <a:chExt cx="6964336" cy="4023702"/>
          </a:xfrm>
        </p:grpSpPr>
        <p:sp>
          <p:nvSpPr>
            <p:cNvPr id="16" name="Freeform 3">
              <a:extLst>
                <a:ext uri="{FF2B5EF4-FFF2-40B4-BE49-F238E27FC236}">
                  <a16:creationId xmlns:a16="http://schemas.microsoft.com/office/drawing/2014/main" id="{74ADEAF9-F437-197A-7ADA-CE12D6F2C9E0}"/>
                </a:ext>
              </a:extLst>
            </p:cNvPr>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17" name="Freeform 4">
              <a:extLst>
                <a:ext uri="{FF2B5EF4-FFF2-40B4-BE49-F238E27FC236}">
                  <a16:creationId xmlns:a16="http://schemas.microsoft.com/office/drawing/2014/main" id="{C506E7D4-0D57-D42A-58EB-E8EECD3FC1AF}"/>
                </a:ext>
              </a:extLst>
            </p:cNvPr>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grpSp>
        <p:nvGrpSpPr>
          <p:cNvPr id="2" name="Group 6">
            <a:extLst>
              <a:ext uri="{FF2B5EF4-FFF2-40B4-BE49-F238E27FC236}">
                <a16:creationId xmlns:a16="http://schemas.microsoft.com/office/drawing/2014/main" id="{B9C0D514-A5D5-18E9-E917-433078A30B20}"/>
              </a:ext>
            </a:extLst>
          </p:cNvPr>
          <p:cNvGrpSpPr/>
          <p:nvPr/>
        </p:nvGrpSpPr>
        <p:grpSpPr>
          <a:xfrm>
            <a:off x="561726" y="237041"/>
            <a:ext cx="17164548" cy="1401259"/>
            <a:chOff x="0" y="0"/>
            <a:chExt cx="6964336" cy="701161"/>
          </a:xfrm>
        </p:grpSpPr>
        <p:sp>
          <p:nvSpPr>
            <p:cNvPr id="3" name="Freeform 7">
              <a:extLst>
                <a:ext uri="{FF2B5EF4-FFF2-40B4-BE49-F238E27FC236}">
                  <a16:creationId xmlns:a16="http://schemas.microsoft.com/office/drawing/2014/main" id="{6EC11AB6-55FE-0F68-A175-1DFAED5B06FC}"/>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4" name="Freeform 8">
              <a:extLst>
                <a:ext uri="{FF2B5EF4-FFF2-40B4-BE49-F238E27FC236}">
                  <a16:creationId xmlns:a16="http://schemas.microsoft.com/office/drawing/2014/main" id="{B785F2D3-7DAB-CDE8-7F9D-673B0FE64293}"/>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5" name="TextBox 8">
            <a:extLst>
              <a:ext uri="{FF2B5EF4-FFF2-40B4-BE49-F238E27FC236}">
                <a16:creationId xmlns:a16="http://schemas.microsoft.com/office/drawing/2014/main" id="{ED5A5211-A44C-0F5A-1343-74DAD76BFC7D}"/>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IV. Dự báo</a:t>
            </a:r>
          </a:p>
        </p:txBody>
      </p:sp>
      <p:pic>
        <p:nvPicPr>
          <p:cNvPr id="7" name="Picture 6">
            <a:extLst>
              <a:ext uri="{FF2B5EF4-FFF2-40B4-BE49-F238E27FC236}">
                <a16:creationId xmlns:a16="http://schemas.microsoft.com/office/drawing/2014/main" id="{A418194E-DB3E-815E-1094-328281698C27}"/>
              </a:ext>
            </a:extLst>
          </p:cNvPr>
          <p:cNvPicPr>
            <a:picLocks noChangeAspect="1"/>
          </p:cNvPicPr>
          <p:nvPr/>
        </p:nvPicPr>
        <p:blipFill>
          <a:blip r:embed="rId2"/>
          <a:stretch>
            <a:fillRect/>
          </a:stretch>
        </p:blipFill>
        <p:spPr>
          <a:xfrm>
            <a:off x="2863137" y="3086100"/>
            <a:ext cx="12300663" cy="6702581"/>
          </a:xfrm>
          <a:prstGeom prst="rect">
            <a:avLst/>
          </a:prstGeom>
        </p:spPr>
      </p:pic>
      <p:sp>
        <p:nvSpPr>
          <p:cNvPr id="6" name="TextBox 5">
            <a:extLst>
              <a:ext uri="{FF2B5EF4-FFF2-40B4-BE49-F238E27FC236}">
                <a16:creationId xmlns:a16="http://schemas.microsoft.com/office/drawing/2014/main" id="{C8498167-6AF1-D107-1326-A84F0A7A8A6C}"/>
              </a:ext>
            </a:extLst>
          </p:cNvPr>
          <p:cNvSpPr txBox="1"/>
          <p:nvPr/>
        </p:nvSpPr>
        <p:spPr>
          <a:xfrm>
            <a:off x="5638800" y="1995726"/>
            <a:ext cx="7620000" cy="861774"/>
          </a:xfrm>
          <a:prstGeom prst="rect">
            <a:avLst/>
          </a:prstGeom>
          <a:noFill/>
        </p:spPr>
        <p:txBody>
          <a:bodyPr wrap="square" rtlCol="0">
            <a:spAutoFit/>
          </a:bodyPr>
          <a:lstStyle/>
          <a:p>
            <a:r>
              <a:rPr lang="en-US" sz="5000">
                <a:latin typeface="KG Primary Penmanship" panose="020B0604020202020204" charset="0"/>
              </a:rPr>
              <a:t>Biều đồ dự báo bằng LSTM </a:t>
            </a:r>
          </a:p>
        </p:txBody>
      </p:sp>
    </p:spTree>
    <p:extLst>
      <p:ext uri="{BB962C8B-B14F-4D97-AF65-F5344CB8AC3E}">
        <p14:creationId xmlns:p14="http://schemas.microsoft.com/office/powerpoint/2010/main" val="651988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a:extLst>
            <a:ext uri="{FF2B5EF4-FFF2-40B4-BE49-F238E27FC236}">
              <a16:creationId xmlns:a16="http://schemas.microsoft.com/office/drawing/2014/main" id="{1428865C-9DD5-6DEF-B2BF-700DF4CD0785}"/>
            </a:ext>
          </a:extLst>
        </p:cNvPr>
        <p:cNvGrpSpPr/>
        <p:nvPr/>
      </p:nvGrpSpPr>
      <p:grpSpPr>
        <a:xfrm>
          <a:off x="0" y="0"/>
          <a:ext cx="0" cy="0"/>
          <a:chOff x="0" y="0"/>
          <a:chExt cx="0" cy="0"/>
        </a:xfrm>
      </p:grpSpPr>
      <p:grpSp>
        <p:nvGrpSpPr>
          <p:cNvPr id="9" name="Group 2">
            <a:extLst>
              <a:ext uri="{FF2B5EF4-FFF2-40B4-BE49-F238E27FC236}">
                <a16:creationId xmlns:a16="http://schemas.microsoft.com/office/drawing/2014/main" id="{00D3FAC4-7B29-6628-8195-9930978A4E2C}"/>
              </a:ext>
            </a:extLst>
          </p:cNvPr>
          <p:cNvGrpSpPr/>
          <p:nvPr/>
        </p:nvGrpSpPr>
        <p:grpSpPr>
          <a:xfrm>
            <a:off x="561726" y="1943100"/>
            <a:ext cx="17164548" cy="8187854"/>
            <a:chOff x="0" y="0"/>
            <a:chExt cx="6964336" cy="4023702"/>
          </a:xfrm>
        </p:grpSpPr>
        <p:sp>
          <p:nvSpPr>
            <p:cNvPr id="16" name="Freeform 3">
              <a:extLst>
                <a:ext uri="{FF2B5EF4-FFF2-40B4-BE49-F238E27FC236}">
                  <a16:creationId xmlns:a16="http://schemas.microsoft.com/office/drawing/2014/main" id="{36E2311C-B6D0-C806-D522-1767A44E162F}"/>
                </a:ext>
              </a:extLst>
            </p:cNvPr>
            <p:cNvSpPr/>
            <p:nvPr/>
          </p:nvSpPr>
          <p:spPr>
            <a:xfrm>
              <a:off x="12700" y="12700"/>
              <a:ext cx="6897026" cy="3955122"/>
            </a:xfrm>
            <a:custGeom>
              <a:avLst/>
              <a:gdLst/>
              <a:ahLst/>
              <a:cxnLst/>
              <a:rect l="l" t="t" r="r" b="b"/>
              <a:pathLst>
                <a:path w="6897026" h="3955122">
                  <a:moveTo>
                    <a:pt x="43180" y="3955122"/>
                  </a:moveTo>
                  <a:lnTo>
                    <a:pt x="6853846" y="3955122"/>
                  </a:lnTo>
                  <a:cubicBezTo>
                    <a:pt x="6877976" y="3955122"/>
                    <a:pt x="6897026" y="3936072"/>
                    <a:pt x="6897026" y="3911942"/>
                  </a:cubicBezTo>
                  <a:lnTo>
                    <a:pt x="6897026" y="43180"/>
                  </a:lnTo>
                  <a:cubicBezTo>
                    <a:pt x="6897026" y="19050"/>
                    <a:pt x="6877976" y="0"/>
                    <a:pt x="6853846" y="0"/>
                  </a:cubicBezTo>
                  <a:lnTo>
                    <a:pt x="43180" y="0"/>
                  </a:lnTo>
                  <a:cubicBezTo>
                    <a:pt x="19050" y="0"/>
                    <a:pt x="0" y="19050"/>
                    <a:pt x="0" y="43180"/>
                  </a:cubicBezTo>
                  <a:lnTo>
                    <a:pt x="0" y="3911942"/>
                  </a:lnTo>
                  <a:cubicBezTo>
                    <a:pt x="0" y="3936072"/>
                    <a:pt x="19050" y="3955122"/>
                    <a:pt x="43180" y="3955122"/>
                  </a:cubicBezTo>
                  <a:close/>
                </a:path>
              </a:pathLst>
            </a:custGeom>
            <a:solidFill>
              <a:srgbClr val="FFFFFF"/>
            </a:solidFill>
          </p:spPr>
          <p:txBody>
            <a:bodyPr/>
            <a:lstStyle/>
            <a:p>
              <a:endParaRPr lang="en-US"/>
            </a:p>
          </p:txBody>
        </p:sp>
        <p:sp>
          <p:nvSpPr>
            <p:cNvPr id="17" name="Freeform 4">
              <a:extLst>
                <a:ext uri="{FF2B5EF4-FFF2-40B4-BE49-F238E27FC236}">
                  <a16:creationId xmlns:a16="http://schemas.microsoft.com/office/drawing/2014/main" id="{4D2F7D16-0DB9-C373-4FCC-EF3BC280164F}"/>
                </a:ext>
              </a:extLst>
            </p:cNvPr>
            <p:cNvSpPr/>
            <p:nvPr/>
          </p:nvSpPr>
          <p:spPr>
            <a:xfrm>
              <a:off x="0" y="0"/>
              <a:ext cx="6964336" cy="4023702"/>
            </a:xfrm>
            <a:custGeom>
              <a:avLst/>
              <a:gdLst/>
              <a:ahLst/>
              <a:cxnLst/>
              <a:rect l="l" t="t" r="r" b="b"/>
              <a:pathLst>
                <a:path w="6964336" h="4023702">
                  <a:moveTo>
                    <a:pt x="6921157" y="44450"/>
                  </a:moveTo>
                  <a:cubicBezTo>
                    <a:pt x="6916076" y="19050"/>
                    <a:pt x="6893216" y="0"/>
                    <a:pt x="6866546" y="0"/>
                  </a:cubicBezTo>
                  <a:lnTo>
                    <a:pt x="55880" y="0"/>
                  </a:lnTo>
                  <a:cubicBezTo>
                    <a:pt x="25400" y="0"/>
                    <a:pt x="0" y="25400"/>
                    <a:pt x="0" y="55880"/>
                  </a:cubicBezTo>
                  <a:lnTo>
                    <a:pt x="0" y="3924642"/>
                  </a:lnTo>
                  <a:cubicBezTo>
                    <a:pt x="0" y="3951312"/>
                    <a:pt x="17780" y="3972902"/>
                    <a:pt x="43180" y="3979252"/>
                  </a:cubicBezTo>
                  <a:cubicBezTo>
                    <a:pt x="48260" y="4004652"/>
                    <a:pt x="71120" y="4023702"/>
                    <a:pt x="97790" y="4023702"/>
                  </a:cubicBezTo>
                  <a:lnTo>
                    <a:pt x="6908457" y="4023702"/>
                  </a:lnTo>
                  <a:cubicBezTo>
                    <a:pt x="6938936" y="4023702"/>
                    <a:pt x="6964336" y="3998302"/>
                    <a:pt x="6964336" y="3967822"/>
                  </a:cubicBezTo>
                  <a:lnTo>
                    <a:pt x="6964336" y="99060"/>
                  </a:lnTo>
                  <a:cubicBezTo>
                    <a:pt x="6964336" y="72390"/>
                    <a:pt x="6946557" y="50800"/>
                    <a:pt x="6921157" y="44450"/>
                  </a:cubicBezTo>
                  <a:close/>
                  <a:moveTo>
                    <a:pt x="12700" y="3924642"/>
                  </a:moveTo>
                  <a:lnTo>
                    <a:pt x="12700" y="55880"/>
                  </a:lnTo>
                  <a:cubicBezTo>
                    <a:pt x="12700" y="31750"/>
                    <a:pt x="31750" y="12700"/>
                    <a:pt x="55880" y="12700"/>
                  </a:cubicBezTo>
                  <a:lnTo>
                    <a:pt x="6866546" y="12700"/>
                  </a:lnTo>
                  <a:cubicBezTo>
                    <a:pt x="6890676" y="12700"/>
                    <a:pt x="6909726" y="31750"/>
                    <a:pt x="6909726" y="55880"/>
                  </a:cubicBezTo>
                  <a:lnTo>
                    <a:pt x="6909726" y="3924642"/>
                  </a:lnTo>
                  <a:cubicBezTo>
                    <a:pt x="6909726" y="3948772"/>
                    <a:pt x="6890676" y="3967822"/>
                    <a:pt x="6866546" y="3967822"/>
                  </a:cubicBezTo>
                  <a:lnTo>
                    <a:pt x="55880" y="3967822"/>
                  </a:lnTo>
                  <a:cubicBezTo>
                    <a:pt x="31750" y="3967822"/>
                    <a:pt x="12700" y="3948772"/>
                    <a:pt x="12700" y="3924642"/>
                  </a:cubicBezTo>
                  <a:close/>
                </a:path>
              </a:pathLst>
            </a:custGeom>
            <a:solidFill>
              <a:srgbClr val="000000"/>
            </a:solidFill>
          </p:spPr>
          <p:txBody>
            <a:bodyPr/>
            <a:lstStyle/>
            <a:p>
              <a:endParaRPr lang="en-US"/>
            </a:p>
          </p:txBody>
        </p:sp>
      </p:grpSp>
      <p:grpSp>
        <p:nvGrpSpPr>
          <p:cNvPr id="2" name="Group 6">
            <a:extLst>
              <a:ext uri="{FF2B5EF4-FFF2-40B4-BE49-F238E27FC236}">
                <a16:creationId xmlns:a16="http://schemas.microsoft.com/office/drawing/2014/main" id="{F428E1AB-8903-1DDE-6E40-4C4A3F730A9D}"/>
              </a:ext>
            </a:extLst>
          </p:cNvPr>
          <p:cNvGrpSpPr/>
          <p:nvPr/>
        </p:nvGrpSpPr>
        <p:grpSpPr>
          <a:xfrm>
            <a:off x="561726" y="237041"/>
            <a:ext cx="17164548" cy="1401259"/>
            <a:chOff x="0" y="0"/>
            <a:chExt cx="6964336" cy="701161"/>
          </a:xfrm>
        </p:grpSpPr>
        <p:sp>
          <p:nvSpPr>
            <p:cNvPr id="3" name="Freeform 7">
              <a:extLst>
                <a:ext uri="{FF2B5EF4-FFF2-40B4-BE49-F238E27FC236}">
                  <a16:creationId xmlns:a16="http://schemas.microsoft.com/office/drawing/2014/main" id="{5CA7F7A3-0C68-BF29-13DA-2263DE9D04A0}"/>
                </a:ext>
              </a:extLst>
            </p:cNvPr>
            <p:cNvSpPr/>
            <p:nvPr/>
          </p:nvSpPr>
          <p:spPr>
            <a:xfrm>
              <a:off x="12700" y="12700"/>
              <a:ext cx="6897026" cy="632581"/>
            </a:xfrm>
            <a:custGeom>
              <a:avLst/>
              <a:gdLst/>
              <a:ahLst/>
              <a:cxnLst/>
              <a:rect l="l" t="t" r="r" b="b"/>
              <a:pathLst>
                <a:path w="6897026" h="632581">
                  <a:moveTo>
                    <a:pt x="43180" y="632581"/>
                  </a:moveTo>
                  <a:lnTo>
                    <a:pt x="6853846" y="632581"/>
                  </a:lnTo>
                  <a:cubicBezTo>
                    <a:pt x="6877976" y="632581"/>
                    <a:pt x="6897026" y="613531"/>
                    <a:pt x="6897026" y="589401"/>
                  </a:cubicBezTo>
                  <a:lnTo>
                    <a:pt x="6897026" y="43180"/>
                  </a:lnTo>
                  <a:cubicBezTo>
                    <a:pt x="6897026" y="19050"/>
                    <a:pt x="6877976" y="0"/>
                    <a:pt x="6853846" y="0"/>
                  </a:cubicBezTo>
                  <a:lnTo>
                    <a:pt x="43180" y="0"/>
                  </a:lnTo>
                  <a:cubicBezTo>
                    <a:pt x="19050" y="0"/>
                    <a:pt x="0" y="19050"/>
                    <a:pt x="0" y="43180"/>
                  </a:cubicBezTo>
                  <a:lnTo>
                    <a:pt x="0" y="589401"/>
                  </a:lnTo>
                  <a:cubicBezTo>
                    <a:pt x="0" y="613531"/>
                    <a:pt x="19050" y="632581"/>
                    <a:pt x="43180" y="632581"/>
                  </a:cubicBezTo>
                  <a:close/>
                </a:path>
              </a:pathLst>
            </a:custGeom>
            <a:solidFill>
              <a:srgbClr val="FFFFFF"/>
            </a:solidFill>
          </p:spPr>
          <p:txBody>
            <a:bodyPr/>
            <a:lstStyle/>
            <a:p>
              <a:endParaRPr lang="en-US"/>
            </a:p>
          </p:txBody>
        </p:sp>
        <p:sp>
          <p:nvSpPr>
            <p:cNvPr id="4" name="Freeform 8">
              <a:extLst>
                <a:ext uri="{FF2B5EF4-FFF2-40B4-BE49-F238E27FC236}">
                  <a16:creationId xmlns:a16="http://schemas.microsoft.com/office/drawing/2014/main" id="{C4ABC270-5A4F-177D-D76B-8AC161C1F9B7}"/>
                </a:ext>
              </a:extLst>
            </p:cNvPr>
            <p:cNvSpPr/>
            <p:nvPr/>
          </p:nvSpPr>
          <p:spPr>
            <a:xfrm>
              <a:off x="0" y="0"/>
              <a:ext cx="6964336" cy="701161"/>
            </a:xfrm>
            <a:custGeom>
              <a:avLst/>
              <a:gdLst/>
              <a:ahLst/>
              <a:cxnLst/>
              <a:rect l="l" t="t" r="r" b="b"/>
              <a:pathLst>
                <a:path w="6964336" h="701161">
                  <a:moveTo>
                    <a:pt x="6921157" y="44450"/>
                  </a:moveTo>
                  <a:cubicBezTo>
                    <a:pt x="6916076" y="19050"/>
                    <a:pt x="6893216" y="0"/>
                    <a:pt x="6866546" y="0"/>
                  </a:cubicBezTo>
                  <a:lnTo>
                    <a:pt x="55880" y="0"/>
                  </a:lnTo>
                  <a:cubicBezTo>
                    <a:pt x="25400" y="0"/>
                    <a:pt x="0" y="25400"/>
                    <a:pt x="0" y="55880"/>
                  </a:cubicBezTo>
                  <a:lnTo>
                    <a:pt x="0" y="602101"/>
                  </a:lnTo>
                  <a:cubicBezTo>
                    <a:pt x="0" y="628771"/>
                    <a:pt x="17780" y="650361"/>
                    <a:pt x="43180" y="656711"/>
                  </a:cubicBezTo>
                  <a:cubicBezTo>
                    <a:pt x="48260" y="682111"/>
                    <a:pt x="71120" y="701161"/>
                    <a:pt x="97790" y="701161"/>
                  </a:cubicBezTo>
                  <a:lnTo>
                    <a:pt x="6908457" y="701161"/>
                  </a:lnTo>
                  <a:cubicBezTo>
                    <a:pt x="6938936" y="701161"/>
                    <a:pt x="6964336" y="675761"/>
                    <a:pt x="6964336" y="645281"/>
                  </a:cubicBezTo>
                  <a:lnTo>
                    <a:pt x="6964336" y="99060"/>
                  </a:lnTo>
                  <a:cubicBezTo>
                    <a:pt x="6964336" y="72390"/>
                    <a:pt x="6946557" y="50800"/>
                    <a:pt x="6921157" y="44450"/>
                  </a:cubicBezTo>
                  <a:close/>
                  <a:moveTo>
                    <a:pt x="12700" y="602101"/>
                  </a:moveTo>
                  <a:lnTo>
                    <a:pt x="12700" y="55880"/>
                  </a:lnTo>
                  <a:cubicBezTo>
                    <a:pt x="12700" y="31750"/>
                    <a:pt x="31750" y="12700"/>
                    <a:pt x="55880" y="12700"/>
                  </a:cubicBezTo>
                  <a:lnTo>
                    <a:pt x="6866546" y="12700"/>
                  </a:lnTo>
                  <a:cubicBezTo>
                    <a:pt x="6890676" y="12700"/>
                    <a:pt x="6909726" y="31750"/>
                    <a:pt x="6909726" y="55880"/>
                  </a:cubicBezTo>
                  <a:lnTo>
                    <a:pt x="6909726" y="602101"/>
                  </a:lnTo>
                  <a:cubicBezTo>
                    <a:pt x="6909726" y="626231"/>
                    <a:pt x="6890676" y="645281"/>
                    <a:pt x="6866546" y="645281"/>
                  </a:cubicBezTo>
                  <a:lnTo>
                    <a:pt x="55880" y="645281"/>
                  </a:lnTo>
                  <a:cubicBezTo>
                    <a:pt x="31750" y="645281"/>
                    <a:pt x="12700" y="626231"/>
                    <a:pt x="12700" y="602101"/>
                  </a:cubicBezTo>
                  <a:close/>
                </a:path>
              </a:pathLst>
            </a:custGeom>
            <a:solidFill>
              <a:srgbClr val="000000"/>
            </a:solidFill>
          </p:spPr>
          <p:txBody>
            <a:bodyPr/>
            <a:lstStyle/>
            <a:p>
              <a:endParaRPr lang="en-US"/>
            </a:p>
          </p:txBody>
        </p:sp>
      </p:grpSp>
      <p:sp>
        <p:nvSpPr>
          <p:cNvPr id="5" name="TextBox 8">
            <a:extLst>
              <a:ext uri="{FF2B5EF4-FFF2-40B4-BE49-F238E27FC236}">
                <a16:creationId xmlns:a16="http://schemas.microsoft.com/office/drawing/2014/main" id="{D8DA9449-EBCA-40AE-DB68-7DDA022F2191}"/>
              </a:ext>
            </a:extLst>
          </p:cNvPr>
          <p:cNvSpPr txBox="1"/>
          <p:nvPr/>
        </p:nvSpPr>
        <p:spPr>
          <a:xfrm>
            <a:off x="575735" y="253700"/>
            <a:ext cx="17164548" cy="1367939"/>
          </a:xfrm>
          <a:prstGeom prst="rect">
            <a:avLst/>
          </a:prstGeom>
        </p:spPr>
        <p:txBody>
          <a:bodyPr lIns="0" tIns="0" rIns="0" bIns="0" rtlCol="0" anchor="t">
            <a:spAutoFit/>
          </a:bodyPr>
          <a:lstStyle/>
          <a:p>
            <a:pPr algn="ctr">
              <a:lnSpc>
                <a:spcPts val="11556"/>
              </a:lnSpc>
              <a:spcBef>
                <a:spcPct val="0"/>
              </a:spcBef>
            </a:pPr>
            <a:r>
              <a:rPr lang="en-US" sz="8254">
                <a:solidFill>
                  <a:srgbClr val="00BF63"/>
                </a:solidFill>
                <a:latin typeface="Luckiest Guy"/>
                <a:ea typeface="Luckiest Guy"/>
                <a:cs typeface="Luckiest Guy"/>
                <a:sym typeface="Luckiest Guy"/>
              </a:rPr>
              <a:t>IV. Dự báo</a:t>
            </a:r>
          </a:p>
        </p:txBody>
      </p:sp>
      <p:pic>
        <p:nvPicPr>
          <p:cNvPr id="7" name="Picture 6">
            <a:extLst>
              <a:ext uri="{FF2B5EF4-FFF2-40B4-BE49-F238E27FC236}">
                <a16:creationId xmlns:a16="http://schemas.microsoft.com/office/drawing/2014/main" id="{2759AA19-6A6E-AE14-3757-9A64AB5BEC55}"/>
              </a:ext>
            </a:extLst>
          </p:cNvPr>
          <p:cNvPicPr>
            <a:picLocks noChangeAspect="1"/>
          </p:cNvPicPr>
          <p:nvPr/>
        </p:nvPicPr>
        <p:blipFill>
          <a:blip r:embed="rId2"/>
          <a:stretch>
            <a:fillRect/>
          </a:stretch>
        </p:blipFill>
        <p:spPr>
          <a:xfrm>
            <a:off x="2863137" y="3086100"/>
            <a:ext cx="5009383" cy="5638800"/>
          </a:xfrm>
          <a:prstGeom prst="rect">
            <a:avLst/>
          </a:prstGeom>
        </p:spPr>
      </p:pic>
      <p:sp>
        <p:nvSpPr>
          <p:cNvPr id="6" name="TextBox 5">
            <a:extLst>
              <a:ext uri="{FF2B5EF4-FFF2-40B4-BE49-F238E27FC236}">
                <a16:creationId xmlns:a16="http://schemas.microsoft.com/office/drawing/2014/main" id="{55CA2963-B579-B11C-B5DD-58764C24CC80}"/>
              </a:ext>
            </a:extLst>
          </p:cNvPr>
          <p:cNvSpPr txBox="1"/>
          <p:nvPr/>
        </p:nvSpPr>
        <p:spPr>
          <a:xfrm>
            <a:off x="5638800" y="1995726"/>
            <a:ext cx="7620000" cy="861774"/>
          </a:xfrm>
          <a:prstGeom prst="rect">
            <a:avLst/>
          </a:prstGeom>
          <a:noFill/>
        </p:spPr>
        <p:txBody>
          <a:bodyPr wrap="square" rtlCol="0">
            <a:spAutoFit/>
          </a:bodyPr>
          <a:lstStyle/>
          <a:p>
            <a:r>
              <a:rPr lang="en-US" sz="5000">
                <a:latin typeface="KG Primary Penmanship" panose="020B0604020202020204" charset="0"/>
              </a:rPr>
              <a:t>Biều đồ dự báo bằng LSTM </a:t>
            </a:r>
          </a:p>
        </p:txBody>
      </p:sp>
      <p:sp>
        <p:nvSpPr>
          <p:cNvPr id="10" name="Rectangle 2">
            <a:extLst>
              <a:ext uri="{FF2B5EF4-FFF2-40B4-BE49-F238E27FC236}">
                <a16:creationId xmlns:a16="http://schemas.microsoft.com/office/drawing/2014/main" id="{D8E7F38A-BC5E-3199-AC35-3875D235C69A}"/>
              </a:ext>
            </a:extLst>
          </p:cNvPr>
          <p:cNvSpPr>
            <a:spLocks noChangeArrowheads="1"/>
          </p:cNvSpPr>
          <p:nvPr/>
        </p:nvSpPr>
        <p:spPr bwMode="auto">
          <a:xfrm>
            <a:off x="8922100" y="3279235"/>
            <a:ext cx="7620000" cy="509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Doanh số dự báo tháng 12/2011 và 01/2012</a:t>
            </a:r>
            <a:r>
              <a:rPr kumimoji="0" lang="en-US" altLang="en-US" sz="2500" b="0" i="0" u="none" strike="noStrike" cap="none" normalizeH="0" baseline="0">
                <a:ln>
                  <a:noFill/>
                </a:ln>
                <a:solidFill>
                  <a:schemeClr val="tx1"/>
                </a:solidFill>
                <a:effectLst/>
                <a:latin typeface="Arial" panose="020B0604020202020204" pitchFamily="34" charset="0"/>
              </a:rPr>
              <a:t> ở mức rất cao và gần bằng nhau (~552,000 và ~550,000 đơn vị), cho thấy </a:t>
            </a:r>
            <a:r>
              <a:rPr kumimoji="0" lang="en-US" altLang="en-US" sz="2500" b="1" i="0" u="none" strike="noStrike" cap="none" normalizeH="0" baseline="0">
                <a:ln>
                  <a:noFill/>
                </a:ln>
                <a:solidFill>
                  <a:schemeClr val="tx1"/>
                </a:solidFill>
                <a:effectLst/>
                <a:latin typeface="Arial" panose="020B0604020202020204" pitchFamily="34" charset="0"/>
              </a:rPr>
              <a:t>cầu tiêu dùng vẫn duy trì mạnh sau mùa lễ hội cuối năm</a:t>
            </a:r>
            <a:r>
              <a:rPr kumimoji="0" lang="en-US" altLang="en-US" sz="2500" b="0" i="0" u="none" strike="noStrike" cap="none" normalizeH="0" baseline="0">
                <a:ln>
                  <a:noFill/>
                </a:ln>
                <a:solidFill>
                  <a:schemeClr val="tx1"/>
                </a:solidFill>
                <a:effectLst/>
                <a:latin typeface="Arial" panose="020B0604020202020204" pitchFamily="34" charset="0"/>
              </a:rPr>
              <a:t>. Điều này gợi ý rằng nhu cầu không chỉ tập trung ở tháng 12 (Giáng sinh) mà còn lan sang tháng 1 (hậu lễ, mùa xả hàng, nhu cầu năm mới).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a:ln>
                  <a:noFill/>
                </a:ln>
                <a:solidFill>
                  <a:schemeClr val="tx1"/>
                </a:solidFill>
                <a:effectLst/>
                <a:latin typeface="Arial" panose="020B0604020202020204" pitchFamily="34" charset="0"/>
              </a:rPr>
              <a:t>Tháng 02/2012</a:t>
            </a:r>
            <a:r>
              <a:rPr kumimoji="0" lang="en-US" altLang="en-US" sz="2500" b="0" i="0" u="none" strike="noStrike" cap="none" normalizeH="0" baseline="0">
                <a:ln>
                  <a:noFill/>
                </a:ln>
                <a:solidFill>
                  <a:schemeClr val="tx1"/>
                </a:solidFill>
                <a:effectLst/>
                <a:latin typeface="Arial" panose="020B0604020202020204" pitchFamily="34" charset="0"/>
              </a:rPr>
              <a:t> có mức giảm rõ rệt (~496,553), thấp hơn gần </a:t>
            </a:r>
            <a:r>
              <a:rPr kumimoji="0" lang="en-US" altLang="en-US" sz="2500" b="1" i="0" u="none" strike="noStrike" cap="none" normalizeH="0" baseline="0">
                <a:ln>
                  <a:noFill/>
                </a:ln>
                <a:solidFill>
                  <a:schemeClr val="tx1"/>
                </a:solidFill>
                <a:effectLst/>
                <a:latin typeface="Arial" panose="020B0604020202020204" pitchFamily="34" charset="0"/>
              </a:rPr>
              <a:t>10%</a:t>
            </a:r>
            <a:r>
              <a:rPr kumimoji="0" lang="en-US" altLang="en-US" sz="2500" b="0" i="0" u="none" strike="noStrike" cap="none" normalizeH="0" baseline="0">
                <a:ln>
                  <a:noFill/>
                </a:ln>
                <a:solidFill>
                  <a:schemeClr val="tx1"/>
                </a:solidFill>
                <a:effectLst/>
                <a:latin typeface="Arial" panose="020B0604020202020204" pitchFamily="34" charset="0"/>
              </a:rPr>
              <a:t> so với hai tháng trước. Điều này phản ánh một </a:t>
            </a:r>
            <a:r>
              <a:rPr kumimoji="0" lang="en-US" altLang="en-US" sz="2500" b="1" i="0" u="none" strike="noStrike" cap="none" normalizeH="0" baseline="0">
                <a:ln>
                  <a:noFill/>
                </a:ln>
                <a:solidFill>
                  <a:schemeClr val="tx1"/>
                </a:solidFill>
                <a:effectLst/>
                <a:latin typeface="Arial" panose="020B0604020202020204" pitchFamily="34" charset="0"/>
              </a:rPr>
              <a:t>quy luật mùa vụ</a:t>
            </a:r>
            <a:r>
              <a:rPr kumimoji="0" lang="en-US" altLang="en-US" sz="2500" b="0" i="0" u="none" strike="noStrike" cap="none" normalizeH="0" baseline="0">
                <a:ln>
                  <a:noFill/>
                </a:ln>
                <a:solidFill>
                  <a:schemeClr val="tx1"/>
                </a:solidFill>
                <a:effectLst/>
                <a:latin typeface="Arial" panose="020B0604020202020204" pitchFamily="34" charset="0"/>
              </a:rPr>
              <a:t> thường gặp: </a:t>
            </a:r>
            <a:r>
              <a:rPr kumimoji="0" lang="en-US" altLang="en-US" sz="2500" b="1" i="0" u="none" strike="noStrike" cap="none" normalizeH="0" baseline="0">
                <a:ln>
                  <a:noFill/>
                </a:ln>
                <a:solidFill>
                  <a:schemeClr val="tx1"/>
                </a:solidFill>
                <a:effectLst/>
                <a:latin typeface="Arial" panose="020B0604020202020204" pitchFamily="34" charset="0"/>
              </a:rPr>
              <a:t>sức mua giảm sau Tết hoặc sau kỳ tiêu dùng cao điểm</a:t>
            </a:r>
            <a:r>
              <a:rPr kumimoji="0" lang="en-US" altLang="en-US" sz="2500" b="0" i="0" u="none" strike="noStrike" cap="none" normalizeH="0" baseline="0">
                <a:ln>
                  <a:noFill/>
                </a:ln>
                <a:solidFill>
                  <a:schemeClr val="tx1"/>
                </a:solidFill>
                <a:effectLst/>
                <a:latin typeface="Arial" panose="020B0604020202020204" pitchFamily="34" charset="0"/>
              </a:rPr>
              <a:t>, khi người tiêu dùng đã cạn ngân sách hoặc tạm ngưng mua sắm</a:t>
            </a:r>
          </a:p>
        </p:txBody>
      </p:sp>
    </p:spTree>
    <p:extLst>
      <p:ext uri="{BB962C8B-B14F-4D97-AF65-F5344CB8AC3E}">
        <p14:creationId xmlns:p14="http://schemas.microsoft.com/office/powerpoint/2010/main" val="14518831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738E"/>
        </a:solidFill>
        <a:effectLst/>
      </p:bgPr>
    </p:bg>
    <p:spTree>
      <p:nvGrpSpPr>
        <p:cNvPr id="1" name=""/>
        <p:cNvGrpSpPr/>
        <p:nvPr/>
      </p:nvGrpSpPr>
      <p:grpSpPr>
        <a:xfrm>
          <a:off x="0" y="0"/>
          <a:ext cx="0" cy="0"/>
          <a:chOff x="0" y="0"/>
          <a:chExt cx="0" cy="0"/>
        </a:xfrm>
      </p:grpSpPr>
      <p:grpSp>
        <p:nvGrpSpPr>
          <p:cNvPr id="2" name="Group 2"/>
          <p:cNvGrpSpPr/>
          <p:nvPr/>
        </p:nvGrpSpPr>
        <p:grpSpPr>
          <a:xfrm>
            <a:off x="561726" y="557775"/>
            <a:ext cx="17164548" cy="2833125"/>
            <a:chOff x="0" y="0"/>
            <a:chExt cx="6964336" cy="1316095"/>
          </a:xfrm>
        </p:grpSpPr>
        <p:sp>
          <p:nvSpPr>
            <p:cNvPr id="3" name="Freeform 3"/>
            <p:cNvSpPr/>
            <p:nvPr/>
          </p:nvSpPr>
          <p:spPr>
            <a:xfrm>
              <a:off x="12700" y="12700"/>
              <a:ext cx="6897026" cy="1247515"/>
            </a:xfrm>
            <a:custGeom>
              <a:avLst/>
              <a:gdLst/>
              <a:ahLst/>
              <a:cxnLst/>
              <a:rect l="l" t="t" r="r" b="b"/>
              <a:pathLst>
                <a:path w="6897026" h="1247515">
                  <a:moveTo>
                    <a:pt x="43180" y="1247515"/>
                  </a:moveTo>
                  <a:lnTo>
                    <a:pt x="6853846" y="1247515"/>
                  </a:lnTo>
                  <a:cubicBezTo>
                    <a:pt x="6877976" y="1247515"/>
                    <a:pt x="6897026" y="1228465"/>
                    <a:pt x="6897026" y="1204335"/>
                  </a:cubicBezTo>
                  <a:lnTo>
                    <a:pt x="6897026" y="43180"/>
                  </a:lnTo>
                  <a:cubicBezTo>
                    <a:pt x="6897026" y="19050"/>
                    <a:pt x="6877976" y="0"/>
                    <a:pt x="6853846" y="0"/>
                  </a:cubicBezTo>
                  <a:lnTo>
                    <a:pt x="43180" y="0"/>
                  </a:lnTo>
                  <a:cubicBezTo>
                    <a:pt x="19050" y="0"/>
                    <a:pt x="0" y="19050"/>
                    <a:pt x="0" y="43180"/>
                  </a:cubicBezTo>
                  <a:lnTo>
                    <a:pt x="0" y="1204335"/>
                  </a:lnTo>
                  <a:cubicBezTo>
                    <a:pt x="0" y="1228465"/>
                    <a:pt x="19050" y="1247515"/>
                    <a:pt x="43180" y="1247515"/>
                  </a:cubicBezTo>
                  <a:close/>
                </a:path>
              </a:pathLst>
            </a:custGeom>
            <a:solidFill>
              <a:srgbClr val="FFFFFF"/>
            </a:solidFill>
          </p:spPr>
          <p:txBody>
            <a:bodyPr/>
            <a:lstStyle/>
            <a:p>
              <a:endParaRPr lang="en-US"/>
            </a:p>
          </p:txBody>
        </p:sp>
        <p:sp>
          <p:nvSpPr>
            <p:cNvPr id="4" name="Freeform 4"/>
            <p:cNvSpPr/>
            <p:nvPr/>
          </p:nvSpPr>
          <p:spPr>
            <a:xfrm>
              <a:off x="0" y="0"/>
              <a:ext cx="6964336" cy="1316095"/>
            </a:xfrm>
            <a:custGeom>
              <a:avLst/>
              <a:gdLst/>
              <a:ahLst/>
              <a:cxnLst/>
              <a:rect l="l" t="t" r="r" b="b"/>
              <a:pathLst>
                <a:path w="6964336" h="1316095">
                  <a:moveTo>
                    <a:pt x="6921157" y="44450"/>
                  </a:moveTo>
                  <a:cubicBezTo>
                    <a:pt x="6916076" y="19050"/>
                    <a:pt x="6893216" y="0"/>
                    <a:pt x="6866546" y="0"/>
                  </a:cubicBezTo>
                  <a:lnTo>
                    <a:pt x="55880" y="0"/>
                  </a:lnTo>
                  <a:cubicBezTo>
                    <a:pt x="25400" y="0"/>
                    <a:pt x="0" y="25400"/>
                    <a:pt x="0" y="55880"/>
                  </a:cubicBezTo>
                  <a:lnTo>
                    <a:pt x="0" y="1217035"/>
                  </a:lnTo>
                  <a:cubicBezTo>
                    <a:pt x="0" y="1243705"/>
                    <a:pt x="17780" y="1265295"/>
                    <a:pt x="43180" y="1271645"/>
                  </a:cubicBezTo>
                  <a:cubicBezTo>
                    <a:pt x="48260" y="1297045"/>
                    <a:pt x="71120" y="1316095"/>
                    <a:pt x="97790" y="1316095"/>
                  </a:cubicBezTo>
                  <a:lnTo>
                    <a:pt x="6908457" y="1316095"/>
                  </a:lnTo>
                  <a:cubicBezTo>
                    <a:pt x="6938936" y="1316095"/>
                    <a:pt x="6964336" y="1290695"/>
                    <a:pt x="6964336" y="1260215"/>
                  </a:cubicBezTo>
                  <a:lnTo>
                    <a:pt x="6964336" y="99060"/>
                  </a:lnTo>
                  <a:cubicBezTo>
                    <a:pt x="6964336" y="72390"/>
                    <a:pt x="6946557" y="50800"/>
                    <a:pt x="6921157" y="44450"/>
                  </a:cubicBezTo>
                  <a:close/>
                  <a:moveTo>
                    <a:pt x="12700" y="1217035"/>
                  </a:moveTo>
                  <a:lnTo>
                    <a:pt x="12700" y="55880"/>
                  </a:lnTo>
                  <a:cubicBezTo>
                    <a:pt x="12700" y="31750"/>
                    <a:pt x="31750" y="12700"/>
                    <a:pt x="55880" y="12700"/>
                  </a:cubicBezTo>
                  <a:lnTo>
                    <a:pt x="6866546" y="12700"/>
                  </a:lnTo>
                  <a:cubicBezTo>
                    <a:pt x="6890676" y="12700"/>
                    <a:pt x="6909726" y="31750"/>
                    <a:pt x="6909726" y="55880"/>
                  </a:cubicBezTo>
                  <a:lnTo>
                    <a:pt x="6909726" y="1217035"/>
                  </a:lnTo>
                  <a:cubicBezTo>
                    <a:pt x="6909726" y="1241165"/>
                    <a:pt x="6890676" y="1260215"/>
                    <a:pt x="6866546" y="1260215"/>
                  </a:cubicBezTo>
                  <a:lnTo>
                    <a:pt x="55880" y="1260215"/>
                  </a:lnTo>
                  <a:cubicBezTo>
                    <a:pt x="31750" y="1260215"/>
                    <a:pt x="12700" y="1241165"/>
                    <a:pt x="12700" y="1217035"/>
                  </a:cubicBezTo>
                  <a:close/>
                </a:path>
              </a:pathLst>
            </a:custGeom>
            <a:solidFill>
              <a:srgbClr val="000000"/>
            </a:solidFill>
          </p:spPr>
          <p:txBody>
            <a:bodyPr/>
            <a:lstStyle/>
            <a:p>
              <a:endParaRPr lang="en-US"/>
            </a:p>
          </p:txBody>
        </p:sp>
      </p:grpSp>
      <p:sp>
        <p:nvSpPr>
          <p:cNvPr id="5" name="TextBox 5"/>
          <p:cNvSpPr txBox="1"/>
          <p:nvPr/>
        </p:nvSpPr>
        <p:spPr>
          <a:xfrm>
            <a:off x="1871554" y="952500"/>
            <a:ext cx="14544892" cy="1902751"/>
          </a:xfrm>
          <a:prstGeom prst="rect">
            <a:avLst/>
          </a:prstGeom>
        </p:spPr>
        <p:txBody>
          <a:bodyPr lIns="0" tIns="0" rIns="0" bIns="0" rtlCol="0" anchor="t">
            <a:spAutoFit/>
          </a:bodyPr>
          <a:lstStyle/>
          <a:p>
            <a:pPr algn="ctr">
              <a:lnSpc>
                <a:spcPts val="15544"/>
              </a:lnSpc>
            </a:pPr>
            <a:r>
              <a:rPr lang="en-US" sz="11103">
                <a:solidFill>
                  <a:srgbClr val="B08DF8"/>
                </a:solidFill>
                <a:latin typeface="Luckiest Guy"/>
                <a:ea typeface="Luckiest Guy"/>
                <a:cs typeface="Luckiest Guy"/>
                <a:sym typeface="Luckiest Guy"/>
              </a:rPr>
              <a:t>Kết luận</a:t>
            </a:r>
          </a:p>
        </p:txBody>
      </p:sp>
      <p:grpSp>
        <p:nvGrpSpPr>
          <p:cNvPr id="6" name="Group 6"/>
          <p:cNvGrpSpPr/>
          <p:nvPr/>
        </p:nvGrpSpPr>
        <p:grpSpPr>
          <a:xfrm>
            <a:off x="561726" y="3758286"/>
            <a:ext cx="17164548" cy="5970939"/>
            <a:chOff x="0" y="0"/>
            <a:chExt cx="6964336" cy="2167715"/>
          </a:xfrm>
        </p:grpSpPr>
        <p:sp>
          <p:nvSpPr>
            <p:cNvPr id="7" name="Freeform 7"/>
            <p:cNvSpPr/>
            <p:nvPr/>
          </p:nvSpPr>
          <p:spPr>
            <a:xfrm>
              <a:off x="12700" y="12700"/>
              <a:ext cx="6897026" cy="2099135"/>
            </a:xfrm>
            <a:custGeom>
              <a:avLst/>
              <a:gdLst/>
              <a:ahLst/>
              <a:cxnLst/>
              <a:rect l="l" t="t" r="r" b="b"/>
              <a:pathLst>
                <a:path w="6897026" h="2099135">
                  <a:moveTo>
                    <a:pt x="43180" y="2099135"/>
                  </a:moveTo>
                  <a:lnTo>
                    <a:pt x="6853846" y="2099135"/>
                  </a:lnTo>
                  <a:cubicBezTo>
                    <a:pt x="6877976" y="2099135"/>
                    <a:pt x="6897026" y="2080085"/>
                    <a:pt x="6897026" y="2055955"/>
                  </a:cubicBezTo>
                  <a:lnTo>
                    <a:pt x="6897026" y="43180"/>
                  </a:lnTo>
                  <a:cubicBezTo>
                    <a:pt x="6897026" y="19050"/>
                    <a:pt x="6877976" y="0"/>
                    <a:pt x="6853846" y="0"/>
                  </a:cubicBezTo>
                  <a:lnTo>
                    <a:pt x="43180" y="0"/>
                  </a:lnTo>
                  <a:cubicBezTo>
                    <a:pt x="19050" y="0"/>
                    <a:pt x="0" y="19050"/>
                    <a:pt x="0" y="43180"/>
                  </a:cubicBezTo>
                  <a:lnTo>
                    <a:pt x="0" y="2055955"/>
                  </a:lnTo>
                  <a:cubicBezTo>
                    <a:pt x="0" y="2080085"/>
                    <a:pt x="19050" y="2099135"/>
                    <a:pt x="43180" y="2099135"/>
                  </a:cubicBezTo>
                  <a:close/>
                </a:path>
              </a:pathLst>
            </a:custGeom>
            <a:solidFill>
              <a:srgbClr val="FFFFFF"/>
            </a:solidFill>
          </p:spPr>
          <p:txBody>
            <a:bodyPr/>
            <a:lstStyle/>
            <a:p>
              <a:endParaRPr lang="en-US"/>
            </a:p>
          </p:txBody>
        </p:sp>
        <p:sp>
          <p:nvSpPr>
            <p:cNvPr id="8" name="Freeform 8"/>
            <p:cNvSpPr/>
            <p:nvPr/>
          </p:nvSpPr>
          <p:spPr>
            <a:xfrm>
              <a:off x="0" y="0"/>
              <a:ext cx="6964336" cy="2167715"/>
            </a:xfrm>
            <a:custGeom>
              <a:avLst/>
              <a:gdLst/>
              <a:ahLst/>
              <a:cxnLst/>
              <a:rect l="l" t="t" r="r" b="b"/>
              <a:pathLst>
                <a:path w="6964336" h="2167715">
                  <a:moveTo>
                    <a:pt x="6921157" y="44450"/>
                  </a:moveTo>
                  <a:cubicBezTo>
                    <a:pt x="6916076" y="19050"/>
                    <a:pt x="6893216" y="0"/>
                    <a:pt x="6866546" y="0"/>
                  </a:cubicBezTo>
                  <a:lnTo>
                    <a:pt x="55880" y="0"/>
                  </a:lnTo>
                  <a:cubicBezTo>
                    <a:pt x="25400" y="0"/>
                    <a:pt x="0" y="25400"/>
                    <a:pt x="0" y="55880"/>
                  </a:cubicBezTo>
                  <a:lnTo>
                    <a:pt x="0" y="2068655"/>
                  </a:lnTo>
                  <a:cubicBezTo>
                    <a:pt x="0" y="2095325"/>
                    <a:pt x="17780" y="2116915"/>
                    <a:pt x="43180" y="2123265"/>
                  </a:cubicBezTo>
                  <a:cubicBezTo>
                    <a:pt x="48260" y="2148665"/>
                    <a:pt x="71120" y="2167715"/>
                    <a:pt x="97790" y="2167715"/>
                  </a:cubicBezTo>
                  <a:lnTo>
                    <a:pt x="6908457" y="2167715"/>
                  </a:lnTo>
                  <a:cubicBezTo>
                    <a:pt x="6938936" y="2167715"/>
                    <a:pt x="6964336" y="2142315"/>
                    <a:pt x="6964336" y="2111835"/>
                  </a:cubicBezTo>
                  <a:lnTo>
                    <a:pt x="6964336" y="99060"/>
                  </a:lnTo>
                  <a:cubicBezTo>
                    <a:pt x="6964336" y="72390"/>
                    <a:pt x="6946557" y="50800"/>
                    <a:pt x="6921157" y="44450"/>
                  </a:cubicBezTo>
                  <a:close/>
                  <a:moveTo>
                    <a:pt x="12700" y="2068655"/>
                  </a:moveTo>
                  <a:lnTo>
                    <a:pt x="12700" y="55880"/>
                  </a:lnTo>
                  <a:cubicBezTo>
                    <a:pt x="12700" y="31750"/>
                    <a:pt x="31750" y="12700"/>
                    <a:pt x="55880" y="12700"/>
                  </a:cubicBezTo>
                  <a:lnTo>
                    <a:pt x="6866546" y="12700"/>
                  </a:lnTo>
                  <a:cubicBezTo>
                    <a:pt x="6890676" y="12700"/>
                    <a:pt x="6909726" y="31750"/>
                    <a:pt x="6909726" y="55880"/>
                  </a:cubicBezTo>
                  <a:lnTo>
                    <a:pt x="6909726" y="2068655"/>
                  </a:lnTo>
                  <a:cubicBezTo>
                    <a:pt x="6909726" y="2092785"/>
                    <a:pt x="6890676" y="2111835"/>
                    <a:pt x="6866546" y="2111835"/>
                  </a:cubicBezTo>
                  <a:lnTo>
                    <a:pt x="55880" y="2111835"/>
                  </a:lnTo>
                  <a:cubicBezTo>
                    <a:pt x="31750" y="2111835"/>
                    <a:pt x="12700" y="2092785"/>
                    <a:pt x="12700" y="2068655"/>
                  </a:cubicBezTo>
                  <a:close/>
                </a:path>
              </a:pathLst>
            </a:custGeom>
            <a:solidFill>
              <a:srgbClr val="000000"/>
            </a:solidFill>
          </p:spPr>
          <p:txBody>
            <a:bodyPr/>
            <a:lstStyle/>
            <a:p>
              <a:endParaRPr lang="en-US"/>
            </a:p>
          </p:txBody>
        </p:sp>
      </p:grpSp>
      <p:sp>
        <p:nvSpPr>
          <p:cNvPr id="9" name="TextBox 9"/>
          <p:cNvSpPr txBox="1"/>
          <p:nvPr/>
        </p:nvSpPr>
        <p:spPr>
          <a:xfrm>
            <a:off x="1524602" y="4230515"/>
            <a:ext cx="15238796" cy="4646785"/>
          </a:xfrm>
          <a:prstGeom prst="rect">
            <a:avLst/>
          </a:prstGeom>
        </p:spPr>
        <p:txBody>
          <a:bodyPr lIns="0" tIns="0" rIns="0" bIns="0" rtlCol="0" anchor="t">
            <a:spAutoFit/>
          </a:bodyPr>
          <a:lstStyle/>
          <a:p>
            <a:pPr algn="just">
              <a:lnSpc>
                <a:spcPts val="7279"/>
              </a:lnSpc>
            </a:pPr>
            <a:r>
              <a:rPr lang="en-US" sz="5199">
                <a:solidFill>
                  <a:srgbClr val="000000"/>
                </a:solidFill>
                <a:latin typeface="KG Primary Penmanship"/>
                <a:ea typeface="KG Primary Penmanship"/>
                <a:cs typeface="KG Primary Penmanship"/>
                <a:sym typeface="KG Primary Penmanship"/>
              </a:rPr>
              <a:t>Dựa trên kết quả phân tích mô hình LSTM nổi bật nhất nhờ khả năng phát hiện các xu hướng tiềm ẩn trong chuỗi thời gian mà các phương pháp truyền thống khó nhận diện. Nhờ khả năng học và ghi nhớ mối quan hệ theo thời gian, LSTM vẫn duy trì độ chính xác cao nhất ngay cả với dữ liệu nhiễu hoặc biến động.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776</TotalTime>
  <Words>3051</Words>
  <Application>Microsoft Office PowerPoint</Application>
  <PresentationFormat>Custom</PresentationFormat>
  <Paragraphs>287</Paragraphs>
  <Slides>37</Slides>
  <Notes>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37</vt:i4>
      </vt:variant>
    </vt:vector>
  </HeadingPairs>
  <TitlesOfParts>
    <vt:vector size="52" baseType="lpstr">
      <vt:lpstr>Cambria Math</vt:lpstr>
      <vt:lpstr>Arial Unicode MS</vt:lpstr>
      <vt:lpstr>High Tower Text</vt:lpstr>
      <vt:lpstr>Aptos</vt:lpstr>
      <vt:lpstr>Arial</vt:lpstr>
      <vt:lpstr>Sigmar One</vt:lpstr>
      <vt:lpstr>Sabon Next LT</vt:lpstr>
      <vt:lpstr>KG Primary Penmanship</vt:lpstr>
      <vt:lpstr>Wingdings</vt:lpstr>
      <vt:lpstr>Calibri</vt:lpstr>
      <vt:lpstr>Noto Serif Display</vt:lpstr>
      <vt:lpstr>Consolas</vt:lpstr>
      <vt:lpstr>Luckiest Guy</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Representing Data Science Presentation Colourful Graphs</dc:title>
  <cp:lastModifiedBy>Tùng Lê</cp:lastModifiedBy>
  <cp:revision>13</cp:revision>
  <dcterms:created xsi:type="dcterms:W3CDTF">2006-08-16T00:00:00Z</dcterms:created>
  <dcterms:modified xsi:type="dcterms:W3CDTF">2025-05-16T04:16:25Z</dcterms:modified>
  <dc:identifier>DAGnApmKubs</dc:identifier>
</cp:coreProperties>
</file>